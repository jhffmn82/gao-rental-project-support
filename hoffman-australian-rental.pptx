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60" r:id="rId4"/>
    <p:sldId id="261" r:id="rId5"/>
    <p:sldId id="263" r:id="rId6"/>
    <p:sldId id="264" r:id="rId7"/>
    <p:sldId id="265" r:id="rId8"/>
    <p:sldId id="266" r:id="rId9"/>
    <p:sldId id="267" r:id="rId10"/>
    <p:sldId id="268" r:id="rId11"/>
    <p:sldId id="269" r:id="rId12"/>
    <p:sldId id="270" r:id="rId13"/>
    <p:sldId id="272" r:id="rId14"/>
    <p:sldId id="273" r:id="rId15"/>
    <p:sldId id="275"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6" autoAdjust="0"/>
    <p:restoredTop sz="94926" autoAdjust="0"/>
  </p:normalViewPr>
  <p:slideViewPr>
    <p:cSldViewPr snapToGrid="0">
      <p:cViewPr varScale="1">
        <p:scale>
          <a:sx n="95" d="100"/>
          <a:sy n="95" d="100"/>
        </p:scale>
        <p:origin x="1152"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AE370A-B71F-458D-905D-A2AAB4DEDB5A}" type="datetimeFigureOut">
              <a:rPr lang="en-US" smtClean="0"/>
              <a:t>3/6/2026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C46987-1D68-4199-95F9-B343B80E33C2}" type="slidenum">
              <a:rPr lang="en-US" smtClean="0"/>
              <a:t>‹#›</a:t>
            </a:fld>
            <a:endParaRPr lang="en-US"/>
          </a:p>
        </p:txBody>
      </p:sp>
    </p:spTree>
    <p:extLst>
      <p:ext uri="{BB962C8B-B14F-4D97-AF65-F5344CB8AC3E}">
        <p14:creationId xmlns:p14="http://schemas.microsoft.com/office/powerpoint/2010/main" val="818228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4</a:t>
            </a:fld>
            <a:endParaRPr lang="en-US"/>
          </a:p>
        </p:txBody>
      </p:sp>
    </p:spTree>
    <p:extLst>
      <p:ext uri="{BB962C8B-B14F-4D97-AF65-F5344CB8AC3E}">
        <p14:creationId xmlns:p14="http://schemas.microsoft.com/office/powerpoint/2010/main" val="28376340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10</a:t>
            </a:fld>
            <a:endParaRPr lang="en-US"/>
          </a:p>
        </p:txBody>
      </p:sp>
    </p:spTree>
    <p:extLst>
      <p:ext uri="{BB962C8B-B14F-4D97-AF65-F5344CB8AC3E}">
        <p14:creationId xmlns:p14="http://schemas.microsoft.com/office/powerpoint/2010/main" val="24955859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E680-AAF0-E31F-F774-DE8BD9373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14CDF-8249-6CDC-6BCB-5F0BD7062D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1053D0-05D4-6AD9-0FCF-9E1269B050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D53065-2C4C-0FB6-49D3-C4F778387AAF}"/>
              </a:ext>
            </a:extLst>
          </p:cNvPr>
          <p:cNvSpPr>
            <a:spLocks noGrp="1"/>
          </p:cNvSpPr>
          <p:nvPr>
            <p:ph type="sldNum" sz="quarter" idx="5"/>
          </p:nvPr>
        </p:nvSpPr>
        <p:spPr/>
        <p:txBody>
          <a:bodyPr/>
          <a:lstStyle/>
          <a:p>
            <a:fld id="{ECC46987-1D68-4199-95F9-B343B80E33C2}" type="slidenum">
              <a:rPr lang="en-US" smtClean="0"/>
              <a:t>11</a:t>
            </a:fld>
            <a:endParaRPr lang="en-US"/>
          </a:p>
        </p:txBody>
      </p:sp>
    </p:spTree>
    <p:extLst>
      <p:ext uri="{BB962C8B-B14F-4D97-AF65-F5344CB8AC3E}">
        <p14:creationId xmlns:p14="http://schemas.microsoft.com/office/powerpoint/2010/main" val="29671968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EF36-A9C2-2BD5-6E8A-0D1FEE7CC4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AEB3C-E5CC-AE90-405F-FC940DCCE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88583F-36B3-5F4A-AA42-6109F23389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5FCC6A-BC2C-4780-F347-03972C5BF21A}"/>
              </a:ext>
            </a:extLst>
          </p:cNvPr>
          <p:cNvSpPr>
            <a:spLocks noGrp="1"/>
          </p:cNvSpPr>
          <p:nvPr>
            <p:ph type="sldNum" sz="quarter" idx="5"/>
          </p:nvPr>
        </p:nvSpPr>
        <p:spPr/>
        <p:txBody>
          <a:bodyPr/>
          <a:lstStyle/>
          <a:p>
            <a:fld id="{ECC46987-1D68-4199-95F9-B343B80E33C2}" type="slidenum">
              <a:rPr lang="en-US" smtClean="0"/>
              <a:t>12</a:t>
            </a:fld>
            <a:endParaRPr lang="en-US"/>
          </a:p>
        </p:txBody>
      </p:sp>
    </p:spTree>
    <p:extLst>
      <p:ext uri="{BB962C8B-B14F-4D97-AF65-F5344CB8AC3E}">
        <p14:creationId xmlns:p14="http://schemas.microsoft.com/office/powerpoint/2010/main" val="17561739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3A731-C84E-404A-235C-DF53E24E1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8BED43-734F-B010-C213-AB59DFABE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ED97D-6D6E-8AFA-95DF-8468C37A59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53C3D8-728A-3408-522E-F796B8D0D836}"/>
              </a:ext>
            </a:extLst>
          </p:cNvPr>
          <p:cNvSpPr>
            <a:spLocks noGrp="1"/>
          </p:cNvSpPr>
          <p:nvPr>
            <p:ph type="sldNum" sz="quarter" idx="5"/>
          </p:nvPr>
        </p:nvSpPr>
        <p:spPr/>
        <p:txBody>
          <a:bodyPr/>
          <a:lstStyle/>
          <a:p>
            <a:fld id="{ECC46987-1D68-4199-95F9-B343B80E33C2}" type="slidenum">
              <a:rPr lang="en-US" smtClean="0"/>
              <a:t>13</a:t>
            </a:fld>
            <a:endParaRPr lang="en-US"/>
          </a:p>
        </p:txBody>
      </p:sp>
    </p:spTree>
    <p:extLst>
      <p:ext uri="{BB962C8B-B14F-4D97-AF65-F5344CB8AC3E}">
        <p14:creationId xmlns:p14="http://schemas.microsoft.com/office/powerpoint/2010/main" val="6157744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55C4A-B872-34E4-38E8-86B648F423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02B1C-57B2-C59E-CC14-E0A04A0B58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A2FA0-30F5-1F10-6638-B9269BB6C7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9B7724-0A8A-A68E-FD58-891D63F8C2E4}"/>
              </a:ext>
            </a:extLst>
          </p:cNvPr>
          <p:cNvSpPr>
            <a:spLocks noGrp="1"/>
          </p:cNvSpPr>
          <p:nvPr>
            <p:ph type="sldNum" sz="quarter" idx="5"/>
          </p:nvPr>
        </p:nvSpPr>
        <p:spPr/>
        <p:txBody>
          <a:bodyPr/>
          <a:lstStyle/>
          <a:p>
            <a:fld id="{ECC46987-1D68-4199-95F9-B343B80E33C2}" type="slidenum">
              <a:rPr lang="en-US" smtClean="0"/>
              <a:t>14</a:t>
            </a:fld>
            <a:endParaRPr lang="en-US"/>
          </a:p>
        </p:txBody>
      </p:sp>
    </p:spTree>
    <p:extLst>
      <p:ext uri="{BB962C8B-B14F-4D97-AF65-F5344CB8AC3E}">
        <p14:creationId xmlns:p14="http://schemas.microsoft.com/office/powerpoint/2010/main" val="1035988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EC65D-E1DE-FFBD-35E7-AC0C29907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FF61BA-666E-4F10-9496-B3B3C2FB1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CCBD38-F81D-9141-0D1C-BE08FD922F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7D6906-2852-16B6-CAF7-DB70B2991BE1}"/>
              </a:ext>
            </a:extLst>
          </p:cNvPr>
          <p:cNvSpPr>
            <a:spLocks noGrp="1"/>
          </p:cNvSpPr>
          <p:nvPr>
            <p:ph type="sldNum" sz="quarter" idx="5"/>
          </p:nvPr>
        </p:nvSpPr>
        <p:spPr/>
        <p:txBody>
          <a:bodyPr/>
          <a:lstStyle/>
          <a:p>
            <a:fld id="{ECC46987-1D68-4199-95F9-B343B80E33C2}" type="slidenum">
              <a:rPr lang="en-US" smtClean="0"/>
              <a:t>15</a:t>
            </a:fld>
            <a:endParaRPr lang="en-US"/>
          </a:p>
        </p:txBody>
      </p:sp>
    </p:spTree>
    <p:extLst>
      <p:ext uri="{BB962C8B-B14F-4D97-AF65-F5344CB8AC3E}">
        <p14:creationId xmlns:p14="http://schemas.microsoft.com/office/powerpoint/2010/main" val="34640996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CAC6F-22F0-35A0-7C63-93C58B4B7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A647C9-858C-BA84-8219-3FFEAFFE70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FFAB3A-E107-8386-0B9A-222B06B8C1AB}"/>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5" name="Footer Placeholder 4">
            <a:extLst>
              <a:ext uri="{FF2B5EF4-FFF2-40B4-BE49-F238E27FC236}">
                <a16:creationId xmlns:a16="http://schemas.microsoft.com/office/drawing/2014/main" id="{419065AB-4D77-D93D-A154-1AD155781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4714B2-6A3A-ADBE-9043-E09B814372A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1189552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8C270-19A6-B9C0-E9F5-6E8004A26A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5D6CC0-E884-F28F-37FC-998AF0165D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8F48B2-10F5-EF27-A21B-A04A0E8B12F4}"/>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5" name="Footer Placeholder 4">
            <a:extLst>
              <a:ext uri="{FF2B5EF4-FFF2-40B4-BE49-F238E27FC236}">
                <a16:creationId xmlns:a16="http://schemas.microsoft.com/office/drawing/2014/main" id="{317B4EED-8802-C10E-4549-DC395FF074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A218A-4C2A-63FA-361E-17069A1E435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710043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0CC10F-0890-B2F6-27C8-D364DEB7CC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65C80A-4F2D-00ED-0450-504007F2A5F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DF3FF5A-2B05-1BB0-53E4-960A8EDB392F}"/>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5" name="Footer Placeholder 4">
            <a:extLst>
              <a:ext uri="{FF2B5EF4-FFF2-40B4-BE49-F238E27FC236}">
                <a16:creationId xmlns:a16="http://schemas.microsoft.com/office/drawing/2014/main" id="{4F1E87D2-C0DF-C27A-A4DA-EB58FE1E60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58C87D-9D7E-CC86-029E-6077BAB5D288}"/>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9348955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10C104-2E8A-CAD7-1F04-ED25458709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C1938E-A579-419C-F7BC-921D48E116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E7DBC9-8ACA-1131-DAC2-2028820413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26340B4-E80D-98A4-C508-0C6B028B24A8}"/>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6" name="Footer Placeholder 5">
            <a:extLst>
              <a:ext uri="{FF2B5EF4-FFF2-40B4-BE49-F238E27FC236}">
                <a16:creationId xmlns:a16="http://schemas.microsoft.com/office/drawing/2014/main" id="{E06927B8-DE9C-A51D-B4F4-3A1124D506B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9DE849-B733-C8B3-C009-733A11012D2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2084169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AF8D0-500D-418E-2358-2CE4431152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CB96B00-6D5B-76CB-7419-28ED15AABC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E5C95A-1B93-A57F-C3CC-6906B62781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06E7EB8-75C0-F651-A5B9-48E2F413D2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2A34891-F916-BA59-B069-11C7E27C90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D606A6-2146-01DB-9281-68B53BAD2878}"/>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8" name="Footer Placeholder 7">
            <a:extLst>
              <a:ext uri="{FF2B5EF4-FFF2-40B4-BE49-F238E27FC236}">
                <a16:creationId xmlns:a16="http://schemas.microsoft.com/office/drawing/2014/main" id="{5A30C9E6-6F30-70F3-02F2-33001D0859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A5DFED3-46F7-1765-5204-7C21D5B90C4D}"/>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80654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209BB-3CED-3A57-6821-80FF5EA30B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3CD8FB7-1C88-C439-7C08-454D4980D047}"/>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4" name="Footer Placeholder 3">
            <a:extLst>
              <a:ext uri="{FF2B5EF4-FFF2-40B4-BE49-F238E27FC236}">
                <a16:creationId xmlns:a16="http://schemas.microsoft.com/office/drawing/2014/main" id="{431702F0-451F-E5B1-43BD-883A35DB2A5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37EDB8E-2FAD-C223-5C02-F8E96AA9F124}"/>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5444840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161C04-F92A-8ECE-0B34-52FE570A0184}"/>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3" name="Footer Placeholder 2">
            <a:extLst>
              <a:ext uri="{FF2B5EF4-FFF2-40B4-BE49-F238E27FC236}">
                <a16:creationId xmlns:a16="http://schemas.microsoft.com/office/drawing/2014/main" id="{439085F6-AB00-D213-6711-174838754D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2C3642B-E652-4D3A-DED8-1F402885AAE3}"/>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18224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F5E8C4-9052-0ED0-E653-F52AFA4936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6C5C4CD-34B3-183B-33EE-C1873628857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BAFFE7F-C8E0-4856-D92F-6DB9851940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CB6085-3263-495E-123C-0F84F1624149}"/>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6" name="Footer Placeholder 5">
            <a:extLst>
              <a:ext uri="{FF2B5EF4-FFF2-40B4-BE49-F238E27FC236}">
                <a16:creationId xmlns:a16="http://schemas.microsoft.com/office/drawing/2014/main" id="{3151EB62-007A-5982-70F4-3BFB0633A6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F7A727-695F-6630-D38A-BFC7B540CB7A}"/>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626753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5A1B3-A811-0F60-5371-B8DB37D352F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3ED2CA6-8AED-ECED-DE93-D64672E904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D8BF4C-3EF8-BFD3-2C11-A25FA2F2B7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7B5C1E-EEC1-4C7F-4BBB-A2DA9790C9DB}"/>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6" name="Footer Placeholder 5">
            <a:extLst>
              <a:ext uri="{FF2B5EF4-FFF2-40B4-BE49-F238E27FC236}">
                <a16:creationId xmlns:a16="http://schemas.microsoft.com/office/drawing/2014/main" id="{BDDA85CA-CA73-8D5A-C434-16B5330172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F17444-08C1-9D0A-1FF6-626EC1186A16}"/>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8870019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1DED2-3584-92CB-ADC3-7935CCD6BD7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2C0E04-F508-C922-9C54-94E3F8A41A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74FDD-308C-BEE2-860C-069A43B308D8}"/>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5" name="Footer Placeholder 4">
            <a:extLst>
              <a:ext uri="{FF2B5EF4-FFF2-40B4-BE49-F238E27FC236}">
                <a16:creationId xmlns:a16="http://schemas.microsoft.com/office/drawing/2014/main" id="{E3445F94-4289-2D78-0363-6700D04923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7A807E-BED6-A013-1A0E-9BE055D2DA5D}"/>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83831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886B95-871E-01E7-91F0-548B0B1AC76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6D4586A-A617-A48E-554D-FBF9244892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ED03EF-4446-6ECD-95EC-6BCC5C63293A}"/>
              </a:ext>
            </a:extLst>
          </p:cNvPr>
          <p:cNvSpPr>
            <a:spLocks noGrp="1"/>
          </p:cNvSpPr>
          <p:nvPr>
            <p:ph type="dt" sz="half" idx="10"/>
          </p:nvPr>
        </p:nvSpPr>
        <p:spPr/>
        <p:txBody>
          <a:bodyPr/>
          <a:lstStyle/>
          <a:p>
            <a:fld id="{9E762BDF-2224-469D-87AB-6750BB846E30}" type="datetimeFigureOut">
              <a:rPr lang="en-US" smtClean="0"/>
              <a:t>3/6/2026</a:t>
            </a:fld>
            <a:endParaRPr lang="en-US"/>
          </a:p>
        </p:txBody>
      </p:sp>
      <p:sp>
        <p:nvSpPr>
          <p:cNvPr id="5" name="Footer Placeholder 4">
            <a:extLst>
              <a:ext uri="{FF2B5EF4-FFF2-40B4-BE49-F238E27FC236}">
                <a16:creationId xmlns:a16="http://schemas.microsoft.com/office/drawing/2014/main" id="{62DD0438-86C6-0BA3-0413-310D28CC87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6CD548-B83F-9018-2FE7-33EB3C61EB9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4215748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1C5E77-F483-5293-6AF1-DDC1FC2945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549B2FF-A779-75F0-FAA8-769A785271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457D5B-2B77-18FE-125E-A74B6C057A1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E762BDF-2224-469D-87AB-6750BB846E30}" type="datetimeFigureOut">
              <a:rPr lang="en-US" smtClean="0"/>
              <a:t>3/6/2026</a:t>
            </a:fld>
            <a:endParaRPr lang="en-US"/>
          </a:p>
        </p:txBody>
      </p:sp>
      <p:sp>
        <p:nvSpPr>
          <p:cNvPr id="5" name="Footer Placeholder 4">
            <a:extLst>
              <a:ext uri="{FF2B5EF4-FFF2-40B4-BE49-F238E27FC236}">
                <a16:creationId xmlns:a16="http://schemas.microsoft.com/office/drawing/2014/main" id="{5FC69D55-C2AE-D887-EE30-FCE245723C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23CECEF-0C7D-83D4-F36F-A9FEE39B9D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A6B8CA9-C2AF-47C6-AE6C-9E80964C5271}" type="slidenum">
              <a:rPr lang="en-US" smtClean="0"/>
              <a:t>‹#›</a:t>
            </a:fld>
            <a:endParaRPr lang="en-US"/>
          </a:p>
        </p:txBody>
      </p:sp>
    </p:spTree>
    <p:extLst>
      <p:ext uri="{BB962C8B-B14F-4D97-AF65-F5344CB8AC3E}">
        <p14:creationId xmlns:p14="http://schemas.microsoft.com/office/powerpoint/2010/main" val="2984073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hyperlink" Target="https://www.kaggle.com/code/jhffmn/hoffman-australian-rental" TargetMode="External"/><Relationship Id="rId4" Type="http://schemas.openxmlformats.org/officeDocument/2006/relationships/hyperlink" Target="https://github.com/jhffmn82/gao-rental-project-support/blob/5ba141e5fe53fe344332f1f036b6251f1aff1fa9/hoffman-australian-rental.ipynb"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3346177D-ADC4-4968-B747-5CFCD390B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51EA68F3-7A13-4110-0588-B516A0699326}"/>
              </a:ext>
            </a:extLst>
          </p:cNvPr>
          <p:cNvSpPr>
            <a:spLocks noGrp="1"/>
          </p:cNvSpPr>
          <p:nvPr>
            <p:ph type="ctrTitle"/>
          </p:nvPr>
        </p:nvSpPr>
        <p:spPr>
          <a:xfrm>
            <a:off x="4826509" y="162272"/>
            <a:ext cx="7294879" cy="1667569"/>
          </a:xfrm>
        </p:spPr>
        <p:txBody>
          <a:bodyPr vert="horz" lIns="91440" tIns="45720" rIns="91440" bIns="45720" rtlCol="0" anchor="b">
            <a:normAutofit/>
          </a:bodyPr>
          <a:lstStyle/>
          <a:p>
            <a:r>
              <a:rPr lang="en-US" sz="3700" b="1" kern="1200" dirty="0">
                <a:solidFill>
                  <a:schemeClr val="tx1"/>
                </a:solidFill>
                <a:latin typeface="+mj-lt"/>
                <a:ea typeface="+mj-ea"/>
                <a:cs typeface="+mj-cs"/>
              </a:rPr>
              <a:t>Australian Rental Market Data</a:t>
            </a:r>
            <a:br>
              <a:rPr lang="en-US" sz="3700" b="1" kern="1200" dirty="0">
                <a:solidFill>
                  <a:schemeClr val="tx1"/>
                </a:solidFill>
                <a:latin typeface="+mj-lt"/>
                <a:ea typeface="+mj-ea"/>
                <a:cs typeface="+mj-cs"/>
              </a:rPr>
            </a:br>
            <a:endParaRPr lang="en-US" sz="3700" kern="1200" dirty="0">
              <a:solidFill>
                <a:schemeClr val="tx1"/>
              </a:solidFill>
              <a:latin typeface="+mj-lt"/>
              <a:ea typeface="+mj-ea"/>
              <a:cs typeface="+mj-cs"/>
            </a:endParaRPr>
          </a:p>
        </p:txBody>
      </p:sp>
      <p:pic>
        <p:nvPicPr>
          <p:cNvPr id="24" name="Graphic 23" descr="City">
            <a:extLst>
              <a:ext uri="{FF2B5EF4-FFF2-40B4-BE49-F238E27FC236}">
                <a16:creationId xmlns:a16="http://schemas.microsoft.com/office/drawing/2014/main" id="{3202D537-96E0-F496-1DB0-B19F8F6AA99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68130" y="1275070"/>
            <a:ext cx="3876165" cy="3876165"/>
          </a:xfrm>
          <a:prstGeom prst="rect">
            <a:avLst/>
          </a:prstGeom>
        </p:spPr>
      </p:pic>
      <p:sp>
        <p:nvSpPr>
          <p:cNvPr id="3" name="Subtitle 2">
            <a:extLst>
              <a:ext uri="{FF2B5EF4-FFF2-40B4-BE49-F238E27FC236}">
                <a16:creationId xmlns:a16="http://schemas.microsoft.com/office/drawing/2014/main" id="{9785FE79-6AC3-E051-0985-965E2814A1A9}"/>
              </a:ext>
            </a:extLst>
          </p:cNvPr>
          <p:cNvSpPr>
            <a:spLocks noGrp="1"/>
          </p:cNvSpPr>
          <p:nvPr>
            <p:ph type="subTitle" idx="1"/>
          </p:nvPr>
        </p:nvSpPr>
        <p:spPr>
          <a:xfrm>
            <a:off x="5464251" y="1709688"/>
            <a:ext cx="6019394" cy="3197464"/>
          </a:xfrm>
        </p:spPr>
        <p:txBody>
          <a:bodyPr vert="horz" lIns="91440" tIns="45720" rIns="91440" bIns="45720" rtlCol="0" anchor="t">
            <a:normAutofit/>
          </a:bodyPr>
          <a:lstStyle/>
          <a:p>
            <a:r>
              <a:rPr lang="en-US" sz="1800" dirty="0"/>
              <a:t>GAO Innovation Lab Interview Submission</a:t>
            </a:r>
            <a:br>
              <a:rPr lang="en-US" sz="1800" dirty="0"/>
            </a:br>
            <a:r>
              <a:rPr lang="en-US" sz="1800" b="1" dirty="0"/>
              <a:t>Justin Hoffman, </a:t>
            </a:r>
            <a:r>
              <a:rPr lang="en-US" sz="1800" dirty="0"/>
              <a:t>March 2026</a:t>
            </a:r>
          </a:p>
          <a:p>
            <a:br>
              <a:rPr lang="en-US" sz="2000" dirty="0"/>
            </a:br>
            <a:r>
              <a:rPr lang="en-US" sz="2000" dirty="0"/>
              <a:t>Build an interpretable model of weekly rent and measure how much property fundamentals, geography, and amenities contribute to rental price.</a:t>
            </a:r>
          </a:p>
          <a:p>
            <a:pPr algn="l"/>
            <a:endParaRPr lang="en-US" sz="2000" dirty="0">
              <a:hlinkClick r:id="rId4"/>
            </a:endParaRPr>
          </a:p>
          <a:p>
            <a:r>
              <a:rPr lang="en-US" sz="2000" dirty="0" err="1">
                <a:hlinkClick r:id="rId4"/>
              </a:rPr>
              <a:t>github</a:t>
            </a:r>
            <a:endParaRPr lang="en-US" sz="2000" dirty="0"/>
          </a:p>
          <a:p>
            <a:r>
              <a:rPr lang="en-US" sz="2000" dirty="0" err="1">
                <a:hlinkClick r:id="rId5"/>
              </a:rPr>
              <a:t>kaggle</a:t>
            </a:r>
            <a:endParaRPr lang="en-US" sz="2000" dirty="0"/>
          </a:p>
        </p:txBody>
      </p:sp>
      <p:sp>
        <p:nvSpPr>
          <p:cNvPr id="41" name="Rectangle 40">
            <a:extLst>
              <a:ext uri="{FF2B5EF4-FFF2-40B4-BE49-F238E27FC236}">
                <a16:creationId xmlns:a16="http://schemas.microsoft.com/office/drawing/2014/main" id="{0844A943-BF79-4FEA-ABB1-3BD54D236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90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437CC72-F4A8-4DC3-AFAB-D22C482C8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50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271287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4F9037-6D6C-3449-670E-79837D9987A7}"/>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Problem and Scope</a:t>
            </a:r>
          </a:p>
        </p:txBody>
      </p:sp>
      <p:sp>
        <p:nvSpPr>
          <p:cNvPr id="4" name="Rectangle 1">
            <a:extLst>
              <a:ext uri="{FF2B5EF4-FFF2-40B4-BE49-F238E27FC236}">
                <a16:creationId xmlns:a16="http://schemas.microsoft.com/office/drawing/2014/main" id="{E3144A4C-2BFF-9FA1-B955-0FD0A6C53F9F}"/>
              </a:ext>
            </a:extLst>
          </p:cNvPr>
          <p:cNvSpPr>
            <a:spLocks noGrp="1" noChangeArrowheads="1"/>
          </p:cNvSpPr>
          <p:nvPr>
            <p:ph idx="1"/>
          </p:nvPr>
        </p:nvSpPr>
        <p:spPr bwMode="auto">
          <a:xfrm>
            <a:off x="934263" y="1788160"/>
            <a:ext cx="1032347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77500" lnSpcReduction="20000"/>
          </a:bodyPr>
          <a:lstStyle/>
          <a:p>
            <a:pPr marL="0" indent="0" eaLnBrk="0" fontAlgn="base" hangingPunct="0">
              <a:lnSpc>
                <a:spcPct val="120000"/>
              </a:lnSpc>
              <a:spcBef>
                <a:spcPct val="0"/>
              </a:spcBef>
              <a:spcAft>
                <a:spcPts val="600"/>
              </a:spcAft>
              <a:buNone/>
            </a:pPr>
            <a:r>
              <a:rPr lang="en-US" sz="2400" b="1" dirty="0"/>
              <a:t>Goal</a:t>
            </a:r>
            <a:br>
              <a:rPr lang="en-US" sz="2400" dirty="0"/>
            </a:br>
            <a:r>
              <a:rPr lang="en-US" sz="2400" dirty="0"/>
              <a:t>Build an interpretable model of weekly rent and identify which factors matter most.</a:t>
            </a:r>
            <a:br>
              <a:rPr lang="en-US" sz="2400" dirty="0"/>
            </a:br>
            <a:br>
              <a:rPr lang="en-US" sz="2400" dirty="0"/>
            </a:br>
            <a:r>
              <a:rPr lang="en-US" sz="2400" b="1" dirty="0"/>
              <a:t>Dataset</a:t>
            </a:r>
            <a:br>
              <a:rPr lang="en-US" sz="2400" dirty="0"/>
            </a:br>
            <a:r>
              <a:rPr lang="en-US" sz="2400" dirty="0"/>
              <a:t>Australian Rental Market Data 2026</a:t>
            </a:r>
            <a:br>
              <a:rPr lang="en-US" sz="2400" dirty="0"/>
            </a:br>
            <a:br>
              <a:rPr lang="en-US" sz="2400" dirty="0"/>
            </a:br>
            <a:r>
              <a:rPr lang="en-US" sz="2400" b="1" dirty="0"/>
              <a:t>Target</a:t>
            </a:r>
            <a:br>
              <a:rPr lang="en-US" sz="2400" dirty="0"/>
            </a:br>
            <a:r>
              <a:rPr lang="en-US" sz="2400" dirty="0"/>
              <a:t>Weekly rent</a:t>
            </a:r>
            <a:br>
              <a:rPr lang="en-US" sz="2400" dirty="0"/>
            </a:br>
            <a:br>
              <a:rPr lang="en-US" sz="2400" dirty="0"/>
            </a:br>
            <a:r>
              <a:rPr lang="en-US" sz="2400" b="1" dirty="0"/>
              <a:t>Focused Questions</a:t>
            </a:r>
            <a:br>
              <a:rPr lang="en-US" sz="2400" dirty="0"/>
            </a:br>
            <a:r>
              <a:rPr lang="en-US" sz="2400" dirty="0"/>
              <a:t>• How much of weekly rent can be explained by property fundamentals alone?</a:t>
            </a:r>
            <a:br>
              <a:rPr lang="en-US" sz="2400" dirty="0"/>
            </a:br>
            <a:r>
              <a:rPr lang="en-US" sz="2400" dirty="0"/>
              <a:t>• How much additional explanatory power comes from geography?</a:t>
            </a:r>
            <a:br>
              <a:rPr lang="en-US" sz="2400" dirty="0"/>
            </a:br>
            <a:r>
              <a:rPr lang="en-US" sz="2400" dirty="0"/>
              <a:t>• Do amenities improve prediction beyond fundamentals and location?</a:t>
            </a:r>
            <a:br>
              <a:rPr lang="en-US" sz="2400" dirty="0"/>
            </a:br>
            <a:r>
              <a:rPr lang="en-US" sz="2400" dirty="0"/>
              <a:t>• Which individual amenities retain distinct signal after controlling for the other features?</a:t>
            </a:r>
            <a:br>
              <a:rPr lang="en-US" sz="2400" dirty="0"/>
            </a:br>
            <a:r>
              <a:rPr lang="en-US" sz="2400" dirty="0"/>
              <a:t>• How much of the amenity effect reflects overall feature richness rather than specific amenities?</a:t>
            </a:r>
            <a:endParaRPr kumimoji="0" lang="en-US" altLang="en-US" sz="1900" b="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194667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A7DD9D-FCAC-D1D2-0B83-7725791CDAAB}"/>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97370956-CF7F-6264-5EBC-F9B1F8E5D8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58ACB9A-1552-1C9B-15E2-F89E3F845F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2C75DE9-87F5-3AB0-6A2B-CCA1214BF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EDE886F4-6FBD-9DAB-91A6-2A5DA46F2D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BDC21E5-BC72-F213-BD79-C424263784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553CDA-8380-4076-6C3C-B4C94E30D181}"/>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Modeling Approach</a:t>
            </a:r>
          </a:p>
        </p:txBody>
      </p:sp>
      <p:sp>
        <p:nvSpPr>
          <p:cNvPr id="4" name="Rectangle 1">
            <a:extLst>
              <a:ext uri="{FF2B5EF4-FFF2-40B4-BE49-F238E27FC236}">
                <a16:creationId xmlns:a16="http://schemas.microsoft.com/office/drawing/2014/main" id="{2563D46E-2EA2-823D-53BF-ED726CC7C5A3}"/>
              </a:ext>
            </a:extLst>
          </p:cNvPr>
          <p:cNvSpPr>
            <a:spLocks noGrp="1" noChangeArrowheads="1"/>
          </p:cNvSpPr>
          <p:nvPr>
            <p:ph idx="1"/>
          </p:nvPr>
        </p:nvSpPr>
        <p:spPr bwMode="auto">
          <a:xfrm>
            <a:off x="459350" y="1833374"/>
            <a:ext cx="1122465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lang="en-US" sz="1400" b="1" dirty="0"/>
              <a:t>Supervised Regression</a:t>
            </a:r>
            <a:br>
              <a:rPr lang="en-US" sz="1400" dirty="0"/>
            </a:br>
            <a:r>
              <a:rPr lang="en-US" sz="1400" dirty="0"/>
              <a:t>Two models of regularized linear regression: Lasso and Ridge</a:t>
            </a:r>
          </a:p>
          <a:p>
            <a:pPr marL="0" indent="0" fontAlgn="base">
              <a:buNone/>
            </a:pPr>
            <a:r>
              <a:rPr lang="en-US" sz="1400" dirty="0"/>
              <a:t>These models were appropriate for three main reasons:</a:t>
            </a:r>
          </a:p>
          <a:p>
            <a:pPr marL="0" indent="0" fontAlgn="base">
              <a:buNone/>
            </a:pPr>
            <a:r>
              <a:rPr lang="en-US" sz="1400" b="1" dirty="0"/>
              <a:t>Interpretability</a:t>
            </a:r>
            <a:br>
              <a:rPr lang="en-US" sz="1400" dirty="0"/>
            </a:br>
            <a:r>
              <a:rPr lang="en-US" sz="1400" dirty="0"/>
              <a:t>Linear models provide coefficients that estimate how each feature is associated with rent. This makes the results easier to explain.</a:t>
            </a:r>
          </a:p>
          <a:p>
            <a:pPr marL="0" indent="0" fontAlgn="base">
              <a:buNone/>
            </a:pPr>
            <a:r>
              <a:rPr lang="en-US" sz="1400" b="1" dirty="0"/>
              <a:t>Large number of predictors</a:t>
            </a:r>
            <a:br>
              <a:rPr lang="en-US" sz="1400" dirty="0"/>
            </a:br>
            <a:r>
              <a:rPr lang="en-US" sz="1400" dirty="0"/>
              <a:t>After converting categorical variables such as postcode into indicator variables, the model includes a large number of predictors. With about 6,800 listings and more than 1,000 postcode categories, ordinary least squares can become unstable. Regularization helps control this by shrinking coefficients.</a:t>
            </a:r>
          </a:p>
          <a:p>
            <a:pPr marL="0" indent="0" fontAlgn="base">
              <a:buNone/>
            </a:pPr>
            <a:r>
              <a:rPr lang="en-US" sz="1400" b="1" dirty="0"/>
              <a:t>Feature selection</a:t>
            </a:r>
            <a:br>
              <a:rPr lang="en-US" sz="1400" dirty="0"/>
            </a:br>
            <a:r>
              <a:rPr lang="en-US" sz="1400" dirty="0"/>
              <a:t>Lasso can shrink weak predictors all the way to zero, which helps identify which amenities appear to carry real signal and which do not add much explanatory value.</a:t>
            </a:r>
          </a:p>
          <a:p>
            <a:pPr marL="0" indent="0" fontAlgn="base">
              <a:buNone/>
            </a:pPr>
            <a:r>
              <a:rPr lang="en-US" sz="1400" b="1" dirty="0"/>
              <a:t>Ridge (L2) </a:t>
            </a:r>
            <a:r>
              <a:rPr lang="en-US" sz="1400" dirty="0"/>
              <a:t>shrinks coefficients toward zero but retains all predictors in the model. This works well when many variables each contribute a small amount of signal, such as geographic effects where many postcode indicators each capture part of the pricing pattern.</a:t>
            </a:r>
          </a:p>
          <a:p>
            <a:pPr marL="0" indent="0" fontAlgn="base">
              <a:buNone/>
            </a:pPr>
            <a:r>
              <a:rPr lang="en-US" sz="1400" b="1" dirty="0"/>
              <a:t>Lasso (L1) </a:t>
            </a:r>
            <a:r>
              <a:rPr lang="en-US" sz="1400" dirty="0"/>
              <a:t>applies a penalty that can shrink some coefficients to exactly zero, effectively removing weaker predictors. This is particularly useful when modeling amenities, where many features appear together and only a subset carries meaningful signal. In later stages of the analysis, Lasso also helps distinguish between the value of specific amenities and the broader premium associated with feature-rich listings.</a:t>
            </a:r>
            <a:br>
              <a:rPr lang="en-US" sz="1400" dirty="0"/>
            </a:br>
            <a:endParaRPr kumimoji="0" lang="en-US" altLang="en-US" sz="140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4156288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24CB60-2AF6-3CD6-A172-E5D4405209B0}"/>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8ACC535D-AAD3-4739-63B0-7B2FC37B1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0B3EADB1-E585-BDD2-F7A7-147696BADA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EE937E0-B4CE-E055-BDDC-E999DF0DAE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3358B70-C495-398E-01DB-12F8C642C8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55F1F6F-83DA-99FD-39FD-8CC26A797F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2CF36A-785D-2436-BB46-EFF64642F6ED}"/>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Data Quality and Preparation</a:t>
            </a:r>
          </a:p>
        </p:txBody>
      </p:sp>
      <p:sp>
        <p:nvSpPr>
          <p:cNvPr id="4" name="Rectangle 1">
            <a:extLst>
              <a:ext uri="{FF2B5EF4-FFF2-40B4-BE49-F238E27FC236}">
                <a16:creationId xmlns:a16="http://schemas.microsoft.com/office/drawing/2014/main" id="{F6C72E1A-A4F5-8EE1-1365-569CABE97A4A}"/>
              </a:ext>
            </a:extLst>
          </p:cNvPr>
          <p:cNvSpPr>
            <a:spLocks noGrp="1" noChangeArrowheads="1"/>
          </p:cNvSpPr>
          <p:nvPr>
            <p:ph idx="1"/>
          </p:nvPr>
        </p:nvSpPr>
        <p:spPr bwMode="auto">
          <a:xfrm>
            <a:off x="673241" y="1788160"/>
            <a:ext cx="418324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20000"/>
          </a:bodyPr>
          <a:lstStyle/>
          <a:p>
            <a:pPr marL="0" indent="0" eaLnBrk="0" fontAlgn="base" hangingPunct="0">
              <a:lnSpc>
                <a:spcPct val="120000"/>
              </a:lnSpc>
              <a:spcBef>
                <a:spcPct val="0"/>
              </a:spcBef>
              <a:spcAft>
                <a:spcPts val="600"/>
              </a:spcAft>
              <a:buNone/>
            </a:pPr>
            <a:r>
              <a:rPr lang="en-US" sz="1600" b="1" dirty="0"/>
              <a:t>Data Review</a:t>
            </a:r>
            <a:br>
              <a:rPr lang="en-US" sz="1600" dirty="0"/>
            </a:br>
            <a:r>
              <a:rPr lang="en-US" sz="1600" dirty="0"/>
              <a:t> 6,767 listings and 16 original variables</a:t>
            </a:r>
            <a:br>
              <a:rPr lang="en-US" sz="1600" dirty="0"/>
            </a:br>
            <a:r>
              <a:rPr lang="en-US" sz="1600" dirty="0"/>
              <a:t>1 duplicate listing removed</a:t>
            </a:r>
            <a:br>
              <a:rPr lang="en-US" sz="1600" dirty="0"/>
            </a:br>
            <a:r>
              <a:rPr lang="en-US" sz="1600" dirty="0"/>
              <a:t>Limited missingness in amenities</a:t>
            </a:r>
            <a:br>
              <a:rPr lang="en-US" sz="1600" dirty="0"/>
            </a:br>
            <a:r>
              <a:rPr lang="en-US" sz="1600" dirty="0"/>
              <a:t>Geography had high cardinality</a:t>
            </a:r>
            <a:br>
              <a:rPr lang="en-US" sz="1600" dirty="0"/>
            </a:br>
            <a:r>
              <a:rPr lang="en-US" sz="1600" dirty="0"/>
              <a:t>Weekly rent was strongly right-skewed</a:t>
            </a:r>
            <a:br>
              <a:rPr lang="en-US" sz="1600" dirty="0"/>
            </a:br>
            <a:br>
              <a:rPr lang="en-US" sz="1600" dirty="0"/>
            </a:br>
            <a:r>
              <a:rPr lang="en-US" sz="1600" b="1" dirty="0"/>
              <a:t>Key Preprocessing Steps</a:t>
            </a:r>
            <a:br>
              <a:rPr lang="en-US" sz="1600" dirty="0"/>
            </a:br>
            <a:r>
              <a:rPr lang="en-US" sz="1600" dirty="0"/>
              <a:t>Created log-transformed rent target</a:t>
            </a:r>
            <a:br>
              <a:rPr lang="en-US" sz="1600" dirty="0"/>
            </a:br>
            <a:r>
              <a:rPr lang="en-US" sz="1600" dirty="0"/>
              <a:t>One-hot encoded categorical variables such as property type and postcode as well as each individual Amenities.</a:t>
            </a:r>
            <a:br>
              <a:rPr lang="en-US" sz="1600" dirty="0"/>
            </a:br>
            <a:r>
              <a:rPr lang="en-US" sz="1600" dirty="0"/>
              <a:t>Split data into training and test sets, stratified by state. Used stratified cross verification.</a:t>
            </a:r>
            <a:br>
              <a:rPr lang="en-US" sz="1600" dirty="0"/>
            </a:br>
            <a:br>
              <a:rPr lang="en-US" sz="1600" dirty="0"/>
            </a:br>
            <a:r>
              <a:rPr lang="en-US" sz="1600" b="1" dirty="0"/>
              <a:t>Why this mattered</a:t>
            </a:r>
            <a:br>
              <a:rPr lang="en-US" sz="1600" dirty="0"/>
            </a:br>
            <a:r>
              <a:rPr lang="en-US" sz="1600" dirty="0"/>
              <a:t>These steps made the data suitable for regularized regression while preserving interpretability.</a:t>
            </a:r>
            <a:endParaRPr kumimoji="0" lang="en-US" altLang="en-US" sz="1600" b="0" i="0" u="none" strike="noStrike" cap="none" normalizeH="0" baseline="0" dirty="0">
              <a:ln>
                <a:noFill/>
              </a:ln>
              <a:effectLst/>
              <a:latin typeface="Arial" panose="020B0604020202020204" pitchFamily="34" charset="0"/>
            </a:endParaRPr>
          </a:p>
        </p:txBody>
      </p:sp>
      <p:pic>
        <p:nvPicPr>
          <p:cNvPr id="7" name="Picture 6">
            <a:extLst>
              <a:ext uri="{FF2B5EF4-FFF2-40B4-BE49-F238E27FC236}">
                <a16:creationId xmlns:a16="http://schemas.microsoft.com/office/drawing/2014/main" id="{9526A46B-B30E-1D42-F4AE-AB3BF6BBA6FA}"/>
              </a:ext>
            </a:extLst>
          </p:cNvPr>
          <p:cNvPicPr>
            <a:picLocks noChangeAspect="1"/>
          </p:cNvPicPr>
          <p:nvPr/>
        </p:nvPicPr>
        <p:blipFill>
          <a:blip r:embed="rId3"/>
          <a:stretch>
            <a:fillRect/>
          </a:stretch>
        </p:blipFill>
        <p:spPr>
          <a:xfrm>
            <a:off x="4572611" y="1891970"/>
            <a:ext cx="7362206" cy="2133600"/>
          </a:xfrm>
          <a:prstGeom prst="rect">
            <a:avLst/>
          </a:prstGeom>
        </p:spPr>
      </p:pic>
      <p:pic>
        <p:nvPicPr>
          <p:cNvPr id="9" name="Picture 8">
            <a:extLst>
              <a:ext uri="{FF2B5EF4-FFF2-40B4-BE49-F238E27FC236}">
                <a16:creationId xmlns:a16="http://schemas.microsoft.com/office/drawing/2014/main" id="{D8A85B81-C109-390B-90D8-FFB0FCD6EFBE}"/>
              </a:ext>
            </a:extLst>
          </p:cNvPr>
          <p:cNvPicPr>
            <a:picLocks noChangeAspect="1"/>
          </p:cNvPicPr>
          <p:nvPr/>
        </p:nvPicPr>
        <p:blipFill>
          <a:blip r:embed="rId4"/>
          <a:stretch>
            <a:fillRect/>
          </a:stretch>
        </p:blipFill>
        <p:spPr>
          <a:xfrm>
            <a:off x="5403716" y="4025570"/>
            <a:ext cx="5699996" cy="2616860"/>
          </a:xfrm>
          <a:prstGeom prst="rect">
            <a:avLst/>
          </a:prstGeom>
        </p:spPr>
      </p:pic>
    </p:spTree>
    <p:extLst>
      <p:ext uri="{BB962C8B-B14F-4D97-AF65-F5344CB8AC3E}">
        <p14:creationId xmlns:p14="http://schemas.microsoft.com/office/powerpoint/2010/main" val="3128568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29235-9AA6-D5BA-3069-BABD05E8E98D}"/>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25EB3F40-A90A-6037-E1F2-BCEF931D9F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9A963EA-5015-DA91-453C-AD2B71072B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747A6D7-9E7C-001A-6A99-27A3EF0D6B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25282EE-FC4E-CD84-F548-9D250BD1CB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F940C1F8-95D0-A740-45C8-5F0FD44AF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909296-CC80-74E2-662A-B80AC24EDFC4}"/>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Hypothesis and Iterative Model Strategy</a:t>
            </a:r>
          </a:p>
        </p:txBody>
      </p:sp>
      <p:sp>
        <p:nvSpPr>
          <p:cNvPr id="4" name="Rectangle 1">
            <a:extLst>
              <a:ext uri="{FF2B5EF4-FFF2-40B4-BE49-F238E27FC236}">
                <a16:creationId xmlns:a16="http://schemas.microsoft.com/office/drawing/2014/main" id="{2A38DA34-58C2-6687-22E0-788C80E9EEEC}"/>
              </a:ext>
            </a:extLst>
          </p:cNvPr>
          <p:cNvSpPr>
            <a:spLocks noGrp="1" noChangeArrowheads="1"/>
          </p:cNvSpPr>
          <p:nvPr>
            <p:ph idx="1"/>
          </p:nvPr>
        </p:nvSpPr>
        <p:spPr bwMode="auto">
          <a:xfrm>
            <a:off x="934263" y="1788160"/>
            <a:ext cx="1032347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85000" lnSpcReduction="20000"/>
          </a:bodyPr>
          <a:lstStyle/>
          <a:p>
            <a:pPr marL="0" indent="0" eaLnBrk="0" fontAlgn="base" hangingPunct="0">
              <a:lnSpc>
                <a:spcPct val="120000"/>
              </a:lnSpc>
              <a:spcBef>
                <a:spcPct val="0"/>
              </a:spcBef>
              <a:spcAft>
                <a:spcPts val="600"/>
              </a:spcAft>
              <a:buNone/>
            </a:pPr>
            <a:r>
              <a:rPr lang="en-US" sz="2400" b="1" dirty="0"/>
              <a:t>H1: Fundamentals</a:t>
            </a:r>
            <a:br>
              <a:rPr lang="en-US" sz="2400" dirty="0"/>
            </a:br>
            <a:r>
              <a:rPr lang="en-US" sz="2400" dirty="0"/>
              <a:t>Basic property characteristics explain some rent variation.</a:t>
            </a:r>
            <a:br>
              <a:rPr lang="en-US" sz="2400" dirty="0"/>
            </a:br>
            <a:br>
              <a:rPr lang="en-US" sz="2400" dirty="0"/>
            </a:br>
            <a:r>
              <a:rPr lang="en-US" sz="2400" b="1" dirty="0"/>
              <a:t>H2: + Geography</a:t>
            </a:r>
            <a:br>
              <a:rPr lang="en-US" sz="2400" dirty="0"/>
            </a:br>
            <a:r>
              <a:rPr lang="en-US" sz="2400" dirty="0"/>
              <a:t>Location adds major explanatory power beyond fundamentals.</a:t>
            </a:r>
            <a:br>
              <a:rPr lang="en-US" sz="2400" dirty="0"/>
            </a:br>
            <a:br>
              <a:rPr lang="en-US" sz="2400" dirty="0"/>
            </a:br>
            <a:r>
              <a:rPr lang="en-US" sz="2400" b="1" dirty="0"/>
              <a:t>H3: + Amenities</a:t>
            </a:r>
            <a:br>
              <a:rPr lang="en-US" sz="2400" dirty="0"/>
            </a:br>
            <a:r>
              <a:rPr lang="en-US" sz="2400" dirty="0" err="1"/>
              <a:t>Amenities</a:t>
            </a:r>
            <a:r>
              <a:rPr lang="en-US" sz="2400" dirty="0"/>
              <a:t> improve prediction after controlling for fundamentals and geography.</a:t>
            </a:r>
            <a:br>
              <a:rPr lang="en-US" sz="2400" dirty="0"/>
            </a:br>
            <a:br>
              <a:rPr lang="en-US" sz="2400" dirty="0"/>
            </a:br>
            <a:r>
              <a:rPr lang="en-US" sz="2400" b="1" dirty="0"/>
              <a:t>H4: Amenity Interpretation</a:t>
            </a:r>
            <a:br>
              <a:rPr lang="en-US" sz="2400" dirty="0"/>
            </a:br>
            <a:r>
              <a:rPr lang="en-US" sz="2400" dirty="0"/>
              <a:t>Lasso coefficients help identify which amenities retain distinct signal.</a:t>
            </a:r>
            <a:br>
              <a:rPr lang="en-US" sz="2400" dirty="0"/>
            </a:br>
            <a:br>
              <a:rPr lang="en-US" sz="2400" dirty="0"/>
            </a:br>
            <a:r>
              <a:rPr lang="en-US" sz="2400" b="1" dirty="0"/>
              <a:t>H5: + Amenity Richness</a:t>
            </a:r>
            <a:br>
              <a:rPr lang="en-US" sz="2400" dirty="0"/>
            </a:br>
            <a:r>
              <a:rPr lang="en-US" sz="2400" dirty="0"/>
              <a:t>Adding </a:t>
            </a:r>
            <a:r>
              <a:rPr lang="en-US" sz="2400" dirty="0" err="1"/>
              <a:t>amenity_count</a:t>
            </a:r>
            <a:r>
              <a:rPr lang="en-US" sz="2400" dirty="0"/>
              <a:t> separates the general premium for feature-rich listings from the value of specific amenities.</a:t>
            </a:r>
            <a:endParaRPr kumimoji="0" lang="en-US" altLang="en-US" sz="1900" b="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1734858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730854-0C11-200D-554D-E78C230CB593}"/>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6C664A2B-9B60-FEA6-9559-F471BFFEF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5E144572-4844-DBED-1698-220945FC95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5D3EDB6-30AD-DC9B-9C01-8DA6A87AB0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364E1B4-6A71-9120-63FB-9AD5E7D74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14F44EC6-D035-4B06-3911-7C58E84A05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68696B-0708-4EEA-9928-0BAD66060731}"/>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Training and Evaluating</a:t>
            </a:r>
          </a:p>
        </p:txBody>
      </p:sp>
      <p:sp>
        <p:nvSpPr>
          <p:cNvPr id="4" name="Rectangle 1">
            <a:extLst>
              <a:ext uri="{FF2B5EF4-FFF2-40B4-BE49-F238E27FC236}">
                <a16:creationId xmlns:a16="http://schemas.microsoft.com/office/drawing/2014/main" id="{7C1315A6-14EA-518D-E814-7B7EB4459809}"/>
              </a:ext>
            </a:extLst>
          </p:cNvPr>
          <p:cNvSpPr>
            <a:spLocks noGrp="1" noChangeArrowheads="1"/>
          </p:cNvSpPr>
          <p:nvPr>
            <p:ph idx="1"/>
          </p:nvPr>
        </p:nvSpPr>
        <p:spPr bwMode="auto">
          <a:xfrm>
            <a:off x="1371599" y="1788160"/>
            <a:ext cx="574040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lang="en-US" sz="1400" b="1" dirty="0"/>
              <a:t>Data Split</a:t>
            </a:r>
            <a:br>
              <a:rPr lang="en-US" sz="1400" dirty="0"/>
            </a:br>
            <a:r>
              <a:rPr lang="en-US" sz="1400" dirty="0"/>
              <a:t>75% training data / 25% held-out test data</a:t>
            </a:r>
            <a:br>
              <a:rPr lang="en-US" sz="1400" dirty="0"/>
            </a:br>
            <a:r>
              <a:rPr lang="en-US" sz="1400" dirty="0"/>
              <a:t> Split stratified by state</a:t>
            </a:r>
            <a:br>
              <a:rPr lang="en-US" sz="1400" dirty="0"/>
            </a:br>
            <a:br>
              <a:rPr lang="en-US" sz="1400" dirty="0"/>
            </a:br>
            <a:r>
              <a:rPr lang="en-US" sz="1400" b="1" dirty="0"/>
              <a:t>Cross-Validation</a:t>
            </a:r>
            <a:br>
              <a:rPr lang="en-US" sz="1400" dirty="0"/>
            </a:br>
            <a:r>
              <a:rPr lang="en-US" sz="1400" dirty="0"/>
              <a:t> 5-fold cross-validation used on the training data only</a:t>
            </a:r>
            <a:br>
              <a:rPr lang="en-US" sz="1400" dirty="0"/>
            </a:br>
            <a:r>
              <a:rPr lang="en-US" sz="1400" dirty="0"/>
              <a:t>Candidate alpha values: 0.001, 0.01, 0.1, 1, 10, 100</a:t>
            </a:r>
            <a:br>
              <a:rPr lang="en-US" sz="1400" dirty="0"/>
            </a:br>
            <a:r>
              <a:rPr lang="en-US" sz="1400" dirty="0"/>
              <a:t>Alpha selected by minimizing MAE on log-transformed rent</a:t>
            </a:r>
            <a:br>
              <a:rPr lang="en-US" sz="1400" dirty="0"/>
            </a:br>
            <a:br>
              <a:rPr lang="en-US" sz="1400" dirty="0"/>
            </a:br>
            <a:r>
              <a:rPr lang="en-US" sz="1400" b="1" dirty="0"/>
              <a:t>Final Evaluation</a:t>
            </a:r>
            <a:br>
              <a:rPr lang="en-US" sz="1400" dirty="0"/>
            </a:br>
            <a:r>
              <a:rPr lang="en-US" sz="1400" dirty="0"/>
              <a:t>Best model refit on the full training set</a:t>
            </a:r>
            <a:br>
              <a:rPr lang="en-US" sz="1400" dirty="0"/>
            </a:br>
            <a:r>
              <a:rPr lang="en-US" sz="1400" dirty="0"/>
              <a:t>Final performance measured on the held-out test set</a:t>
            </a:r>
            <a:br>
              <a:rPr lang="en-US" sz="1400" dirty="0"/>
            </a:br>
            <a:br>
              <a:rPr lang="en-US" sz="1400" dirty="0"/>
            </a:br>
            <a:r>
              <a:rPr lang="en-US" sz="1400" b="1" dirty="0"/>
              <a:t>Reported Metrics</a:t>
            </a:r>
            <a:br>
              <a:rPr lang="en-US" sz="1400" dirty="0"/>
            </a:br>
            <a:r>
              <a:rPr lang="en-US" sz="1400" dirty="0" err="1"/>
              <a:t>MAE_log</a:t>
            </a:r>
            <a:r>
              <a:rPr lang="en-US" sz="1400" dirty="0"/>
              <a:t> and R2_log</a:t>
            </a:r>
            <a:br>
              <a:rPr lang="en-US" sz="1400" dirty="0"/>
            </a:br>
            <a:r>
              <a:rPr lang="en-US" sz="1400" dirty="0" err="1"/>
              <a:t>MAE_rent</a:t>
            </a:r>
            <a:r>
              <a:rPr lang="en-US" sz="1400" dirty="0"/>
              <a:t> and R2_rent</a:t>
            </a:r>
            <a:br>
              <a:rPr lang="en-US" sz="1400" dirty="0"/>
            </a:br>
            <a:br>
              <a:rPr lang="en-US" sz="1400" dirty="0"/>
            </a:br>
            <a:r>
              <a:rPr lang="en-US" sz="1400" b="1" dirty="0"/>
              <a:t>Why report both scales?</a:t>
            </a:r>
            <a:br>
              <a:rPr lang="en-US" sz="1400" dirty="0"/>
            </a:br>
            <a:endParaRPr kumimoji="0" lang="en-US" altLang="en-US" sz="1400" b="0" i="0" u="none" strike="noStrike" cap="none" normalizeH="0" baseline="0" dirty="0">
              <a:ln>
                <a:noFill/>
              </a:ln>
              <a:effectLst/>
              <a:latin typeface="Arial" panose="020B0604020202020204" pitchFamily="34" charset="0"/>
            </a:endParaRPr>
          </a:p>
        </p:txBody>
      </p:sp>
      <p:pic>
        <p:nvPicPr>
          <p:cNvPr id="5" name="Picture 4">
            <a:extLst>
              <a:ext uri="{FF2B5EF4-FFF2-40B4-BE49-F238E27FC236}">
                <a16:creationId xmlns:a16="http://schemas.microsoft.com/office/drawing/2014/main" id="{543494A3-F079-7EDA-98CA-7B4F4E802876}"/>
              </a:ext>
            </a:extLst>
          </p:cNvPr>
          <p:cNvPicPr>
            <a:picLocks noChangeAspect="1"/>
          </p:cNvPicPr>
          <p:nvPr/>
        </p:nvPicPr>
        <p:blipFill>
          <a:blip r:embed="rId2"/>
          <a:stretch>
            <a:fillRect/>
          </a:stretch>
        </p:blipFill>
        <p:spPr>
          <a:xfrm>
            <a:off x="6971078" y="2095937"/>
            <a:ext cx="3674003" cy="4467525"/>
          </a:xfrm>
          <a:prstGeom prst="rect">
            <a:avLst/>
          </a:prstGeom>
        </p:spPr>
      </p:pic>
      <p:sp>
        <p:nvSpPr>
          <p:cNvPr id="6" name="TextBox 5">
            <a:extLst>
              <a:ext uri="{FF2B5EF4-FFF2-40B4-BE49-F238E27FC236}">
                <a16:creationId xmlns:a16="http://schemas.microsoft.com/office/drawing/2014/main" id="{D6410196-8FF4-317A-0E40-20AD2726FE89}"/>
              </a:ext>
            </a:extLst>
          </p:cNvPr>
          <p:cNvSpPr txBox="1"/>
          <p:nvPr/>
        </p:nvSpPr>
        <p:spPr>
          <a:xfrm>
            <a:off x="6971079" y="1788160"/>
            <a:ext cx="2773345" cy="307777"/>
          </a:xfrm>
          <a:prstGeom prst="rect">
            <a:avLst/>
          </a:prstGeom>
          <a:noFill/>
        </p:spPr>
        <p:txBody>
          <a:bodyPr wrap="square" rtlCol="0">
            <a:spAutoFit/>
          </a:bodyPr>
          <a:lstStyle/>
          <a:p>
            <a:r>
              <a:rPr lang="en-US" sz="1400" b="1" dirty="0"/>
              <a:t>Sample Output</a:t>
            </a:r>
          </a:p>
        </p:txBody>
      </p:sp>
    </p:spTree>
    <p:extLst>
      <p:ext uri="{BB962C8B-B14F-4D97-AF65-F5344CB8AC3E}">
        <p14:creationId xmlns:p14="http://schemas.microsoft.com/office/powerpoint/2010/main" val="36493070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BB491E-B43D-DC5D-DD1D-E70352ECBC5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F08D842-811D-C9B3-DD6F-FB94343A49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5B746EB-5EDC-6B07-4FBE-10A5BA938C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04530A2-1B7D-D89C-9D06-DDBC2F7037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65F531F-C69D-52A7-1C53-265200245B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C5310D2-856B-F4C8-BEB4-9DFF6A1DE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D70EE6-CB22-0DA2-EE87-55C817656102}"/>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H1 Fundamentals Drive Rent</a:t>
            </a:r>
          </a:p>
        </p:txBody>
      </p:sp>
      <p:sp>
        <p:nvSpPr>
          <p:cNvPr id="4" name="Rectangle 1">
            <a:extLst>
              <a:ext uri="{FF2B5EF4-FFF2-40B4-BE49-F238E27FC236}">
                <a16:creationId xmlns:a16="http://schemas.microsoft.com/office/drawing/2014/main" id="{8D79E4B3-6C1D-880D-183E-4BD8F8C1ADE7}"/>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lang="en-US" sz="1400" b="1" dirty="0"/>
              <a:t>Features used</a:t>
            </a:r>
          </a:p>
          <a:p>
            <a:pPr marL="0" indent="0" eaLnBrk="0" fontAlgn="base" hangingPunct="0">
              <a:lnSpc>
                <a:spcPct val="120000"/>
              </a:lnSpc>
              <a:spcBef>
                <a:spcPct val="0"/>
              </a:spcBef>
              <a:spcAft>
                <a:spcPts val="600"/>
              </a:spcAft>
              <a:buNone/>
            </a:pPr>
            <a:r>
              <a:rPr lang="en-US" sz="1400" dirty="0"/>
              <a:t>Bedrooms,  Bathrooms, Parking spaces, Property type</a:t>
            </a:r>
          </a:p>
          <a:p>
            <a:pPr marL="0" indent="0" eaLnBrk="0" fontAlgn="base" hangingPunct="0">
              <a:lnSpc>
                <a:spcPct val="120000"/>
              </a:lnSpc>
              <a:spcBef>
                <a:spcPct val="0"/>
              </a:spcBef>
              <a:spcAft>
                <a:spcPts val="600"/>
              </a:spcAft>
              <a:buNone/>
            </a:pPr>
            <a:r>
              <a:rPr lang="en-US" sz="1400" b="1" dirty="0"/>
              <a:t>Purpose</a:t>
            </a:r>
          </a:p>
          <a:p>
            <a:pPr marL="0" indent="0" eaLnBrk="0" fontAlgn="base" hangingPunct="0">
              <a:lnSpc>
                <a:spcPct val="120000"/>
              </a:lnSpc>
              <a:spcBef>
                <a:spcPct val="0"/>
              </a:spcBef>
              <a:spcAft>
                <a:spcPts val="600"/>
              </a:spcAft>
              <a:buNone/>
            </a:pPr>
            <a:r>
              <a:rPr lang="en-US" sz="1400" dirty="0"/>
              <a:t>This baseline model tests how much weekly rent can be explained by the physical characteristics of a property alone, before adding geography or amenities.</a:t>
            </a:r>
          </a:p>
          <a:p>
            <a:pPr marL="0" indent="0" eaLnBrk="0" fontAlgn="base" hangingPunct="0">
              <a:lnSpc>
                <a:spcPct val="120000"/>
              </a:lnSpc>
              <a:spcBef>
                <a:spcPct val="0"/>
              </a:spcBef>
              <a:spcAft>
                <a:spcPts val="600"/>
              </a:spcAft>
              <a:buNone/>
            </a:pPr>
            <a:r>
              <a:rPr lang="en-US" sz="1400" b="1" dirty="0"/>
              <a:t>Findings</a:t>
            </a:r>
          </a:p>
          <a:p>
            <a:pPr marL="0" indent="0" eaLnBrk="0" fontAlgn="base" hangingPunct="0">
              <a:lnSpc>
                <a:spcPct val="120000"/>
              </a:lnSpc>
              <a:spcBef>
                <a:spcPct val="0"/>
              </a:spcBef>
              <a:spcAft>
                <a:spcPts val="600"/>
              </a:spcAft>
              <a:buNone/>
            </a:pPr>
            <a:r>
              <a:rPr lang="en-US" sz="1400" dirty="0"/>
              <a:t>• Ridge and Lasso performed almost identically</a:t>
            </a:r>
            <a:br>
              <a:rPr lang="en-US" sz="1400" dirty="0"/>
            </a:br>
            <a:r>
              <a:rPr lang="en-US" sz="1400" dirty="0"/>
              <a:t>• Ridge achieved R2_log = 0.372 and </a:t>
            </a:r>
            <a:r>
              <a:rPr lang="en-US" sz="1400" dirty="0" err="1"/>
              <a:t>MAE_rent</a:t>
            </a:r>
            <a:r>
              <a:rPr lang="en-US" sz="1400" dirty="0"/>
              <a:t> = 162.46 AUD/week</a:t>
            </a:r>
            <a:br>
              <a:rPr lang="en-US" sz="1400" dirty="0"/>
            </a:br>
            <a:r>
              <a:rPr lang="en-US" sz="1400" dirty="0"/>
              <a:t>• Fundamentals explain a meaningful but limited share of rent variation</a:t>
            </a:r>
          </a:p>
          <a:p>
            <a:pPr marL="0" indent="0" eaLnBrk="0" fontAlgn="base" hangingPunct="0">
              <a:lnSpc>
                <a:spcPct val="120000"/>
              </a:lnSpc>
              <a:spcBef>
                <a:spcPct val="0"/>
              </a:spcBef>
              <a:spcAft>
                <a:spcPts val="600"/>
              </a:spcAft>
              <a:buNone/>
            </a:pPr>
            <a:r>
              <a:rPr lang="en-US" sz="1400" b="1" dirty="0"/>
              <a:t>Interpretation</a:t>
            </a:r>
          </a:p>
          <a:p>
            <a:pPr marL="0" indent="0" eaLnBrk="0" fontAlgn="base" hangingPunct="0">
              <a:lnSpc>
                <a:spcPct val="120000"/>
              </a:lnSpc>
              <a:spcBef>
                <a:spcPct val="0"/>
              </a:spcBef>
              <a:spcAft>
                <a:spcPts val="600"/>
              </a:spcAft>
              <a:buNone/>
            </a:pPr>
            <a:r>
              <a:rPr lang="en-US" sz="1400" dirty="0"/>
              <a:t>The scatter plot shows clear regression toward the mean. Lower-rent listings are often predicted too high, while higher-rent listings are often predicted too low. This suggests that important sources of variation are still missing from the model.</a:t>
            </a:r>
          </a:p>
          <a:p>
            <a:pPr marL="0" indent="0" eaLnBrk="0" fontAlgn="base" hangingPunct="0">
              <a:lnSpc>
                <a:spcPct val="120000"/>
              </a:lnSpc>
              <a:spcBef>
                <a:spcPct val="0"/>
              </a:spcBef>
              <a:spcAft>
                <a:spcPts val="600"/>
              </a:spcAft>
              <a:buNone/>
            </a:pPr>
            <a:r>
              <a:rPr lang="en-US" sz="1400" b="1" dirty="0"/>
              <a:t>Property fundamentals matter, but they are not sufficient on their own. </a:t>
            </a:r>
            <a:endParaRPr kumimoji="0" lang="en-US" altLang="en-US" sz="1400" b="1" i="0" u="none" strike="noStrike" cap="none" normalizeH="0" baseline="0" dirty="0">
              <a:ln>
                <a:noFill/>
              </a:ln>
              <a:effectLst/>
              <a:latin typeface="Arial" panose="020B0604020202020204" pitchFamily="34" charset="0"/>
            </a:endParaRPr>
          </a:p>
        </p:txBody>
      </p:sp>
      <p:pic>
        <p:nvPicPr>
          <p:cNvPr id="9" name="Picture 8">
            <a:extLst>
              <a:ext uri="{FF2B5EF4-FFF2-40B4-BE49-F238E27FC236}">
                <a16:creationId xmlns:a16="http://schemas.microsoft.com/office/drawing/2014/main" id="{71EC3588-B9E2-6FAF-7564-7CAD997BECEB}"/>
              </a:ext>
            </a:extLst>
          </p:cNvPr>
          <p:cNvPicPr>
            <a:picLocks noChangeAspect="1"/>
          </p:cNvPicPr>
          <p:nvPr/>
        </p:nvPicPr>
        <p:blipFill>
          <a:blip r:embed="rId2"/>
          <a:stretch>
            <a:fillRect/>
          </a:stretch>
        </p:blipFill>
        <p:spPr>
          <a:xfrm>
            <a:off x="7028769" y="3024481"/>
            <a:ext cx="4538080" cy="3538981"/>
          </a:xfrm>
          <a:prstGeom prst="rect">
            <a:avLst/>
          </a:prstGeom>
        </p:spPr>
      </p:pic>
      <p:pic>
        <p:nvPicPr>
          <p:cNvPr id="11" name="Picture 10">
            <a:extLst>
              <a:ext uri="{FF2B5EF4-FFF2-40B4-BE49-F238E27FC236}">
                <a16:creationId xmlns:a16="http://schemas.microsoft.com/office/drawing/2014/main" id="{E0C961F7-567F-8A86-F073-712CF02DA650}"/>
              </a:ext>
            </a:extLst>
          </p:cNvPr>
          <p:cNvPicPr>
            <a:picLocks noChangeAspect="1"/>
          </p:cNvPicPr>
          <p:nvPr/>
        </p:nvPicPr>
        <p:blipFill>
          <a:blip r:embed="rId3"/>
          <a:stretch>
            <a:fillRect/>
          </a:stretch>
        </p:blipFill>
        <p:spPr>
          <a:xfrm>
            <a:off x="7203153" y="1788160"/>
            <a:ext cx="4420217" cy="1105054"/>
          </a:xfrm>
          <a:prstGeom prst="rect">
            <a:avLst/>
          </a:prstGeom>
        </p:spPr>
      </p:pic>
    </p:spTree>
    <p:extLst>
      <p:ext uri="{BB962C8B-B14F-4D97-AF65-F5344CB8AC3E}">
        <p14:creationId xmlns:p14="http://schemas.microsoft.com/office/powerpoint/2010/main" val="15936594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28C8DE-3A3A-5FA3-BFE5-4F5E29BD2B8D}"/>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F7F1859-8B82-D1DD-ED5C-BF88BD1344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BC03248-294C-E50D-71CD-E69DC05D4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6C52DFC-1E8E-0D92-6E8C-CCC7FA6044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E32B402-F12D-F9E4-3574-A317EE4CE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D9A231E-DC95-9234-B369-B65699E999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95690E-E8F6-6410-FA59-739C42DC7D59}"/>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H2 Impact of Geography</a:t>
            </a:r>
          </a:p>
        </p:txBody>
      </p:sp>
      <p:sp>
        <p:nvSpPr>
          <p:cNvPr id="4" name="Rectangle 1">
            <a:extLst>
              <a:ext uri="{FF2B5EF4-FFF2-40B4-BE49-F238E27FC236}">
                <a16:creationId xmlns:a16="http://schemas.microsoft.com/office/drawing/2014/main" id="{35B003BF-F6B6-D4E4-29DA-7849ECB87141}"/>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lang="en-US" sz="1400" b="1" dirty="0"/>
              <a:t>Features used: </a:t>
            </a:r>
            <a:r>
              <a:rPr lang="en-US" sz="1400" dirty="0"/>
              <a:t>H1 +  state, postcode</a:t>
            </a:r>
          </a:p>
          <a:p>
            <a:pPr marL="0" indent="0" eaLnBrk="0" fontAlgn="base" hangingPunct="0">
              <a:lnSpc>
                <a:spcPct val="120000"/>
              </a:lnSpc>
              <a:spcBef>
                <a:spcPct val="0"/>
              </a:spcBef>
              <a:spcAft>
                <a:spcPts val="600"/>
              </a:spcAft>
              <a:buNone/>
            </a:pPr>
            <a:r>
              <a:rPr lang="en-US" sz="1400" b="1" dirty="0"/>
              <a:t>Purpose</a:t>
            </a:r>
          </a:p>
          <a:p>
            <a:pPr marL="0" indent="0" eaLnBrk="0" fontAlgn="base" hangingPunct="0">
              <a:lnSpc>
                <a:spcPct val="120000"/>
              </a:lnSpc>
              <a:spcBef>
                <a:spcPct val="0"/>
              </a:spcBef>
              <a:spcAft>
                <a:spcPts val="600"/>
              </a:spcAft>
              <a:buNone/>
            </a:pPr>
            <a:r>
              <a:rPr lang="en-US" sz="1400" dirty="0"/>
              <a:t>H2 tests how much predictive signal is added when geographic information is included alongside property fundamentals.</a:t>
            </a:r>
          </a:p>
          <a:p>
            <a:pPr marL="0" indent="0" eaLnBrk="0" fontAlgn="base" hangingPunct="0">
              <a:lnSpc>
                <a:spcPct val="120000"/>
              </a:lnSpc>
              <a:spcBef>
                <a:spcPct val="0"/>
              </a:spcBef>
              <a:spcAft>
                <a:spcPts val="600"/>
              </a:spcAft>
              <a:buNone/>
            </a:pPr>
            <a:r>
              <a:rPr lang="en-US" sz="1400" b="1" dirty="0"/>
              <a:t>Findings</a:t>
            </a:r>
          </a:p>
          <a:p>
            <a:pPr marL="0" indent="0" eaLnBrk="0" fontAlgn="base" hangingPunct="0">
              <a:lnSpc>
                <a:spcPct val="120000"/>
              </a:lnSpc>
              <a:spcBef>
                <a:spcPct val="0"/>
              </a:spcBef>
              <a:spcAft>
                <a:spcPts val="600"/>
              </a:spcAft>
              <a:buNone/>
            </a:pPr>
            <a:r>
              <a:rPr lang="en-US" sz="1400" b="1" dirty="0"/>
              <a:t>• </a:t>
            </a:r>
            <a:r>
              <a:rPr lang="en-US" sz="1400" dirty="0"/>
              <a:t>Geography produced the largest performance gain in the project</a:t>
            </a:r>
          </a:p>
          <a:p>
            <a:pPr marL="0" indent="0" eaLnBrk="0" fontAlgn="base" hangingPunct="0">
              <a:lnSpc>
                <a:spcPct val="120000"/>
              </a:lnSpc>
              <a:spcBef>
                <a:spcPct val="0"/>
              </a:spcBef>
              <a:spcAft>
                <a:spcPts val="600"/>
              </a:spcAft>
              <a:buNone/>
            </a:pPr>
            <a:r>
              <a:rPr lang="en-US" sz="1400" dirty="0"/>
              <a:t>• Ridge improved from R2_log = 0.372 in H1 to R2_log = 0.665 in H2</a:t>
            </a:r>
          </a:p>
          <a:p>
            <a:pPr marL="0" indent="0" eaLnBrk="0" fontAlgn="base" hangingPunct="0">
              <a:lnSpc>
                <a:spcPct val="120000"/>
              </a:lnSpc>
              <a:spcBef>
                <a:spcPct val="0"/>
              </a:spcBef>
              <a:spcAft>
                <a:spcPts val="600"/>
              </a:spcAft>
              <a:buNone/>
            </a:pPr>
            <a:r>
              <a:rPr lang="en-US" sz="1400" dirty="0"/>
              <a:t>• Ridge achieved </a:t>
            </a:r>
            <a:r>
              <a:rPr lang="en-US" sz="1400" dirty="0" err="1"/>
              <a:t>MAE_rent</a:t>
            </a:r>
            <a:r>
              <a:rPr lang="en-US" sz="1400" dirty="0"/>
              <a:t> = 115.55 AUD/week</a:t>
            </a:r>
          </a:p>
          <a:p>
            <a:pPr marL="0" indent="0" eaLnBrk="0" fontAlgn="base" hangingPunct="0">
              <a:lnSpc>
                <a:spcPct val="120000"/>
              </a:lnSpc>
              <a:spcBef>
                <a:spcPct val="0"/>
              </a:spcBef>
              <a:spcAft>
                <a:spcPts val="600"/>
              </a:spcAft>
              <a:buNone/>
            </a:pPr>
            <a:r>
              <a:rPr lang="en-US" sz="1400" dirty="0"/>
              <a:t>• Ridge clearly outperformed Lasso once geographic variables were added</a:t>
            </a:r>
          </a:p>
          <a:p>
            <a:pPr marL="0" indent="0" eaLnBrk="0" fontAlgn="base" hangingPunct="0">
              <a:lnSpc>
                <a:spcPct val="120000"/>
              </a:lnSpc>
              <a:spcBef>
                <a:spcPct val="0"/>
              </a:spcBef>
              <a:spcAft>
                <a:spcPts val="600"/>
              </a:spcAft>
              <a:buNone/>
            </a:pPr>
            <a:r>
              <a:rPr lang="en-US" sz="1400" b="1" dirty="0"/>
              <a:t>Interpretation</a:t>
            </a:r>
          </a:p>
          <a:p>
            <a:pPr marL="0" indent="0" eaLnBrk="0" fontAlgn="base" hangingPunct="0">
              <a:lnSpc>
                <a:spcPct val="120000"/>
              </a:lnSpc>
              <a:spcBef>
                <a:spcPct val="0"/>
              </a:spcBef>
              <a:spcAft>
                <a:spcPts val="600"/>
              </a:spcAft>
              <a:buNone/>
            </a:pPr>
            <a:r>
              <a:rPr lang="en-US" sz="1400" dirty="0"/>
              <a:t>The scatter plot shows much tighter alignment with the diagonal than in H1, indicating a major improvement in prediction accuracy. The model still underpredicts some of the highest-rent listings, but it captures a much larger share of rental variation once location is included.</a:t>
            </a:r>
          </a:p>
          <a:p>
            <a:pPr marL="0" indent="0" eaLnBrk="0" fontAlgn="base" hangingPunct="0">
              <a:lnSpc>
                <a:spcPct val="120000"/>
              </a:lnSpc>
              <a:spcBef>
                <a:spcPct val="0"/>
              </a:spcBef>
              <a:spcAft>
                <a:spcPts val="600"/>
              </a:spcAft>
              <a:buNone/>
            </a:pPr>
            <a:r>
              <a:rPr lang="en-US" sz="1400" b="1" dirty="0"/>
              <a:t>Geography adds major explanatory power beyond property fundamentals.</a:t>
            </a:r>
            <a:endParaRPr kumimoji="0" lang="en-US" altLang="en-US" sz="1400" b="1" i="0" u="none" strike="noStrike" cap="none" normalizeH="0" baseline="0" dirty="0">
              <a:ln>
                <a:noFill/>
              </a:ln>
              <a:effectLst/>
              <a:latin typeface="Arial" panose="020B0604020202020204" pitchFamily="34" charset="0"/>
            </a:endParaRPr>
          </a:p>
        </p:txBody>
      </p:sp>
      <p:pic>
        <p:nvPicPr>
          <p:cNvPr id="6" name="Picture 5">
            <a:extLst>
              <a:ext uri="{FF2B5EF4-FFF2-40B4-BE49-F238E27FC236}">
                <a16:creationId xmlns:a16="http://schemas.microsoft.com/office/drawing/2014/main" id="{20036F4C-D703-BF07-2226-9F3E1D92A72B}"/>
              </a:ext>
            </a:extLst>
          </p:cNvPr>
          <p:cNvPicPr>
            <a:picLocks noChangeAspect="1"/>
          </p:cNvPicPr>
          <p:nvPr/>
        </p:nvPicPr>
        <p:blipFill>
          <a:blip r:embed="rId2"/>
          <a:stretch>
            <a:fillRect/>
          </a:stretch>
        </p:blipFill>
        <p:spPr>
          <a:xfrm>
            <a:off x="7382569" y="1787880"/>
            <a:ext cx="4175850" cy="1043962"/>
          </a:xfrm>
          <a:prstGeom prst="rect">
            <a:avLst/>
          </a:prstGeom>
        </p:spPr>
      </p:pic>
      <p:pic>
        <p:nvPicPr>
          <p:cNvPr id="8" name="Picture 7">
            <a:extLst>
              <a:ext uri="{FF2B5EF4-FFF2-40B4-BE49-F238E27FC236}">
                <a16:creationId xmlns:a16="http://schemas.microsoft.com/office/drawing/2014/main" id="{1F5F09F5-1003-2FBF-9FAE-C05A4A82D4D2}"/>
              </a:ext>
            </a:extLst>
          </p:cNvPr>
          <p:cNvPicPr>
            <a:picLocks noChangeAspect="1"/>
          </p:cNvPicPr>
          <p:nvPr/>
        </p:nvPicPr>
        <p:blipFill>
          <a:blip r:embed="rId3"/>
          <a:stretch>
            <a:fillRect/>
          </a:stretch>
        </p:blipFill>
        <p:spPr>
          <a:xfrm>
            <a:off x="7035080" y="3018360"/>
            <a:ext cx="4870829" cy="3653122"/>
          </a:xfrm>
          <a:prstGeom prst="rect">
            <a:avLst/>
          </a:prstGeom>
        </p:spPr>
      </p:pic>
    </p:spTree>
    <p:extLst>
      <p:ext uri="{BB962C8B-B14F-4D97-AF65-F5344CB8AC3E}">
        <p14:creationId xmlns:p14="http://schemas.microsoft.com/office/powerpoint/2010/main" val="3872264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553CFD-CCBB-B83B-E16B-9A8835DCFFB3}"/>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7D9AF79-39B6-DC52-A101-E713B16586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BB90C883-B811-3D48-17E0-525B2864F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252BD547-D8D7-DA9C-3DFF-CF9D8A7EB7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DF4E902-387E-98AC-96BB-35010306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93F140E-BE58-B2A9-96CC-C9874F3AB9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707151-0689-C62D-D2D0-A3DB0959F1B0}"/>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H3 Amenities Add Signal</a:t>
            </a:r>
          </a:p>
        </p:txBody>
      </p:sp>
      <p:sp>
        <p:nvSpPr>
          <p:cNvPr id="4" name="Rectangle 1">
            <a:extLst>
              <a:ext uri="{FF2B5EF4-FFF2-40B4-BE49-F238E27FC236}">
                <a16:creationId xmlns:a16="http://schemas.microsoft.com/office/drawing/2014/main" id="{7E4E9868-C997-8098-2888-7733E88EE3FF}"/>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lang="en-US" sz="1400" b="1" dirty="0"/>
              <a:t>Features used</a:t>
            </a:r>
            <a:br>
              <a:rPr lang="en-US" sz="1400" dirty="0"/>
            </a:br>
            <a:r>
              <a:rPr lang="en-US" sz="1400" dirty="0"/>
              <a:t>H2 + amenity indicator variables</a:t>
            </a:r>
            <a:br>
              <a:rPr lang="en-US" sz="1400" dirty="0"/>
            </a:br>
            <a:r>
              <a:rPr lang="en-US" sz="1400" b="1" dirty="0"/>
              <a:t>Purpose</a:t>
            </a:r>
            <a:br>
              <a:rPr lang="en-US" sz="1400" dirty="0"/>
            </a:br>
            <a:r>
              <a:rPr lang="en-US" sz="1400" dirty="0"/>
              <a:t>H3 tests whether individual amenities improve prediction after controlling for property fundamentals and geography.</a:t>
            </a:r>
            <a:br>
              <a:rPr lang="en-US" sz="1400" dirty="0"/>
            </a:br>
            <a:r>
              <a:rPr lang="en-US" sz="1400" b="1" dirty="0"/>
              <a:t>Findings</a:t>
            </a:r>
            <a:br>
              <a:rPr lang="en-US" sz="1400" dirty="0"/>
            </a:br>
            <a:r>
              <a:rPr lang="en-US" sz="1400" dirty="0"/>
              <a:t>• Amenities produced a modest but consistent improvement over H2</a:t>
            </a:r>
            <a:br>
              <a:rPr lang="en-US" sz="1400" dirty="0"/>
            </a:br>
            <a:r>
              <a:rPr lang="en-US" sz="1400" dirty="0"/>
              <a:t>• Ridge improved from R2_log = 0.665 in H2 to R2_log = 0.685 in H3</a:t>
            </a:r>
            <a:br>
              <a:rPr lang="en-US" sz="1400" dirty="0"/>
            </a:br>
            <a:r>
              <a:rPr lang="en-US" sz="1400" dirty="0"/>
              <a:t>• Ridge achieved </a:t>
            </a:r>
            <a:r>
              <a:rPr lang="en-US" sz="1400" dirty="0" err="1"/>
              <a:t>MAE_rent</a:t>
            </a:r>
            <a:r>
              <a:rPr lang="en-US" sz="1400" dirty="0"/>
              <a:t> = 111.63 AUD/week</a:t>
            </a:r>
            <a:br>
              <a:rPr lang="en-US" sz="1400" dirty="0"/>
            </a:br>
            <a:r>
              <a:rPr lang="en-US" sz="1400" dirty="0"/>
              <a:t>• Ridge continued to outperform Lasso, indicating that amenity signal was distributed across many features</a:t>
            </a:r>
            <a:br>
              <a:rPr lang="en-US" sz="1400" dirty="0"/>
            </a:br>
            <a:r>
              <a:rPr lang="en-US" sz="1400" b="1" dirty="0"/>
              <a:t>Interpretation</a:t>
            </a:r>
            <a:br>
              <a:rPr lang="en-US" sz="1400" dirty="0"/>
            </a:br>
            <a:r>
              <a:rPr lang="en-US" sz="1400" dirty="0"/>
              <a:t>The scatter plot shows only a slight tightening around the diagonal relative to H2, which is consistent with the smaller performance gain. Amenities improve prediction accuracy, but the effect is much smaller than the improvement produced by geography.</a:t>
            </a:r>
            <a:br>
              <a:rPr lang="en-US" sz="1400" dirty="0"/>
            </a:br>
            <a:r>
              <a:rPr lang="en-US" sz="1400" b="1" dirty="0"/>
              <a:t>Amenities add useful incremental signal, but location remains the primary driver of rent.</a:t>
            </a:r>
            <a:endParaRPr kumimoji="0" lang="en-US" altLang="en-US" sz="1400" b="1" i="0" u="none" strike="noStrike" cap="none" normalizeH="0" baseline="0" dirty="0">
              <a:ln>
                <a:noFill/>
              </a:ln>
              <a:effectLst/>
              <a:latin typeface="Arial" panose="020B0604020202020204" pitchFamily="34" charset="0"/>
            </a:endParaRPr>
          </a:p>
        </p:txBody>
      </p:sp>
      <p:pic>
        <p:nvPicPr>
          <p:cNvPr id="5" name="Picture 4">
            <a:extLst>
              <a:ext uri="{FF2B5EF4-FFF2-40B4-BE49-F238E27FC236}">
                <a16:creationId xmlns:a16="http://schemas.microsoft.com/office/drawing/2014/main" id="{2695FAC3-7104-852F-088A-586491BBDB87}"/>
              </a:ext>
            </a:extLst>
          </p:cNvPr>
          <p:cNvPicPr>
            <a:picLocks noChangeAspect="1"/>
          </p:cNvPicPr>
          <p:nvPr/>
        </p:nvPicPr>
        <p:blipFill>
          <a:blip r:embed="rId2"/>
          <a:stretch>
            <a:fillRect/>
          </a:stretch>
        </p:blipFill>
        <p:spPr>
          <a:xfrm>
            <a:off x="7288964" y="1788160"/>
            <a:ext cx="4363059" cy="1066949"/>
          </a:xfrm>
          <a:prstGeom prst="rect">
            <a:avLst/>
          </a:prstGeom>
        </p:spPr>
      </p:pic>
      <p:pic>
        <p:nvPicPr>
          <p:cNvPr id="9" name="Picture 8">
            <a:extLst>
              <a:ext uri="{FF2B5EF4-FFF2-40B4-BE49-F238E27FC236}">
                <a16:creationId xmlns:a16="http://schemas.microsoft.com/office/drawing/2014/main" id="{89D41094-CF23-9A8F-F560-5C2480F7D01C}"/>
              </a:ext>
            </a:extLst>
          </p:cNvPr>
          <p:cNvPicPr>
            <a:picLocks noChangeAspect="1"/>
          </p:cNvPicPr>
          <p:nvPr/>
        </p:nvPicPr>
        <p:blipFill>
          <a:blip r:embed="rId3"/>
          <a:stretch>
            <a:fillRect/>
          </a:stretch>
        </p:blipFill>
        <p:spPr>
          <a:xfrm>
            <a:off x="6956847" y="2946135"/>
            <a:ext cx="5027292" cy="3764596"/>
          </a:xfrm>
          <a:prstGeom prst="rect">
            <a:avLst/>
          </a:prstGeom>
        </p:spPr>
      </p:pic>
    </p:spTree>
    <p:extLst>
      <p:ext uri="{BB962C8B-B14F-4D97-AF65-F5344CB8AC3E}">
        <p14:creationId xmlns:p14="http://schemas.microsoft.com/office/powerpoint/2010/main" val="17012456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26DA08-243F-4C5F-A7E3-F4B91DAA0306}"/>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C78944B-3899-A540-CCE0-47530AE00D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FD8DD6E7-04DA-B563-E14B-A56DE4BCB3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6A6CA408-78EC-DCC3-DC4D-740F637AC1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C1F55F16-280C-6EF6-BEF4-14D839D01A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16D2E1A0-D1CB-774A-C931-9B81A75D6E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C47BD2-1050-2DAD-2F28-103F2488CA2D}"/>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H4 Individual Amenities are Quantifiable</a:t>
            </a:r>
          </a:p>
        </p:txBody>
      </p:sp>
      <p:sp>
        <p:nvSpPr>
          <p:cNvPr id="4" name="Rectangle 1">
            <a:extLst>
              <a:ext uri="{FF2B5EF4-FFF2-40B4-BE49-F238E27FC236}">
                <a16:creationId xmlns:a16="http://schemas.microsoft.com/office/drawing/2014/main" id="{3472A619-BB3E-13F4-F9B4-959D3D64FCEA}"/>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lang="en-US" sz="1400" b="1" dirty="0"/>
              <a:t>H3, interpreted through the H3 Lasso model coefficients</a:t>
            </a:r>
            <a:br>
              <a:rPr lang="en-US" sz="1400" dirty="0"/>
            </a:br>
            <a:r>
              <a:rPr lang="en-US" sz="1400" b="1" dirty="0"/>
              <a:t>Purpose</a:t>
            </a:r>
            <a:br>
              <a:rPr lang="en-US" sz="1400" dirty="0"/>
            </a:br>
            <a:r>
              <a:rPr lang="en-US" sz="1400" dirty="0"/>
              <a:t>H4 tests which individual amenities retain distinct associations with rent after controlling for property fundamentals and geography.</a:t>
            </a:r>
            <a:br>
              <a:rPr lang="en-US" sz="1400" dirty="0"/>
            </a:br>
            <a:r>
              <a:rPr lang="en-US" sz="1400" b="1" dirty="0"/>
              <a:t>Findings</a:t>
            </a:r>
            <a:br>
              <a:rPr lang="en-US" sz="1400" dirty="0"/>
            </a:br>
            <a:r>
              <a:rPr lang="en-US" sz="1400" dirty="0"/>
              <a:t>• Lasso retained 28 amenities with non-zero coefficients and shrank 54 amenities to zero</a:t>
            </a:r>
            <a:br>
              <a:rPr lang="en-US" sz="1400" dirty="0"/>
            </a:br>
            <a:r>
              <a:rPr lang="en-US" sz="1400" dirty="0"/>
              <a:t>• The strongest positive associations were premium and lifestyle features such as inground swimming pools, open fireplaces, balconies, decks, and studies</a:t>
            </a:r>
            <a:br>
              <a:rPr lang="en-US" sz="1400" dirty="0"/>
            </a:br>
            <a:r>
              <a:rPr lang="en-US" sz="1400" dirty="0"/>
              <a:t>• A smaller group of amenities showed negative associations, including fully fenced, evaporative cooling, and split-system air conditioning</a:t>
            </a:r>
            <a:br>
              <a:rPr lang="en-US" sz="1400" dirty="0"/>
            </a:br>
            <a:r>
              <a:rPr lang="en-US" sz="1400" b="1" dirty="0"/>
              <a:t>Interpretation</a:t>
            </a:r>
            <a:br>
              <a:rPr lang="en-US" sz="1400" dirty="0"/>
            </a:br>
            <a:r>
              <a:rPr lang="en-US" sz="1400" dirty="0"/>
              <a:t>The retained coefficients represent conditional associations within the full model. Positive coefficients indicate amenities associated with higher predicted rent, while negative coefficients indicate amenities associated with lower predicted rent, holding the other included features fixed.</a:t>
            </a:r>
            <a:br>
              <a:rPr lang="en-US" sz="1400" dirty="0"/>
            </a:br>
            <a:r>
              <a:rPr lang="en-US" sz="1400" b="1" dirty="0"/>
              <a:t>Many amenities appear in listings, but only a limited subset adds distinct predictive signal once fundamentals and geography are already included</a:t>
            </a:r>
            <a:endParaRPr kumimoji="0" lang="en-US" altLang="en-US" sz="1400" b="1" i="0" u="none" strike="noStrike" cap="none" normalizeH="0" baseline="0" dirty="0">
              <a:ln>
                <a:noFill/>
              </a:ln>
              <a:effectLst/>
              <a:latin typeface="Arial" panose="020B0604020202020204" pitchFamily="34" charset="0"/>
            </a:endParaRPr>
          </a:p>
        </p:txBody>
      </p:sp>
      <p:pic>
        <p:nvPicPr>
          <p:cNvPr id="8" name="Picture 7">
            <a:extLst>
              <a:ext uri="{FF2B5EF4-FFF2-40B4-BE49-F238E27FC236}">
                <a16:creationId xmlns:a16="http://schemas.microsoft.com/office/drawing/2014/main" id="{E0644F25-F34A-C998-77BC-D42F9DFED903}"/>
              </a:ext>
            </a:extLst>
          </p:cNvPr>
          <p:cNvPicPr>
            <a:picLocks noChangeAspect="1"/>
          </p:cNvPicPr>
          <p:nvPr/>
        </p:nvPicPr>
        <p:blipFill>
          <a:blip r:embed="rId3"/>
          <a:stretch>
            <a:fillRect/>
          </a:stretch>
        </p:blipFill>
        <p:spPr>
          <a:xfrm>
            <a:off x="6964744" y="1788160"/>
            <a:ext cx="5053084" cy="4634980"/>
          </a:xfrm>
          <a:prstGeom prst="rect">
            <a:avLst/>
          </a:prstGeom>
        </p:spPr>
      </p:pic>
    </p:spTree>
    <p:extLst>
      <p:ext uri="{BB962C8B-B14F-4D97-AF65-F5344CB8AC3E}">
        <p14:creationId xmlns:p14="http://schemas.microsoft.com/office/powerpoint/2010/main" val="1343900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2E8B51-F279-CCAE-7FE0-A01F258F5F97}"/>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EF2786EA-9C10-F6AF-D44A-29ECC3259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40B7567-ABD2-3730-330E-34379BFF3A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FE41A759-87B3-BC2C-E84D-04EFCCC49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C2E6E8D0-101F-C9DA-E765-DCC2EB1116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6517CA3-9C38-207A-A9E9-C0B6D63DB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CC9678-7834-CCC3-B2CD-A55D51D013A4}"/>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Amenity Richness vs Specific Amenity</a:t>
            </a:r>
          </a:p>
        </p:txBody>
      </p:sp>
      <p:sp>
        <p:nvSpPr>
          <p:cNvPr id="4" name="Rectangle 1">
            <a:extLst>
              <a:ext uri="{FF2B5EF4-FFF2-40B4-BE49-F238E27FC236}">
                <a16:creationId xmlns:a16="http://schemas.microsoft.com/office/drawing/2014/main" id="{3F655421-9491-4779-7AE1-98D26B99D91B}"/>
              </a:ext>
            </a:extLst>
          </p:cNvPr>
          <p:cNvSpPr>
            <a:spLocks noGrp="1" noChangeArrowheads="1"/>
          </p:cNvSpPr>
          <p:nvPr>
            <p:ph idx="1"/>
          </p:nvPr>
        </p:nvSpPr>
        <p:spPr bwMode="auto">
          <a:xfrm>
            <a:off x="625150" y="1788160"/>
            <a:ext cx="6257971"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lang="en-US" sz="1400" b="1" dirty="0"/>
              <a:t>Features used</a:t>
            </a:r>
            <a:br>
              <a:rPr lang="en-US" sz="1400" dirty="0"/>
            </a:br>
            <a:r>
              <a:rPr lang="en-US" sz="1400" dirty="0"/>
              <a:t>H3 feature set + </a:t>
            </a:r>
            <a:r>
              <a:rPr lang="en-US" sz="1400" dirty="0" err="1"/>
              <a:t>amenity_count</a:t>
            </a:r>
            <a:br>
              <a:rPr lang="en-US" sz="1400" dirty="0"/>
            </a:br>
            <a:r>
              <a:rPr lang="en-US" sz="1400" b="1" dirty="0"/>
              <a:t>Purpose</a:t>
            </a:r>
            <a:br>
              <a:rPr lang="en-US" sz="1400" dirty="0"/>
            </a:br>
            <a:r>
              <a:rPr lang="en-US" sz="1400" dirty="0"/>
              <a:t>H5 tests whether part of the amenity signal reflects overall feature richness rather than the value of specific amenities alone.</a:t>
            </a:r>
            <a:br>
              <a:rPr lang="en-US" sz="1400" dirty="0"/>
            </a:br>
            <a:r>
              <a:rPr lang="en-US" sz="1400" b="1" dirty="0"/>
              <a:t>Findings</a:t>
            </a:r>
            <a:br>
              <a:rPr lang="en-US" sz="1400" dirty="0"/>
            </a:br>
            <a:r>
              <a:rPr lang="en-US" sz="1400" dirty="0"/>
              <a:t>• H5 Ridge was the best-performing model in the notebook</a:t>
            </a:r>
            <a:br>
              <a:rPr lang="en-US" sz="1400" dirty="0"/>
            </a:br>
            <a:r>
              <a:rPr lang="en-US" sz="1400" dirty="0"/>
              <a:t>•  Ridge: R2_log = 0.685, R2_rent = 0.542, and </a:t>
            </a:r>
            <a:r>
              <a:rPr lang="en-US" sz="1400" dirty="0" err="1"/>
              <a:t>MAE_rent</a:t>
            </a:r>
            <a:r>
              <a:rPr lang="en-US" sz="1400" dirty="0"/>
              <a:t> = 111.56 AUD/week</a:t>
            </a:r>
            <a:br>
              <a:rPr lang="en-US" sz="1400" dirty="0"/>
            </a:br>
            <a:r>
              <a:rPr lang="en-US" sz="1400" dirty="0"/>
              <a:t>• </a:t>
            </a:r>
            <a:r>
              <a:rPr lang="en-US" sz="1400" dirty="0" err="1"/>
              <a:t>amenity_count</a:t>
            </a:r>
            <a:r>
              <a:rPr lang="en-US" sz="1400" dirty="0"/>
              <a:t> had a coefficient of 0.0172, which corresponds to about a +1.74% increase in predicted rent for each additional listed amenity</a:t>
            </a:r>
            <a:br>
              <a:rPr lang="en-US" sz="1400" dirty="0"/>
            </a:br>
            <a:r>
              <a:rPr lang="en-US" sz="1400" b="1" dirty="0"/>
              <a:t>Interpretation</a:t>
            </a:r>
            <a:br>
              <a:rPr lang="en-US" sz="1400" dirty="0"/>
            </a:br>
            <a:r>
              <a:rPr lang="en-US" sz="1400" dirty="0"/>
              <a:t>Adding </a:t>
            </a:r>
            <a:r>
              <a:rPr lang="en-US" sz="1400" dirty="0" err="1"/>
              <a:t>amenity_count</a:t>
            </a:r>
            <a:r>
              <a:rPr lang="en-US" sz="1400" dirty="0"/>
              <a:t> separates two different effects: amenity quantity and amenity composition. The count term captures the general premium for feature-rich listings, while the remaining individual amenity coefficients show whether a specific feature is worth more or less than a typical extra amenity.</a:t>
            </a:r>
            <a:br>
              <a:rPr lang="en-US" sz="1400" dirty="0"/>
            </a:br>
            <a:r>
              <a:rPr lang="en-US" sz="1400" b="1" dirty="0"/>
              <a:t>H5 is the strongest final model because overall amenity richness matters, but specific premium/discount amenities still retain distinct signal.</a:t>
            </a:r>
            <a:endParaRPr kumimoji="0" lang="en-US" altLang="en-US" sz="1400" b="1" i="0" u="none" strike="noStrike" cap="none" normalizeH="0" baseline="0" dirty="0">
              <a:ln>
                <a:noFill/>
              </a:ln>
              <a:effectLst/>
              <a:latin typeface="Arial" panose="020B0604020202020204" pitchFamily="34" charset="0"/>
            </a:endParaRPr>
          </a:p>
        </p:txBody>
      </p:sp>
      <p:pic>
        <p:nvPicPr>
          <p:cNvPr id="5" name="Picture 4">
            <a:extLst>
              <a:ext uri="{FF2B5EF4-FFF2-40B4-BE49-F238E27FC236}">
                <a16:creationId xmlns:a16="http://schemas.microsoft.com/office/drawing/2014/main" id="{5D6047A7-167A-AFEC-C9DD-063CD83D1050}"/>
              </a:ext>
            </a:extLst>
          </p:cNvPr>
          <p:cNvPicPr>
            <a:picLocks noChangeAspect="1"/>
          </p:cNvPicPr>
          <p:nvPr/>
        </p:nvPicPr>
        <p:blipFill>
          <a:blip r:embed="rId3"/>
          <a:stretch>
            <a:fillRect/>
          </a:stretch>
        </p:blipFill>
        <p:spPr>
          <a:xfrm>
            <a:off x="7373026" y="1788160"/>
            <a:ext cx="4410691" cy="1114581"/>
          </a:xfrm>
          <a:prstGeom prst="rect">
            <a:avLst/>
          </a:prstGeom>
        </p:spPr>
      </p:pic>
      <p:pic>
        <p:nvPicPr>
          <p:cNvPr id="7" name="Picture 6">
            <a:extLst>
              <a:ext uri="{FF2B5EF4-FFF2-40B4-BE49-F238E27FC236}">
                <a16:creationId xmlns:a16="http://schemas.microsoft.com/office/drawing/2014/main" id="{1E3677A2-96AB-69E5-C19D-7A788155FF98}"/>
              </a:ext>
            </a:extLst>
          </p:cNvPr>
          <p:cNvPicPr>
            <a:picLocks noChangeAspect="1"/>
          </p:cNvPicPr>
          <p:nvPr/>
        </p:nvPicPr>
        <p:blipFill>
          <a:blip r:embed="rId4"/>
          <a:stretch>
            <a:fillRect/>
          </a:stretch>
        </p:blipFill>
        <p:spPr>
          <a:xfrm>
            <a:off x="7127510" y="3041506"/>
            <a:ext cx="4901722" cy="3677728"/>
          </a:xfrm>
          <a:prstGeom prst="rect">
            <a:avLst/>
          </a:prstGeom>
        </p:spPr>
      </p:pic>
    </p:spTree>
    <p:extLst>
      <p:ext uri="{BB962C8B-B14F-4D97-AF65-F5344CB8AC3E}">
        <p14:creationId xmlns:p14="http://schemas.microsoft.com/office/powerpoint/2010/main" val="33563182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788F4B-3DCF-D2F7-BC90-88B8FA1D7640}"/>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8A8AFE38-45D9-F260-5FA7-1244971363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F17C876-EF77-64E0-0537-EEB8AF79CA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2C45682F-CF0D-3EC4-0D72-6509560CC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EE1D95BE-D6AF-A6B0-F6C2-0A88C021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19B327D9-6200-D530-AA93-8617E3DF8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3A79A4-6001-175E-CDBC-DA252EC310A1}"/>
              </a:ext>
            </a:extLst>
          </p:cNvPr>
          <p:cNvSpPr>
            <a:spLocks noGrp="1"/>
          </p:cNvSpPr>
          <p:nvPr>
            <p:ph type="title"/>
          </p:nvPr>
        </p:nvSpPr>
        <p:spPr>
          <a:xfrm>
            <a:off x="1371599" y="294538"/>
            <a:ext cx="9895951" cy="1033669"/>
          </a:xfrm>
        </p:spPr>
        <p:txBody>
          <a:bodyPr>
            <a:normAutofit fontScale="90000"/>
          </a:bodyPr>
          <a:lstStyle/>
          <a:p>
            <a:r>
              <a:rPr lang="en-US" sz="4000" dirty="0">
                <a:solidFill>
                  <a:schemeClr val="bg1"/>
                </a:solidFill>
              </a:rPr>
              <a:t>H5 Amenity Richness vs Specific Amenity (cont..)</a:t>
            </a:r>
          </a:p>
        </p:txBody>
      </p:sp>
      <p:sp>
        <p:nvSpPr>
          <p:cNvPr id="4" name="Rectangle 1">
            <a:extLst>
              <a:ext uri="{FF2B5EF4-FFF2-40B4-BE49-F238E27FC236}">
                <a16:creationId xmlns:a16="http://schemas.microsoft.com/office/drawing/2014/main" id="{8DC53C39-8633-D69D-1EE7-CF738605D152}"/>
              </a:ext>
            </a:extLst>
          </p:cNvPr>
          <p:cNvSpPr>
            <a:spLocks noGrp="1" noChangeArrowheads="1"/>
          </p:cNvSpPr>
          <p:nvPr>
            <p:ph idx="1"/>
          </p:nvPr>
        </p:nvSpPr>
        <p:spPr bwMode="auto">
          <a:xfrm>
            <a:off x="128206" y="1891970"/>
            <a:ext cx="2675284" cy="467149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lang="en-US" sz="1400" b="1" dirty="0"/>
              <a:t>Each additional listed amenity is associated with about a +1.74% increase in predicted rent.</a:t>
            </a:r>
            <a:r>
              <a:rPr lang="en-US" sz="1400" dirty="0"/>
              <a:t> This captures a general premium for feature-rich listings</a:t>
            </a:r>
            <a:r>
              <a:rPr lang="en-US" sz="1400" b="1" dirty="0">
                <a:latin typeface="Arial" panose="020B0604020202020204" pitchFamily="34" charset="0"/>
              </a:rPr>
              <a:t>.</a:t>
            </a:r>
          </a:p>
          <a:p>
            <a:pPr marL="0" indent="0" eaLnBrk="0" fontAlgn="base" hangingPunct="0">
              <a:lnSpc>
                <a:spcPct val="120000"/>
              </a:lnSpc>
              <a:spcBef>
                <a:spcPct val="0"/>
              </a:spcBef>
              <a:spcAft>
                <a:spcPts val="600"/>
              </a:spcAft>
              <a:buNone/>
            </a:pPr>
            <a:r>
              <a:rPr lang="en-US" sz="1400" dirty="0"/>
              <a:t>Many positive amenity coefficients become smaller.</a:t>
            </a:r>
          </a:p>
          <a:p>
            <a:pPr marL="0" indent="0" eaLnBrk="0" fontAlgn="base" hangingPunct="0">
              <a:lnSpc>
                <a:spcPct val="120000"/>
              </a:lnSpc>
              <a:spcBef>
                <a:spcPct val="0"/>
              </a:spcBef>
              <a:spcAft>
                <a:spcPts val="600"/>
              </a:spcAft>
              <a:buNone/>
            </a:pPr>
            <a:r>
              <a:rPr lang="en-US" sz="1400" dirty="0"/>
              <a:t>Some negative coefficients can be interpreted as features that are less valuable than the average additional amenity.</a:t>
            </a:r>
          </a:p>
          <a:p>
            <a:pPr marL="0" indent="0" eaLnBrk="0" fontAlgn="base" hangingPunct="0">
              <a:lnSpc>
                <a:spcPct val="120000"/>
              </a:lnSpc>
              <a:spcBef>
                <a:spcPct val="0"/>
              </a:spcBef>
              <a:spcAft>
                <a:spcPts val="600"/>
              </a:spcAft>
              <a:buNone/>
            </a:pPr>
            <a:r>
              <a:rPr lang="en-US" sz="1400" b="1" dirty="0"/>
              <a:t>These coefficients can be interpreted as the value of a specific amenity relative to the general premium.</a:t>
            </a:r>
            <a:endParaRPr lang="en-US" sz="1400" b="1" dirty="0">
              <a:latin typeface="Arial" panose="020B0604020202020204" pitchFamily="34" charset="0"/>
            </a:endParaRPr>
          </a:p>
        </p:txBody>
      </p:sp>
      <p:pic>
        <p:nvPicPr>
          <p:cNvPr id="9" name="Picture 8">
            <a:extLst>
              <a:ext uri="{FF2B5EF4-FFF2-40B4-BE49-F238E27FC236}">
                <a16:creationId xmlns:a16="http://schemas.microsoft.com/office/drawing/2014/main" id="{8CADD636-FFB5-B355-F9F1-B8786AE4FDA1}"/>
              </a:ext>
            </a:extLst>
          </p:cNvPr>
          <p:cNvPicPr>
            <a:picLocks noChangeAspect="1"/>
          </p:cNvPicPr>
          <p:nvPr/>
        </p:nvPicPr>
        <p:blipFill>
          <a:blip r:embed="rId3"/>
          <a:stretch>
            <a:fillRect/>
          </a:stretch>
        </p:blipFill>
        <p:spPr>
          <a:xfrm>
            <a:off x="2668908" y="2251585"/>
            <a:ext cx="9394886" cy="3952261"/>
          </a:xfrm>
          <a:prstGeom prst="rect">
            <a:avLst/>
          </a:prstGeom>
        </p:spPr>
      </p:pic>
    </p:spTree>
    <p:extLst>
      <p:ext uri="{BB962C8B-B14F-4D97-AF65-F5344CB8AC3E}">
        <p14:creationId xmlns:p14="http://schemas.microsoft.com/office/powerpoint/2010/main" val="122006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8BAAFF-76C3-35E9-A448-E84A20065B2A}"/>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8C12BAF-28F0-2766-C12E-99585311B6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E59E6F7-1E48-9555-B74D-3A18122F9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3F06AEB-5076-E2E8-BAFF-D664B0DA4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9D5C72A4-0143-6AD7-7344-D6E7D476F7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466C92F2-6857-65A3-2641-2F25A782AA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CCD51-2DEF-D9A3-1B7D-1909628C8CBE}"/>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Summary</a:t>
            </a:r>
          </a:p>
        </p:txBody>
      </p:sp>
      <p:sp>
        <p:nvSpPr>
          <p:cNvPr id="4" name="Rectangle 1">
            <a:extLst>
              <a:ext uri="{FF2B5EF4-FFF2-40B4-BE49-F238E27FC236}">
                <a16:creationId xmlns:a16="http://schemas.microsoft.com/office/drawing/2014/main" id="{FBF2A362-86F2-CB14-D008-D8FA95DB3CCA}"/>
              </a:ext>
            </a:extLst>
          </p:cNvPr>
          <p:cNvSpPr>
            <a:spLocks noGrp="1" noChangeArrowheads="1"/>
          </p:cNvSpPr>
          <p:nvPr>
            <p:ph idx="1"/>
          </p:nvPr>
        </p:nvSpPr>
        <p:spPr bwMode="auto">
          <a:xfrm>
            <a:off x="540335" y="3710450"/>
            <a:ext cx="11111325" cy="274508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eaLnBrk="0" fontAlgn="base" hangingPunct="0">
              <a:lnSpc>
                <a:spcPct val="120000"/>
              </a:lnSpc>
              <a:spcBef>
                <a:spcPct val="0"/>
              </a:spcBef>
              <a:spcAft>
                <a:spcPts val="600"/>
              </a:spcAft>
              <a:buNone/>
            </a:pPr>
            <a:r>
              <a:rPr kumimoji="0" lang="en-US" altLang="en-US" sz="1400" i="0" u="none" strike="noStrike" cap="none" normalizeH="0" baseline="0" dirty="0">
                <a:ln>
                  <a:noFill/>
                </a:ln>
                <a:effectLst/>
                <a:latin typeface="Arial" panose="020B0604020202020204" pitchFamily="34" charset="0"/>
              </a:rPr>
              <a:t>Geography was the strongest driver of rental price by far</a:t>
            </a:r>
          </a:p>
          <a:p>
            <a:pPr marL="0" indent="0" eaLnBrk="0" fontAlgn="base" hangingPunct="0">
              <a:lnSpc>
                <a:spcPct val="120000"/>
              </a:lnSpc>
              <a:spcBef>
                <a:spcPct val="0"/>
              </a:spcBef>
              <a:spcAft>
                <a:spcPts val="600"/>
              </a:spcAft>
              <a:buNone/>
            </a:pPr>
            <a:r>
              <a:rPr kumimoji="0" lang="en-US" altLang="en-US" sz="1400" i="0" u="none" strike="noStrike" cap="none" normalizeH="0" baseline="0" dirty="0">
                <a:ln>
                  <a:noFill/>
                </a:ln>
                <a:effectLst/>
                <a:latin typeface="Arial" panose="020B0604020202020204" pitchFamily="34" charset="0"/>
              </a:rPr>
              <a:t>Property fundamentals explained some variation, but were not sufficient on their own</a:t>
            </a:r>
          </a:p>
          <a:p>
            <a:pPr marL="0" indent="0" eaLnBrk="0" fontAlgn="base" hangingPunct="0">
              <a:lnSpc>
                <a:spcPct val="120000"/>
              </a:lnSpc>
              <a:spcBef>
                <a:spcPct val="0"/>
              </a:spcBef>
              <a:spcAft>
                <a:spcPts val="600"/>
              </a:spcAft>
              <a:buNone/>
            </a:pPr>
            <a:r>
              <a:rPr kumimoji="0" lang="en-US" altLang="en-US" sz="1400" i="0" u="none" strike="noStrike" cap="none" normalizeH="0" baseline="0" dirty="0">
                <a:ln>
                  <a:noFill/>
                </a:ln>
                <a:effectLst/>
                <a:latin typeface="Arial" panose="020B0604020202020204" pitchFamily="34" charset="0"/>
              </a:rPr>
              <a:t>Amenities added a modest but consistent improvement beyond fundamentals and location</a:t>
            </a:r>
          </a:p>
          <a:p>
            <a:pPr marL="0" indent="0" eaLnBrk="0" fontAlgn="base" hangingPunct="0">
              <a:lnSpc>
                <a:spcPct val="120000"/>
              </a:lnSpc>
              <a:spcBef>
                <a:spcPct val="0"/>
              </a:spcBef>
              <a:spcAft>
                <a:spcPts val="600"/>
              </a:spcAft>
              <a:buNone/>
            </a:pPr>
            <a:r>
              <a:rPr kumimoji="0" lang="en-US" altLang="en-US" sz="1400" i="0" u="none" strike="noStrike" cap="none" normalizeH="0" baseline="0" dirty="0">
                <a:ln>
                  <a:noFill/>
                </a:ln>
                <a:effectLst/>
                <a:latin typeface="Arial" panose="020B0604020202020204" pitchFamily="34" charset="0"/>
              </a:rPr>
              <a:t>H5 Ridge was the best-performing model, but the gain over H3 was very small</a:t>
            </a:r>
          </a:p>
          <a:p>
            <a:pPr marL="0" indent="0" eaLnBrk="0" fontAlgn="base" hangingPunct="0">
              <a:lnSpc>
                <a:spcPct val="120000"/>
              </a:lnSpc>
              <a:spcBef>
                <a:spcPct val="0"/>
              </a:spcBef>
              <a:spcAft>
                <a:spcPts val="600"/>
              </a:spcAft>
              <a:buNone/>
            </a:pPr>
            <a:r>
              <a:rPr kumimoji="0" lang="en-US" altLang="en-US" sz="1400" i="0" u="none" strike="noStrike" cap="none" normalizeH="0" baseline="0" dirty="0">
                <a:ln>
                  <a:noFill/>
                </a:ln>
                <a:effectLst/>
                <a:latin typeface="Arial" panose="020B0604020202020204" pitchFamily="34" charset="0"/>
              </a:rPr>
              <a:t>Adding </a:t>
            </a:r>
            <a:r>
              <a:rPr kumimoji="0" lang="en-US" altLang="en-US" sz="1400" i="0" u="none" strike="noStrike" cap="none" normalizeH="0" baseline="0" dirty="0" err="1">
                <a:ln>
                  <a:noFill/>
                </a:ln>
                <a:effectLst/>
                <a:latin typeface="Arial" panose="020B0604020202020204" pitchFamily="34" charset="0"/>
              </a:rPr>
              <a:t>amenity_count</a:t>
            </a:r>
            <a:r>
              <a:rPr kumimoji="0" lang="en-US" altLang="en-US" sz="1400" i="0" u="none" strike="noStrike" cap="none" normalizeH="0" baseline="0" dirty="0">
                <a:ln>
                  <a:noFill/>
                </a:ln>
                <a:effectLst/>
                <a:latin typeface="Arial" panose="020B0604020202020204" pitchFamily="34" charset="0"/>
              </a:rPr>
              <a:t> helped separate general feature richness from the value of specific amenities</a:t>
            </a:r>
          </a:p>
          <a:p>
            <a:pPr marL="0" indent="0" eaLnBrk="0" fontAlgn="base" hangingPunct="0">
              <a:lnSpc>
                <a:spcPct val="120000"/>
              </a:lnSpc>
              <a:spcBef>
                <a:spcPct val="0"/>
              </a:spcBef>
              <a:spcAft>
                <a:spcPts val="600"/>
              </a:spcAft>
              <a:buNone/>
            </a:pPr>
            <a:endParaRPr kumimoji="0" lang="en-US" altLang="en-US" sz="1400" b="1" i="0" u="none" strike="noStrike" cap="none" normalizeH="0" baseline="0" dirty="0">
              <a:ln>
                <a:noFill/>
              </a:ln>
              <a:effectLst/>
              <a:latin typeface="Arial" panose="020B0604020202020204" pitchFamily="34" charset="0"/>
            </a:endParaRPr>
          </a:p>
          <a:p>
            <a:pPr marL="0" indent="0" eaLnBrk="0" fontAlgn="base" hangingPunct="0">
              <a:lnSpc>
                <a:spcPct val="120000"/>
              </a:lnSpc>
              <a:spcBef>
                <a:spcPct val="0"/>
              </a:spcBef>
              <a:spcAft>
                <a:spcPts val="600"/>
              </a:spcAft>
              <a:buNone/>
            </a:pPr>
            <a:r>
              <a:rPr kumimoji="0" lang="en-US" altLang="en-US" sz="1400" b="1" i="0" u="none" strike="noStrike" cap="none" normalizeH="0" baseline="0" dirty="0">
                <a:ln>
                  <a:noFill/>
                </a:ln>
                <a:effectLst/>
                <a:latin typeface="Arial" panose="020B0604020202020204" pitchFamily="34" charset="0"/>
              </a:rPr>
              <a:t>Final takeaway</a:t>
            </a:r>
          </a:p>
          <a:p>
            <a:pPr marL="0" indent="0" eaLnBrk="0" fontAlgn="base" hangingPunct="0">
              <a:lnSpc>
                <a:spcPct val="120000"/>
              </a:lnSpc>
              <a:spcBef>
                <a:spcPct val="0"/>
              </a:spcBef>
              <a:spcAft>
                <a:spcPts val="600"/>
              </a:spcAft>
              <a:buNone/>
            </a:pPr>
            <a:r>
              <a:rPr kumimoji="0" lang="en-US" altLang="en-US" sz="1400" i="0" u="none" strike="noStrike" cap="none" normalizeH="0" baseline="0" dirty="0">
                <a:ln>
                  <a:noFill/>
                </a:ln>
                <a:effectLst/>
                <a:latin typeface="Arial" panose="020B0604020202020204" pitchFamily="34" charset="0"/>
              </a:rPr>
              <a:t>The clearest story in the data is that rent is driven first by location, then refined by property characteristics and amenities. The final model balances predictive performance with interpretability, and H5 provides the strongest explanation of how amenities contribute to rent.</a:t>
            </a:r>
          </a:p>
        </p:txBody>
      </p:sp>
      <p:pic>
        <p:nvPicPr>
          <p:cNvPr id="7" name="Picture 6">
            <a:extLst>
              <a:ext uri="{FF2B5EF4-FFF2-40B4-BE49-F238E27FC236}">
                <a16:creationId xmlns:a16="http://schemas.microsoft.com/office/drawing/2014/main" id="{04B1ADBC-16F2-9E30-CC15-9AFA01ED4FE2}"/>
              </a:ext>
            </a:extLst>
          </p:cNvPr>
          <p:cNvPicPr>
            <a:picLocks noChangeAspect="1"/>
          </p:cNvPicPr>
          <p:nvPr/>
        </p:nvPicPr>
        <p:blipFill>
          <a:blip r:embed="rId3"/>
          <a:stretch>
            <a:fillRect/>
          </a:stretch>
        </p:blipFill>
        <p:spPr>
          <a:xfrm>
            <a:off x="504107" y="1891970"/>
            <a:ext cx="11183782" cy="1657179"/>
          </a:xfrm>
          <a:prstGeom prst="rect">
            <a:avLst/>
          </a:prstGeom>
        </p:spPr>
      </p:pic>
    </p:spTree>
    <p:extLst>
      <p:ext uri="{BB962C8B-B14F-4D97-AF65-F5344CB8AC3E}">
        <p14:creationId xmlns:p14="http://schemas.microsoft.com/office/powerpoint/2010/main" val="14086053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E972CE-67A0-4016-321E-D94A8B392683}"/>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DC33B5F-CB60-887A-9CA2-B43E05B789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BD150F1-0661-03AC-EA75-17094B39D5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4C34920-D06E-C822-8897-20CE41272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921F7869-80BA-4B04-2368-D33D79CB20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DAB4A5-885C-8C84-68DE-CA17F539EE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E7D049-F180-FF5C-1B12-3F2935D740A7}"/>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Summary (cont..)</a:t>
            </a:r>
          </a:p>
        </p:txBody>
      </p:sp>
      <p:pic>
        <p:nvPicPr>
          <p:cNvPr id="5" name="Picture 4">
            <a:extLst>
              <a:ext uri="{FF2B5EF4-FFF2-40B4-BE49-F238E27FC236}">
                <a16:creationId xmlns:a16="http://schemas.microsoft.com/office/drawing/2014/main" id="{9F607394-2A1A-C849-FC61-97B015A5941F}"/>
              </a:ext>
            </a:extLst>
          </p:cNvPr>
          <p:cNvPicPr>
            <a:picLocks noChangeAspect="1"/>
          </p:cNvPicPr>
          <p:nvPr/>
        </p:nvPicPr>
        <p:blipFill>
          <a:blip r:embed="rId3"/>
          <a:stretch>
            <a:fillRect/>
          </a:stretch>
        </p:blipFill>
        <p:spPr>
          <a:xfrm>
            <a:off x="6095998" y="1786376"/>
            <a:ext cx="5582429" cy="3734321"/>
          </a:xfrm>
          <a:prstGeom prst="rect">
            <a:avLst/>
          </a:prstGeom>
        </p:spPr>
      </p:pic>
      <p:sp>
        <p:nvSpPr>
          <p:cNvPr id="8" name="TextBox 7">
            <a:extLst>
              <a:ext uri="{FF2B5EF4-FFF2-40B4-BE49-F238E27FC236}">
                <a16:creationId xmlns:a16="http://schemas.microsoft.com/office/drawing/2014/main" id="{4EFE471F-76CF-A6B8-14CB-07C364EEDEA0}"/>
              </a:ext>
            </a:extLst>
          </p:cNvPr>
          <p:cNvSpPr txBox="1"/>
          <p:nvPr/>
        </p:nvSpPr>
        <p:spPr>
          <a:xfrm>
            <a:off x="180868" y="1779687"/>
            <a:ext cx="5915130" cy="4031873"/>
          </a:xfrm>
          <a:prstGeom prst="rect">
            <a:avLst/>
          </a:prstGeom>
          <a:noFill/>
        </p:spPr>
        <p:txBody>
          <a:bodyPr wrap="square" rtlCol="0">
            <a:spAutoFit/>
          </a:bodyPr>
          <a:lstStyle/>
          <a:p>
            <a:r>
              <a:rPr lang="en-US" sz="1400" dirty="0"/>
              <a:t>Amenity information matters in two different ways: overall amenity count and the value of specific amenities</a:t>
            </a:r>
            <a:br>
              <a:rPr lang="en-US" sz="1400" dirty="0"/>
            </a:br>
            <a:endParaRPr lang="en-US" sz="1400" dirty="0"/>
          </a:p>
          <a:p>
            <a:r>
              <a:rPr lang="en-US" sz="1400" dirty="0" err="1"/>
              <a:t>amenity_count</a:t>
            </a:r>
            <a:r>
              <a:rPr lang="en-US" sz="1400" dirty="0"/>
              <a:t> captures a general premium for feature-rich listings, with each additional listed amenity associated with about a +1.74% increase in predicted rent</a:t>
            </a:r>
            <a:br>
              <a:rPr lang="en-US" sz="1400" dirty="0"/>
            </a:br>
            <a:endParaRPr lang="en-US" sz="1400" dirty="0"/>
          </a:p>
          <a:p>
            <a:r>
              <a:rPr lang="en-US" sz="1400" dirty="0"/>
              <a:t>Several premium amenities remain clearly positive after accounting for count, indicating that they still carry distinct signal beyond the general count effect</a:t>
            </a:r>
            <a:br>
              <a:rPr lang="en-US" sz="1400" dirty="0"/>
            </a:br>
            <a:endParaRPr lang="en-US" sz="1400" dirty="0"/>
          </a:p>
          <a:p>
            <a:r>
              <a:rPr lang="en-US" sz="1400" dirty="0"/>
              <a:t>The negative table on the right shows the other side of this story: some features become more negative in H5, which suggests they are weaker signals of rental value.</a:t>
            </a:r>
            <a:br>
              <a:rPr lang="en-US" sz="1400" dirty="0"/>
            </a:br>
            <a:endParaRPr lang="en-US" sz="1400" dirty="0"/>
          </a:p>
          <a:p>
            <a:r>
              <a:rPr lang="en-US" sz="1400" dirty="0"/>
              <a:t>H5 separates amenity quantity from amenity composition and gives a clearer picture amenity impact.</a:t>
            </a:r>
            <a:br>
              <a:rPr lang="en-US" dirty="0"/>
            </a:br>
            <a:endParaRPr lang="en-US" dirty="0"/>
          </a:p>
        </p:txBody>
      </p:sp>
    </p:spTree>
    <p:extLst>
      <p:ext uri="{BB962C8B-B14F-4D97-AF65-F5344CB8AC3E}">
        <p14:creationId xmlns:p14="http://schemas.microsoft.com/office/powerpoint/2010/main" val="27664152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814DD1-5277-598D-E27B-D19718DFB7CF}"/>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B5B9668-55E0-118B-FBE7-23FD07898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CDFD0617-4AAA-1AFD-6276-30E644370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20BCC645-376E-9FCE-16EC-380C5FEEE6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5ABC438-42C7-B62D-48B6-FF41033721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9758A975-AC04-2565-029A-00617FBBC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F2B0A7-27F2-3C3C-3216-5A20DFDE392C}"/>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Limitations and Next Steps</a:t>
            </a:r>
          </a:p>
        </p:txBody>
      </p:sp>
      <p:sp>
        <p:nvSpPr>
          <p:cNvPr id="3" name="Content Placeholder 2">
            <a:extLst>
              <a:ext uri="{FF2B5EF4-FFF2-40B4-BE49-F238E27FC236}">
                <a16:creationId xmlns:a16="http://schemas.microsoft.com/office/drawing/2014/main" id="{526DC942-8EFC-631B-4B6F-FC30E579B2FD}"/>
              </a:ext>
            </a:extLst>
          </p:cNvPr>
          <p:cNvSpPr>
            <a:spLocks noGrp="1"/>
          </p:cNvSpPr>
          <p:nvPr>
            <p:ph idx="1"/>
          </p:nvPr>
        </p:nvSpPr>
        <p:spPr/>
        <p:txBody>
          <a:bodyPr>
            <a:normAutofit fontScale="55000" lnSpcReduction="20000"/>
          </a:bodyPr>
          <a:lstStyle/>
          <a:p>
            <a:pPr marL="0" indent="0">
              <a:buNone/>
            </a:pPr>
            <a:r>
              <a:rPr lang="en-US" b="1" dirty="0"/>
              <a:t>Limitations</a:t>
            </a:r>
          </a:p>
          <a:p>
            <a:pPr marL="0" indent="0">
              <a:buNone/>
            </a:pPr>
            <a:r>
              <a:rPr lang="en-US" dirty="0"/>
              <a:t>•The final model was trained on log-transformed rent, which improved stability but still leaves the highest-rent listings underpredicted on the original AUD scale</a:t>
            </a:r>
          </a:p>
          <a:p>
            <a:pPr marL="0" indent="0">
              <a:buNone/>
            </a:pPr>
            <a:r>
              <a:rPr lang="en-US" dirty="0"/>
              <a:t>• Even the best model explains about 69% of variation on the log scale and 54% on the original rent scale, so a meaningful share of rental variation remains unexplained</a:t>
            </a:r>
          </a:p>
          <a:p>
            <a:pPr marL="0" indent="0">
              <a:buNone/>
            </a:pPr>
            <a:r>
              <a:rPr lang="en-US" dirty="0"/>
              <a:t>• </a:t>
            </a:r>
            <a:r>
              <a:rPr lang="en-US" dirty="0" err="1"/>
              <a:t>MAE_rent</a:t>
            </a:r>
            <a:r>
              <a:rPr lang="en-US" dirty="0"/>
              <a:t> remains about 112 AUD/week, which means average prediction error is still practically significant</a:t>
            </a:r>
          </a:p>
          <a:p>
            <a:pPr marL="0" indent="0">
              <a:buNone/>
            </a:pPr>
            <a:r>
              <a:rPr lang="en-US" dirty="0"/>
              <a:t>• Amenity data is self-reported, and some listing features may be inconsistently labeled or weakly informative</a:t>
            </a:r>
          </a:p>
          <a:p>
            <a:endParaRPr lang="en-US" dirty="0"/>
          </a:p>
          <a:p>
            <a:pPr marL="0" indent="0">
              <a:buNone/>
            </a:pPr>
            <a:r>
              <a:rPr lang="en-US" b="1" dirty="0"/>
              <a:t>Next Steps</a:t>
            </a:r>
          </a:p>
          <a:p>
            <a:pPr marL="0" indent="0">
              <a:buNone/>
            </a:pPr>
            <a:r>
              <a:rPr lang="en-US" dirty="0"/>
              <a:t>• Use listing descriptions as an additional feature source, for example with TF-IDF or related text methods</a:t>
            </a:r>
          </a:p>
          <a:p>
            <a:pPr marL="0" indent="0">
              <a:buNone/>
            </a:pPr>
            <a:r>
              <a:rPr lang="en-US" dirty="0"/>
              <a:t>• Engineer stronger geographic features, such as latitude/longitude grids, spatial clustering, or distance-based location measures.</a:t>
            </a:r>
          </a:p>
          <a:p>
            <a:pPr marL="0" indent="0">
              <a:buNone/>
            </a:pPr>
            <a:r>
              <a:rPr lang="en-US" dirty="0"/>
              <a:t>• Benchmark more flexible models, such as tree-based ensembles.</a:t>
            </a:r>
          </a:p>
          <a:p>
            <a:pPr marL="0" indent="0">
              <a:buNone/>
            </a:pPr>
            <a:endParaRPr lang="en-US" dirty="0"/>
          </a:p>
          <a:p>
            <a:pPr marL="0" indent="0">
              <a:buNone/>
            </a:pPr>
            <a:r>
              <a:rPr lang="en-US" b="1" dirty="0"/>
              <a:t>Final thought</a:t>
            </a:r>
          </a:p>
          <a:p>
            <a:pPr marL="0" indent="0">
              <a:buNone/>
            </a:pPr>
            <a:r>
              <a:rPr lang="en-US" dirty="0"/>
              <a:t>I enjoyed this project because it gave me an opportunity to build on recent coursework in applied machine learning and apply those methods to a more open-ended, real-world dataset.</a:t>
            </a:r>
          </a:p>
        </p:txBody>
      </p:sp>
    </p:spTree>
    <p:extLst>
      <p:ext uri="{BB962C8B-B14F-4D97-AF65-F5344CB8AC3E}">
        <p14:creationId xmlns:p14="http://schemas.microsoft.com/office/powerpoint/2010/main" val="5763762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265</TotalTime>
  <Words>1977</Words>
  <Application>Microsoft Office PowerPoint</Application>
  <PresentationFormat>Widescreen</PresentationFormat>
  <Paragraphs>92</Paragraphs>
  <Slides>15</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Australian Rental Market Data </vt:lpstr>
      <vt:lpstr>Problem and Scope</vt:lpstr>
      <vt:lpstr>Modeling Approach</vt:lpstr>
      <vt:lpstr>Data Quality and Preparation</vt:lpstr>
      <vt:lpstr>Hypothesis and Iterative Model Strategy</vt:lpstr>
      <vt:lpstr>Training and Evaluating</vt:lpstr>
      <vt:lpstr>H1 Fundamentals Drive Rent</vt:lpstr>
      <vt:lpstr>H2 Impact of Geography</vt:lpstr>
      <vt:lpstr>H3 Amenities Add Signal</vt:lpstr>
      <vt:lpstr>H4 Individual Amenities are Quantifiable</vt:lpstr>
      <vt:lpstr>H5 Amenity Richness vs Specific Amenity</vt:lpstr>
      <vt:lpstr>H5 Amenity Richness vs Specific Amenity (cont..)</vt:lpstr>
      <vt:lpstr>Summary</vt:lpstr>
      <vt:lpstr>Summary (cont..)</vt:lpstr>
      <vt:lpstr>Limitations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Justin Hoffman</dc:creator>
  <cp:lastModifiedBy>Justin Hoffman</cp:lastModifiedBy>
  <cp:revision>2</cp:revision>
  <dcterms:created xsi:type="dcterms:W3CDTF">2026-03-07T04:19:55Z</dcterms:created>
  <dcterms:modified xsi:type="dcterms:W3CDTF">2026-03-07T08:45:08Z</dcterms:modified>
</cp:coreProperties>
</file>