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78" r:id="rId3"/>
    <p:sldId id="277" r:id="rId4"/>
    <p:sldId id="261" r:id="rId5"/>
    <p:sldId id="263" r:id="rId6"/>
    <p:sldId id="265" r:id="rId7"/>
    <p:sldId id="266" r:id="rId8"/>
    <p:sldId id="267" r:id="rId9"/>
    <p:sldId id="279" r:id="rId10"/>
    <p:sldId id="269" r:id="rId11"/>
    <p:sldId id="270" r:id="rId12"/>
    <p:sldId id="272" r:id="rId13"/>
    <p:sldId id="281" r:id="rId14"/>
    <p:sldId id="280" r:id="rId15"/>
    <p:sldId id="273" r:id="rId16"/>
    <p:sldId id="28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926" autoAdjust="0"/>
  </p:normalViewPr>
  <p:slideViewPr>
    <p:cSldViewPr snapToGrid="0">
      <p:cViewPr varScale="1">
        <p:scale>
          <a:sx n="82" d="100"/>
          <a:sy n="82" d="100"/>
        </p:scale>
        <p:origin x="720"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AE370A-B71F-458D-905D-A2AAB4DEDB5A}" type="datetimeFigureOut">
              <a:rPr lang="en-US" smtClean="0"/>
              <a:t>3/8/2026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C46987-1D68-4199-95F9-B343B80E33C2}" type="slidenum">
              <a:rPr lang="en-US" smtClean="0"/>
              <a:t>‹#›</a:t>
            </a:fld>
            <a:endParaRPr lang="en-US"/>
          </a:p>
        </p:txBody>
      </p:sp>
    </p:spTree>
    <p:extLst>
      <p:ext uri="{BB962C8B-B14F-4D97-AF65-F5344CB8AC3E}">
        <p14:creationId xmlns:p14="http://schemas.microsoft.com/office/powerpoint/2010/main" val="818228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CC46987-1D68-4199-95F9-B343B80E33C2}" type="slidenum">
              <a:rPr lang="en-US" smtClean="0"/>
              <a:t>2</a:t>
            </a:fld>
            <a:endParaRPr lang="en-US"/>
          </a:p>
        </p:txBody>
      </p:sp>
    </p:spTree>
    <p:extLst>
      <p:ext uri="{BB962C8B-B14F-4D97-AF65-F5344CB8AC3E}">
        <p14:creationId xmlns:p14="http://schemas.microsoft.com/office/powerpoint/2010/main" val="32394034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CC46987-1D68-4199-95F9-B343B80E33C2}" type="slidenum">
              <a:rPr lang="en-US" smtClean="0"/>
              <a:t>4</a:t>
            </a:fld>
            <a:endParaRPr lang="en-US"/>
          </a:p>
        </p:txBody>
      </p:sp>
    </p:spTree>
    <p:extLst>
      <p:ext uri="{BB962C8B-B14F-4D97-AF65-F5344CB8AC3E}">
        <p14:creationId xmlns:p14="http://schemas.microsoft.com/office/powerpoint/2010/main" val="28376340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CC46987-1D68-4199-95F9-B343B80E33C2}" type="slidenum">
              <a:rPr lang="en-US" smtClean="0"/>
              <a:t>6</a:t>
            </a:fld>
            <a:endParaRPr lang="en-US"/>
          </a:p>
        </p:txBody>
      </p:sp>
    </p:spTree>
    <p:extLst>
      <p:ext uri="{BB962C8B-B14F-4D97-AF65-F5344CB8AC3E}">
        <p14:creationId xmlns:p14="http://schemas.microsoft.com/office/powerpoint/2010/main" val="18266269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CC46987-1D68-4199-95F9-B343B80E33C2}" type="slidenum">
              <a:rPr lang="en-US" smtClean="0"/>
              <a:t>7</a:t>
            </a:fld>
            <a:endParaRPr lang="en-US"/>
          </a:p>
        </p:txBody>
      </p:sp>
    </p:spTree>
    <p:extLst>
      <p:ext uri="{BB962C8B-B14F-4D97-AF65-F5344CB8AC3E}">
        <p14:creationId xmlns:p14="http://schemas.microsoft.com/office/powerpoint/2010/main" val="924159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CC46987-1D68-4199-95F9-B343B80E33C2}" type="slidenum">
              <a:rPr lang="en-US" smtClean="0"/>
              <a:t>8</a:t>
            </a:fld>
            <a:endParaRPr lang="en-US"/>
          </a:p>
        </p:txBody>
      </p:sp>
    </p:spTree>
    <p:extLst>
      <p:ext uri="{BB962C8B-B14F-4D97-AF65-F5344CB8AC3E}">
        <p14:creationId xmlns:p14="http://schemas.microsoft.com/office/powerpoint/2010/main" val="1600504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16EA7-6F65-E5C6-07D1-C02F9507A6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22DAD2-1B6F-AB69-6883-6DEDE75BD3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8ECBE4-09D3-70EB-0691-E6877A6ABE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2BEFA7-4808-9B9A-218D-65AA0366C4DA}"/>
              </a:ext>
            </a:extLst>
          </p:cNvPr>
          <p:cNvSpPr>
            <a:spLocks noGrp="1"/>
          </p:cNvSpPr>
          <p:nvPr>
            <p:ph type="sldNum" sz="quarter" idx="5"/>
          </p:nvPr>
        </p:nvSpPr>
        <p:spPr/>
        <p:txBody>
          <a:bodyPr/>
          <a:lstStyle/>
          <a:p>
            <a:fld id="{ECC46987-1D68-4199-95F9-B343B80E33C2}" type="slidenum">
              <a:rPr lang="en-US" smtClean="0"/>
              <a:t>9</a:t>
            </a:fld>
            <a:endParaRPr lang="en-US"/>
          </a:p>
        </p:txBody>
      </p:sp>
    </p:spTree>
    <p:extLst>
      <p:ext uri="{BB962C8B-B14F-4D97-AF65-F5344CB8AC3E}">
        <p14:creationId xmlns:p14="http://schemas.microsoft.com/office/powerpoint/2010/main" val="38435467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1E680-AAF0-E31F-F774-DE8BD93734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214CDF-8249-6CDC-6BCB-5F0BD7062D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1053D0-05D4-6AD9-0FCF-9E1269B050D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D53065-2C4C-0FB6-49D3-C4F778387AAF}"/>
              </a:ext>
            </a:extLst>
          </p:cNvPr>
          <p:cNvSpPr>
            <a:spLocks noGrp="1"/>
          </p:cNvSpPr>
          <p:nvPr>
            <p:ph type="sldNum" sz="quarter" idx="5"/>
          </p:nvPr>
        </p:nvSpPr>
        <p:spPr/>
        <p:txBody>
          <a:bodyPr/>
          <a:lstStyle/>
          <a:p>
            <a:fld id="{ECC46987-1D68-4199-95F9-B343B80E33C2}" type="slidenum">
              <a:rPr lang="en-US" smtClean="0"/>
              <a:t>10</a:t>
            </a:fld>
            <a:endParaRPr lang="en-US"/>
          </a:p>
        </p:txBody>
      </p:sp>
    </p:spTree>
    <p:extLst>
      <p:ext uri="{BB962C8B-B14F-4D97-AF65-F5344CB8AC3E}">
        <p14:creationId xmlns:p14="http://schemas.microsoft.com/office/powerpoint/2010/main" val="29671968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FEF36-A9C2-2BD5-6E8A-0D1FEE7CC4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6AEB3C-E5CC-AE90-405F-FC940DCCED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88583F-36B3-5F4A-AA42-6109F23389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5FCC6A-BC2C-4780-F347-03972C5BF21A}"/>
              </a:ext>
            </a:extLst>
          </p:cNvPr>
          <p:cNvSpPr>
            <a:spLocks noGrp="1"/>
          </p:cNvSpPr>
          <p:nvPr>
            <p:ph type="sldNum" sz="quarter" idx="5"/>
          </p:nvPr>
        </p:nvSpPr>
        <p:spPr/>
        <p:txBody>
          <a:bodyPr/>
          <a:lstStyle/>
          <a:p>
            <a:fld id="{ECC46987-1D68-4199-95F9-B343B80E33C2}" type="slidenum">
              <a:rPr lang="en-US" smtClean="0"/>
              <a:t>11</a:t>
            </a:fld>
            <a:endParaRPr lang="en-US"/>
          </a:p>
        </p:txBody>
      </p:sp>
    </p:spTree>
    <p:extLst>
      <p:ext uri="{BB962C8B-B14F-4D97-AF65-F5344CB8AC3E}">
        <p14:creationId xmlns:p14="http://schemas.microsoft.com/office/powerpoint/2010/main" val="17561739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3A731-C84E-404A-235C-DF53E24E13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8BED43-734F-B010-C213-AB59DFABE8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9ED97D-6D6E-8AFA-95DF-8468C37A59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C53C3D8-728A-3408-522E-F796B8D0D836}"/>
              </a:ext>
            </a:extLst>
          </p:cNvPr>
          <p:cNvSpPr>
            <a:spLocks noGrp="1"/>
          </p:cNvSpPr>
          <p:nvPr>
            <p:ph type="sldNum" sz="quarter" idx="5"/>
          </p:nvPr>
        </p:nvSpPr>
        <p:spPr/>
        <p:txBody>
          <a:bodyPr/>
          <a:lstStyle/>
          <a:p>
            <a:fld id="{ECC46987-1D68-4199-95F9-B343B80E33C2}" type="slidenum">
              <a:rPr lang="en-US" smtClean="0"/>
              <a:t>12</a:t>
            </a:fld>
            <a:endParaRPr lang="en-US"/>
          </a:p>
        </p:txBody>
      </p:sp>
    </p:spTree>
    <p:extLst>
      <p:ext uri="{BB962C8B-B14F-4D97-AF65-F5344CB8AC3E}">
        <p14:creationId xmlns:p14="http://schemas.microsoft.com/office/powerpoint/2010/main" val="6157744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B66A1-A976-F03A-E1ED-0F6916782D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C79A17-268C-2D58-0611-F4B6946020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6ABB65-2373-78FF-4AB9-9582EB85C48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38E6A2-EAF4-116D-7DFD-8E8145BAE9D8}"/>
              </a:ext>
            </a:extLst>
          </p:cNvPr>
          <p:cNvSpPr>
            <a:spLocks noGrp="1"/>
          </p:cNvSpPr>
          <p:nvPr>
            <p:ph type="sldNum" sz="quarter" idx="5"/>
          </p:nvPr>
        </p:nvSpPr>
        <p:spPr/>
        <p:txBody>
          <a:bodyPr/>
          <a:lstStyle/>
          <a:p>
            <a:fld id="{ECC46987-1D68-4199-95F9-B343B80E33C2}" type="slidenum">
              <a:rPr lang="en-US" smtClean="0"/>
              <a:t>13</a:t>
            </a:fld>
            <a:endParaRPr lang="en-US"/>
          </a:p>
        </p:txBody>
      </p:sp>
    </p:spTree>
    <p:extLst>
      <p:ext uri="{BB962C8B-B14F-4D97-AF65-F5344CB8AC3E}">
        <p14:creationId xmlns:p14="http://schemas.microsoft.com/office/powerpoint/2010/main" val="40595192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CB5F6-A27B-70EF-EF06-C6D79BC769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7F1207-BF49-2040-CCB2-3A255FC6ED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A3D66E-8C6B-CDD6-E19B-649BCE9DD0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203B9A-56EA-0C4D-8882-CB8DD37C1F93}"/>
              </a:ext>
            </a:extLst>
          </p:cNvPr>
          <p:cNvSpPr>
            <a:spLocks noGrp="1"/>
          </p:cNvSpPr>
          <p:nvPr>
            <p:ph type="sldNum" sz="quarter" idx="5"/>
          </p:nvPr>
        </p:nvSpPr>
        <p:spPr/>
        <p:txBody>
          <a:bodyPr/>
          <a:lstStyle/>
          <a:p>
            <a:fld id="{ECC46987-1D68-4199-95F9-B343B80E33C2}" type="slidenum">
              <a:rPr lang="en-US" smtClean="0"/>
              <a:t>14</a:t>
            </a:fld>
            <a:endParaRPr lang="en-US"/>
          </a:p>
        </p:txBody>
      </p:sp>
    </p:spTree>
    <p:extLst>
      <p:ext uri="{BB962C8B-B14F-4D97-AF65-F5344CB8AC3E}">
        <p14:creationId xmlns:p14="http://schemas.microsoft.com/office/powerpoint/2010/main" val="16380257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55C4A-B872-34E4-38E8-86B648F423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202B1C-57B2-C59E-CC14-E0A04A0B58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0A2FA0-30F5-1F10-6638-B9269BB6C7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9B7724-0A8A-A68E-FD58-891D63F8C2E4}"/>
              </a:ext>
            </a:extLst>
          </p:cNvPr>
          <p:cNvSpPr>
            <a:spLocks noGrp="1"/>
          </p:cNvSpPr>
          <p:nvPr>
            <p:ph type="sldNum" sz="quarter" idx="5"/>
          </p:nvPr>
        </p:nvSpPr>
        <p:spPr/>
        <p:txBody>
          <a:bodyPr/>
          <a:lstStyle/>
          <a:p>
            <a:fld id="{ECC46987-1D68-4199-95F9-B343B80E33C2}" type="slidenum">
              <a:rPr lang="en-US" smtClean="0"/>
              <a:t>15</a:t>
            </a:fld>
            <a:endParaRPr lang="en-US"/>
          </a:p>
        </p:txBody>
      </p:sp>
    </p:spTree>
    <p:extLst>
      <p:ext uri="{BB962C8B-B14F-4D97-AF65-F5344CB8AC3E}">
        <p14:creationId xmlns:p14="http://schemas.microsoft.com/office/powerpoint/2010/main" val="10359889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2FD1D-D8BF-C962-9CF4-A2CDF81237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6E64E0-59DB-A7ED-2972-E715FD0B20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B6DA72-941A-B6C7-5713-6AD53399450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EA04D8-63BB-C0D1-AF2F-4F19A733F9C5}"/>
              </a:ext>
            </a:extLst>
          </p:cNvPr>
          <p:cNvSpPr>
            <a:spLocks noGrp="1"/>
          </p:cNvSpPr>
          <p:nvPr>
            <p:ph type="sldNum" sz="quarter" idx="5"/>
          </p:nvPr>
        </p:nvSpPr>
        <p:spPr/>
        <p:txBody>
          <a:bodyPr/>
          <a:lstStyle/>
          <a:p>
            <a:fld id="{ECC46987-1D68-4199-95F9-B343B80E33C2}" type="slidenum">
              <a:rPr lang="en-US" smtClean="0"/>
              <a:t>16</a:t>
            </a:fld>
            <a:endParaRPr lang="en-US"/>
          </a:p>
        </p:txBody>
      </p:sp>
    </p:spTree>
    <p:extLst>
      <p:ext uri="{BB962C8B-B14F-4D97-AF65-F5344CB8AC3E}">
        <p14:creationId xmlns:p14="http://schemas.microsoft.com/office/powerpoint/2010/main" val="20683547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CAC6F-22F0-35A0-7C63-93C58B4B768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2A647C9-858C-BA84-8219-3FFEAFFE70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EFFAB3A-E107-8386-0B9A-222B06B8C1AB}"/>
              </a:ext>
            </a:extLst>
          </p:cNvPr>
          <p:cNvSpPr>
            <a:spLocks noGrp="1"/>
          </p:cNvSpPr>
          <p:nvPr>
            <p:ph type="dt" sz="half" idx="10"/>
          </p:nvPr>
        </p:nvSpPr>
        <p:spPr/>
        <p:txBody>
          <a:bodyPr/>
          <a:lstStyle/>
          <a:p>
            <a:fld id="{9E762BDF-2224-469D-87AB-6750BB846E30}" type="datetimeFigureOut">
              <a:rPr lang="en-US" smtClean="0"/>
              <a:t>3/8/2026</a:t>
            </a:fld>
            <a:endParaRPr lang="en-US"/>
          </a:p>
        </p:txBody>
      </p:sp>
      <p:sp>
        <p:nvSpPr>
          <p:cNvPr id="5" name="Footer Placeholder 4">
            <a:extLst>
              <a:ext uri="{FF2B5EF4-FFF2-40B4-BE49-F238E27FC236}">
                <a16:creationId xmlns:a16="http://schemas.microsoft.com/office/drawing/2014/main" id="{419065AB-4D77-D93D-A154-1AD155781D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4714B2-6A3A-ADBE-9043-E09B814372AC}"/>
              </a:ext>
            </a:extLst>
          </p:cNvPr>
          <p:cNvSpPr>
            <a:spLocks noGrp="1"/>
          </p:cNvSpPr>
          <p:nvPr>
            <p:ph type="sldNum" sz="quarter" idx="12"/>
          </p:nvPr>
        </p:nvSpPr>
        <p:spPr/>
        <p:txBody>
          <a:bodyPr/>
          <a:lstStyle/>
          <a:p>
            <a:fld id="{CA6B8CA9-C2AF-47C6-AE6C-9E80964C5271}" type="slidenum">
              <a:rPr lang="en-US" smtClean="0"/>
              <a:t>‹#›</a:t>
            </a:fld>
            <a:endParaRPr lang="en-US"/>
          </a:p>
        </p:txBody>
      </p:sp>
    </p:spTree>
    <p:extLst>
      <p:ext uri="{BB962C8B-B14F-4D97-AF65-F5344CB8AC3E}">
        <p14:creationId xmlns:p14="http://schemas.microsoft.com/office/powerpoint/2010/main" val="11189552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8C270-19A6-B9C0-E9F5-6E8004A26A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5D6CC0-E884-F28F-37FC-998AF0165DE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8F48B2-10F5-EF27-A21B-A04A0E8B12F4}"/>
              </a:ext>
            </a:extLst>
          </p:cNvPr>
          <p:cNvSpPr>
            <a:spLocks noGrp="1"/>
          </p:cNvSpPr>
          <p:nvPr>
            <p:ph type="dt" sz="half" idx="10"/>
          </p:nvPr>
        </p:nvSpPr>
        <p:spPr/>
        <p:txBody>
          <a:bodyPr/>
          <a:lstStyle/>
          <a:p>
            <a:fld id="{9E762BDF-2224-469D-87AB-6750BB846E30}" type="datetimeFigureOut">
              <a:rPr lang="en-US" smtClean="0"/>
              <a:t>3/8/2026</a:t>
            </a:fld>
            <a:endParaRPr lang="en-US"/>
          </a:p>
        </p:txBody>
      </p:sp>
      <p:sp>
        <p:nvSpPr>
          <p:cNvPr id="5" name="Footer Placeholder 4">
            <a:extLst>
              <a:ext uri="{FF2B5EF4-FFF2-40B4-BE49-F238E27FC236}">
                <a16:creationId xmlns:a16="http://schemas.microsoft.com/office/drawing/2014/main" id="{317B4EED-8802-C10E-4549-DC395FF074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BA218A-4C2A-63FA-361E-17069A1E435C}"/>
              </a:ext>
            </a:extLst>
          </p:cNvPr>
          <p:cNvSpPr>
            <a:spLocks noGrp="1"/>
          </p:cNvSpPr>
          <p:nvPr>
            <p:ph type="sldNum" sz="quarter" idx="12"/>
          </p:nvPr>
        </p:nvSpPr>
        <p:spPr/>
        <p:txBody>
          <a:bodyPr/>
          <a:lstStyle/>
          <a:p>
            <a:fld id="{CA6B8CA9-C2AF-47C6-AE6C-9E80964C5271}" type="slidenum">
              <a:rPr lang="en-US" smtClean="0"/>
              <a:t>‹#›</a:t>
            </a:fld>
            <a:endParaRPr lang="en-US"/>
          </a:p>
        </p:txBody>
      </p:sp>
    </p:spTree>
    <p:extLst>
      <p:ext uri="{BB962C8B-B14F-4D97-AF65-F5344CB8AC3E}">
        <p14:creationId xmlns:p14="http://schemas.microsoft.com/office/powerpoint/2010/main" val="17710043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CC10F-0890-B2F6-27C8-D364DEB7CC5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A65C80A-4F2D-00ED-0450-504007F2A5F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DF3FF5A-2B05-1BB0-53E4-960A8EDB392F}"/>
              </a:ext>
            </a:extLst>
          </p:cNvPr>
          <p:cNvSpPr>
            <a:spLocks noGrp="1"/>
          </p:cNvSpPr>
          <p:nvPr>
            <p:ph type="dt" sz="half" idx="10"/>
          </p:nvPr>
        </p:nvSpPr>
        <p:spPr/>
        <p:txBody>
          <a:bodyPr/>
          <a:lstStyle/>
          <a:p>
            <a:fld id="{9E762BDF-2224-469D-87AB-6750BB846E30}" type="datetimeFigureOut">
              <a:rPr lang="en-US" smtClean="0"/>
              <a:t>3/8/2026</a:t>
            </a:fld>
            <a:endParaRPr lang="en-US"/>
          </a:p>
        </p:txBody>
      </p:sp>
      <p:sp>
        <p:nvSpPr>
          <p:cNvPr id="5" name="Footer Placeholder 4">
            <a:extLst>
              <a:ext uri="{FF2B5EF4-FFF2-40B4-BE49-F238E27FC236}">
                <a16:creationId xmlns:a16="http://schemas.microsoft.com/office/drawing/2014/main" id="{4F1E87D2-C0DF-C27A-A4DA-EB58FE1E60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58C87D-9D7E-CC86-029E-6077BAB5D288}"/>
              </a:ext>
            </a:extLst>
          </p:cNvPr>
          <p:cNvSpPr>
            <a:spLocks noGrp="1"/>
          </p:cNvSpPr>
          <p:nvPr>
            <p:ph type="sldNum" sz="quarter" idx="12"/>
          </p:nvPr>
        </p:nvSpPr>
        <p:spPr/>
        <p:txBody>
          <a:bodyPr/>
          <a:lstStyle/>
          <a:p>
            <a:fld id="{CA6B8CA9-C2AF-47C6-AE6C-9E80964C5271}" type="slidenum">
              <a:rPr lang="en-US" smtClean="0"/>
              <a:t>‹#›</a:t>
            </a:fld>
            <a:endParaRPr lang="en-US"/>
          </a:p>
        </p:txBody>
      </p:sp>
    </p:spTree>
    <p:extLst>
      <p:ext uri="{BB962C8B-B14F-4D97-AF65-F5344CB8AC3E}">
        <p14:creationId xmlns:p14="http://schemas.microsoft.com/office/powerpoint/2010/main" val="9348955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0C104-2E8A-CAD7-1F04-ED25458709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C1938E-A579-419C-F7BC-921D48E116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4E7DBC9-8ACA-1131-DAC2-2028820413F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26340B4-E80D-98A4-C508-0C6B028B24A8}"/>
              </a:ext>
            </a:extLst>
          </p:cNvPr>
          <p:cNvSpPr>
            <a:spLocks noGrp="1"/>
          </p:cNvSpPr>
          <p:nvPr>
            <p:ph type="dt" sz="half" idx="10"/>
          </p:nvPr>
        </p:nvSpPr>
        <p:spPr/>
        <p:txBody>
          <a:bodyPr/>
          <a:lstStyle/>
          <a:p>
            <a:fld id="{9E762BDF-2224-469D-87AB-6750BB846E30}" type="datetimeFigureOut">
              <a:rPr lang="en-US" smtClean="0"/>
              <a:t>3/8/2026</a:t>
            </a:fld>
            <a:endParaRPr lang="en-US"/>
          </a:p>
        </p:txBody>
      </p:sp>
      <p:sp>
        <p:nvSpPr>
          <p:cNvPr id="6" name="Footer Placeholder 5">
            <a:extLst>
              <a:ext uri="{FF2B5EF4-FFF2-40B4-BE49-F238E27FC236}">
                <a16:creationId xmlns:a16="http://schemas.microsoft.com/office/drawing/2014/main" id="{E06927B8-DE9C-A51D-B4F4-3A1124D506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9DE849-B733-C8B3-C009-733A11012D2C}"/>
              </a:ext>
            </a:extLst>
          </p:cNvPr>
          <p:cNvSpPr>
            <a:spLocks noGrp="1"/>
          </p:cNvSpPr>
          <p:nvPr>
            <p:ph type="sldNum" sz="quarter" idx="12"/>
          </p:nvPr>
        </p:nvSpPr>
        <p:spPr/>
        <p:txBody>
          <a:bodyPr/>
          <a:lstStyle/>
          <a:p>
            <a:fld id="{CA6B8CA9-C2AF-47C6-AE6C-9E80964C5271}" type="slidenum">
              <a:rPr lang="en-US" smtClean="0"/>
              <a:t>‹#›</a:t>
            </a:fld>
            <a:endParaRPr lang="en-US"/>
          </a:p>
        </p:txBody>
      </p:sp>
    </p:spTree>
    <p:extLst>
      <p:ext uri="{BB962C8B-B14F-4D97-AF65-F5344CB8AC3E}">
        <p14:creationId xmlns:p14="http://schemas.microsoft.com/office/powerpoint/2010/main" val="32084169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AF8D0-500D-418E-2358-2CE44311520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CB96B00-6D5B-76CB-7419-28ED15AABC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6E5C95A-1B93-A57F-C3CC-6906B627810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06E7EB8-75C0-F651-A5B9-48E2F413D2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2A34891-F916-BA59-B069-11C7E27C90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ED606A6-2146-01DB-9281-68B53BAD2878}"/>
              </a:ext>
            </a:extLst>
          </p:cNvPr>
          <p:cNvSpPr>
            <a:spLocks noGrp="1"/>
          </p:cNvSpPr>
          <p:nvPr>
            <p:ph type="dt" sz="half" idx="10"/>
          </p:nvPr>
        </p:nvSpPr>
        <p:spPr/>
        <p:txBody>
          <a:bodyPr/>
          <a:lstStyle/>
          <a:p>
            <a:fld id="{9E762BDF-2224-469D-87AB-6750BB846E30}" type="datetimeFigureOut">
              <a:rPr lang="en-US" smtClean="0"/>
              <a:t>3/8/2026</a:t>
            </a:fld>
            <a:endParaRPr lang="en-US"/>
          </a:p>
        </p:txBody>
      </p:sp>
      <p:sp>
        <p:nvSpPr>
          <p:cNvPr id="8" name="Footer Placeholder 7">
            <a:extLst>
              <a:ext uri="{FF2B5EF4-FFF2-40B4-BE49-F238E27FC236}">
                <a16:creationId xmlns:a16="http://schemas.microsoft.com/office/drawing/2014/main" id="{5A30C9E6-6F30-70F3-02F2-33001D08592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A5DFED3-46F7-1765-5204-7C21D5B90C4D}"/>
              </a:ext>
            </a:extLst>
          </p:cNvPr>
          <p:cNvSpPr>
            <a:spLocks noGrp="1"/>
          </p:cNvSpPr>
          <p:nvPr>
            <p:ph type="sldNum" sz="quarter" idx="12"/>
          </p:nvPr>
        </p:nvSpPr>
        <p:spPr/>
        <p:txBody>
          <a:bodyPr/>
          <a:lstStyle/>
          <a:p>
            <a:fld id="{CA6B8CA9-C2AF-47C6-AE6C-9E80964C5271}" type="slidenum">
              <a:rPr lang="en-US" smtClean="0"/>
              <a:t>‹#›</a:t>
            </a:fld>
            <a:endParaRPr lang="en-US"/>
          </a:p>
        </p:txBody>
      </p:sp>
    </p:spTree>
    <p:extLst>
      <p:ext uri="{BB962C8B-B14F-4D97-AF65-F5344CB8AC3E}">
        <p14:creationId xmlns:p14="http://schemas.microsoft.com/office/powerpoint/2010/main" val="3806546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209BB-3CED-3A57-6821-80FF5EA30B6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3CD8FB7-1C88-C439-7C08-454D4980D047}"/>
              </a:ext>
            </a:extLst>
          </p:cNvPr>
          <p:cNvSpPr>
            <a:spLocks noGrp="1"/>
          </p:cNvSpPr>
          <p:nvPr>
            <p:ph type="dt" sz="half" idx="10"/>
          </p:nvPr>
        </p:nvSpPr>
        <p:spPr/>
        <p:txBody>
          <a:bodyPr/>
          <a:lstStyle/>
          <a:p>
            <a:fld id="{9E762BDF-2224-469D-87AB-6750BB846E30}" type="datetimeFigureOut">
              <a:rPr lang="en-US" smtClean="0"/>
              <a:t>3/8/2026</a:t>
            </a:fld>
            <a:endParaRPr lang="en-US"/>
          </a:p>
        </p:txBody>
      </p:sp>
      <p:sp>
        <p:nvSpPr>
          <p:cNvPr id="4" name="Footer Placeholder 3">
            <a:extLst>
              <a:ext uri="{FF2B5EF4-FFF2-40B4-BE49-F238E27FC236}">
                <a16:creationId xmlns:a16="http://schemas.microsoft.com/office/drawing/2014/main" id="{431702F0-451F-E5B1-43BD-883A35DB2A5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37EDB8E-2FAD-C223-5C02-F8E96AA9F124}"/>
              </a:ext>
            </a:extLst>
          </p:cNvPr>
          <p:cNvSpPr>
            <a:spLocks noGrp="1"/>
          </p:cNvSpPr>
          <p:nvPr>
            <p:ph type="sldNum" sz="quarter" idx="12"/>
          </p:nvPr>
        </p:nvSpPr>
        <p:spPr/>
        <p:txBody>
          <a:bodyPr/>
          <a:lstStyle/>
          <a:p>
            <a:fld id="{CA6B8CA9-C2AF-47C6-AE6C-9E80964C5271}" type="slidenum">
              <a:rPr lang="en-US" smtClean="0"/>
              <a:t>‹#›</a:t>
            </a:fld>
            <a:endParaRPr lang="en-US"/>
          </a:p>
        </p:txBody>
      </p:sp>
    </p:spTree>
    <p:extLst>
      <p:ext uri="{BB962C8B-B14F-4D97-AF65-F5344CB8AC3E}">
        <p14:creationId xmlns:p14="http://schemas.microsoft.com/office/powerpoint/2010/main" val="544484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3161C04-F92A-8ECE-0B34-52FE570A0184}"/>
              </a:ext>
            </a:extLst>
          </p:cNvPr>
          <p:cNvSpPr>
            <a:spLocks noGrp="1"/>
          </p:cNvSpPr>
          <p:nvPr>
            <p:ph type="dt" sz="half" idx="10"/>
          </p:nvPr>
        </p:nvSpPr>
        <p:spPr/>
        <p:txBody>
          <a:bodyPr/>
          <a:lstStyle/>
          <a:p>
            <a:fld id="{9E762BDF-2224-469D-87AB-6750BB846E30}" type="datetimeFigureOut">
              <a:rPr lang="en-US" smtClean="0"/>
              <a:t>3/8/2026</a:t>
            </a:fld>
            <a:endParaRPr lang="en-US"/>
          </a:p>
        </p:txBody>
      </p:sp>
      <p:sp>
        <p:nvSpPr>
          <p:cNvPr id="3" name="Footer Placeholder 2">
            <a:extLst>
              <a:ext uri="{FF2B5EF4-FFF2-40B4-BE49-F238E27FC236}">
                <a16:creationId xmlns:a16="http://schemas.microsoft.com/office/drawing/2014/main" id="{439085F6-AB00-D213-6711-174838754DE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2C3642B-E652-4D3A-DED8-1F402885AAE3}"/>
              </a:ext>
            </a:extLst>
          </p:cNvPr>
          <p:cNvSpPr>
            <a:spLocks noGrp="1"/>
          </p:cNvSpPr>
          <p:nvPr>
            <p:ph type="sldNum" sz="quarter" idx="12"/>
          </p:nvPr>
        </p:nvSpPr>
        <p:spPr/>
        <p:txBody>
          <a:bodyPr/>
          <a:lstStyle/>
          <a:p>
            <a:fld id="{CA6B8CA9-C2AF-47C6-AE6C-9E80964C5271}" type="slidenum">
              <a:rPr lang="en-US" smtClean="0"/>
              <a:t>‹#›</a:t>
            </a:fld>
            <a:endParaRPr lang="en-US"/>
          </a:p>
        </p:txBody>
      </p:sp>
    </p:spTree>
    <p:extLst>
      <p:ext uri="{BB962C8B-B14F-4D97-AF65-F5344CB8AC3E}">
        <p14:creationId xmlns:p14="http://schemas.microsoft.com/office/powerpoint/2010/main" val="17182243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5E8C4-9052-0ED0-E653-F52AFA4936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6C5C4CD-34B3-183B-33EE-C187362885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BAFFE7F-C8E0-4856-D92F-6DB9851940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CB6085-3263-495E-123C-0F84F1624149}"/>
              </a:ext>
            </a:extLst>
          </p:cNvPr>
          <p:cNvSpPr>
            <a:spLocks noGrp="1"/>
          </p:cNvSpPr>
          <p:nvPr>
            <p:ph type="dt" sz="half" idx="10"/>
          </p:nvPr>
        </p:nvSpPr>
        <p:spPr/>
        <p:txBody>
          <a:bodyPr/>
          <a:lstStyle/>
          <a:p>
            <a:fld id="{9E762BDF-2224-469D-87AB-6750BB846E30}" type="datetimeFigureOut">
              <a:rPr lang="en-US" smtClean="0"/>
              <a:t>3/8/2026</a:t>
            </a:fld>
            <a:endParaRPr lang="en-US"/>
          </a:p>
        </p:txBody>
      </p:sp>
      <p:sp>
        <p:nvSpPr>
          <p:cNvPr id="6" name="Footer Placeholder 5">
            <a:extLst>
              <a:ext uri="{FF2B5EF4-FFF2-40B4-BE49-F238E27FC236}">
                <a16:creationId xmlns:a16="http://schemas.microsoft.com/office/drawing/2014/main" id="{3151EB62-007A-5982-70F4-3BFB0633A6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F7A727-695F-6630-D38A-BFC7B540CB7A}"/>
              </a:ext>
            </a:extLst>
          </p:cNvPr>
          <p:cNvSpPr>
            <a:spLocks noGrp="1"/>
          </p:cNvSpPr>
          <p:nvPr>
            <p:ph type="sldNum" sz="quarter" idx="12"/>
          </p:nvPr>
        </p:nvSpPr>
        <p:spPr/>
        <p:txBody>
          <a:bodyPr/>
          <a:lstStyle/>
          <a:p>
            <a:fld id="{CA6B8CA9-C2AF-47C6-AE6C-9E80964C5271}" type="slidenum">
              <a:rPr lang="en-US" smtClean="0"/>
              <a:t>‹#›</a:t>
            </a:fld>
            <a:endParaRPr lang="en-US"/>
          </a:p>
        </p:txBody>
      </p:sp>
    </p:spTree>
    <p:extLst>
      <p:ext uri="{BB962C8B-B14F-4D97-AF65-F5344CB8AC3E}">
        <p14:creationId xmlns:p14="http://schemas.microsoft.com/office/powerpoint/2010/main" val="626753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5A1B3-A811-0F60-5371-B8DB37D352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3ED2CA6-8AED-ECED-DE93-D64672E904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8D8BF4C-3EF8-BFD3-2C11-A25FA2F2B7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7B5C1E-EEC1-4C7F-4BBB-A2DA9790C9DB}"/>
              </a:ext>
            </a:extLst>
          </p:cNvPr>
          <p:cNvSpPr>
            <a:spLocks noGrp="1"/>
          </p:cNvSpPr>
          <p:nvPr>
            <p:ph type="dt" sz="half" idx="10"/>
          </p:nvPr>
        </p:nvSpPr>
        <p:spPr/>
        <p:txBody>
          <a:bodyPr/>
          <a:lstStyle/>
          <a:p>
            <a:fld id="{9E762BDF-2224-469D-87AB-6750BB846E30}" type="datetimeFigureOut">
              <a:rPr lang="en-US" smtClean="0"/>
              <a:t>3/8/2026</a:t>
            </a:fld>
            <a:endParaRPr lang="en-US"/>
          </a:p>
        </p:txBody>
      </p:sp>
      <p:sp>
        <p:nvSpPr>
          <p:cNvPr id="6" name="Footer Placeholder 5">
            <a:extLst>
              <a:ext uri="{FF2B5EF4-FFF2-40B4-BE49-F238E27FC236}">
                <a16:creationId xmlns:a16="http://schemas.microsoft.com/office/drawing/2014/main" id="{BDDA85CA-CA73-8D5A-C434-16B5330172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F17444-08C1-9D0A-1FF6-626EC1186A16}"/>
              </a:ext>
            </a:extLst>
          </p:cNvPr>
          <p:cNvSpPr>
            <a:spLocks noGrp="1"/>
          </p:cNvSpPr>
          <p:nvPr>
            <p:ph type="sldNum" sz="quarter" idx="12"/>
          </p:nvPr>
        </p:nvSpPr>
        <p:spPr/>
        <p:txBody>
          <a:bodyPr/>
          <a:lstStyle/>
          <a:p>
            <a:fld id="{CA6B8CA9-C2AF-47C6-AE6C-9E80964C5271}" type="slidenum">
              <a:rPr lang="en-US" smtClean="0"/>
              <a:t>‹#›</a:t>
            </a:fld>
            <a:endParaRPr lang="en-US"/>
          </a:p>
        </p:txBody>
      </p:sp>
    </p:spTree>
    <p:extLst>
      <p:ext uri="{BB962C8B-B14F-4D97-AF65-F5344CB8AC3E}">
        <p14:creationId xmlns:p14="http://schemas.microsoft.com/office/powerpoint/2010/main" val="38870019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1DED2-3584-92CB-ADC3-7935CCD6BD7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02C0E04-F508-C922-9C54-94E3F8A41A5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974FDD-308C-BEE2-860C-069A43B308D8}"/>
              </a:ext>
            </a:extLst>
          </p:cNvPr>
          <p:cNvSpPr>
            <a:spLocks noGrp="1"/>
          </p:cNvSpPr>
          <p:nvPr>
            <p:ph type="dt" sz="half" idx="10"/>
          </p:nvPr>
        </p:nvSpPr>
        <p:spPr/>
        <p:txBody>
          <a:bodyPr/>
          <a:lstStyle/>
          <a:p>
            <a:fld id="{9E762BDF-2224-469D-87AB-6750BB846E30}" type="datetimeFigureOut">
              <a:rPr lang="en-US" smtClean="0"/>
              <a:t>3/8/2026</a:t>
            </a:fld>
            <a:endParaRPr lang="en-US"/>
          </a:p>
        </p:txBody>
      </p:sp>
      <p:sp>
        <p:nvSpPr>
          <p:cNvPr id="5" name="Footer Placeholder 4">
            <a:extLst>
              <a:ext uri="{FF2B5EF4-FFF2-40B4-BE49-F238E27FC236}">
                <a16:creationId xmlns:a16="http://schemas.microsoft.com/office/drawing/2014/main" id="{E3445F94-4289-2D78-0363-6700D04923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7A807E-BED6-A013-1A0E-9BE055D2DA5D}"/>
              </a:ext>
            </a:extLst>
          </p:cNvPr>
          <p:cNvSpPr>
            <a:spLocks noGrp="1"/>
          </p:cNvSpPr>
          <p:nvPr>
            <p:ph type="sldNum" sz="quarter" idx="12"/>
          </p:nvPr>
        </p:nvSpPr>
        <p:spPr/>
        <p:txBody>
          <a:bodyPr/>
          <a:lstStyle/>
          <a:p>
            <a:fld id="{CA6B8CA9-C2AF-47C6-AE6C-9E80964C5271}" type="slidenum">
              <a:rPr lang="en-US" smtClean="0"/>
              <a:t>‹#›</a:t>
            </a:fld>
            <a:endParaRPr lang="en-US"/>
          </a:p>
        </p:txBody>
      </p:sp>
    </p:spTree>
    <p:extLst>
      <p:ext uri="{BB962C8B-B14F-4D97-AF65-F5344CB8AC3E}">
        <p14:creationId xmlns:p14="http://schemas.microsoft.com/office/powerpoint/2010/main" val="17838317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886B95-871E-01E7-91F0-548B0B1AC76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6D4586A-A617-A48E-554D-FBF9244892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ED03EF-4446-6ECD-95EC-6BCC5C63293A}"/>
              </a:ext>
            </a:extLst>
          </p:cNvPr>
          <p:cNvSpPr>
            <a:spLocks noGrp="1"/>
          </p:cNvSpPr>
          <p:nvPr>
            <p:ph type="dt" sz="half" idx="10"/>
          </p:nvPr>
        </p:nvSpPr>
        <p:spPr/>
        <p:txBody>
          <a:bodyPr/>
          <a:lstStyle/>
          <a:p>
            <a:fld id="{9E762BDF-2224-469D-87AB-6750BB846E30}" type="datetimeFigureOut">
              <a:rPr lang="en-US" smtClean="0"/>
              <a:t>3/8/2026</a:t>
            </a:fld>
            <a:endParaRPr lang="en-US"/>
          </a:p>
        </p:txBody>
      </p:sp>
      <p:sp>
        <p:nvSpPr>
          <p:cNvPr id="5" name="Footer Placeholder 4">
            <a:extLst>
              <a:ext uri="{FF2B5EF4-FFF2-40B4-BE49-F238E27FC236}">
                <a16:creationId xmlns:a16="http://schemas.microsoft.com/office/drawing/2014/main" id="{62DD0438-86C6-0BA3-0413-310D28CC87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6CD548-B83F-9018-2FE7-33EB3C61EB9C}"/>
              </a:ext>
            </a:extLst>
          </p:cNvPr>
          <p:cNvSpPr>
            <a:spLocks noGrp="1"/>
          </p:cNvSpPr>
          <p:nvPr>
            <p:ph type="sldNum" sz="quarter" idx="12"/>
          </p:nvPr>
        </p:nvSpPr>
        <p:spPr/>
        <p:txBody>
          <a:bodyPr/>
          <a:lstStyle/>
          <a:p>
            <a:fld id="{CA6B8CA9-C2AF-47C6-AE6C-9E80964C5271}" type="slidenum">
              <a:rPr lang="en-US" smtClean="0"/>
              <a:t>‹#›</a:t>
            </a:fld>
            <a:endParaRPr lang="en-US"/>
          </a:p>
        </p:txBody>
      </p:sp>
    </p:spTree>
    <p:extLst>
      <p:ext uri="{BB962C8B-B14F-4D97-AF65-F5344CB8AC3E}">
        <p14:creationId xmlns:p14="http://schemas.microsoft.com/office/powerpoint/2010/main" val="42157489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1C5E77-F483-5293-6AF1-DDC1FC2945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549B2FF-A779-75F0-FAA8-769A785271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457D5B-2B77-18FE-125E-A74B6C057A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E762BDF-2224-469D-87AB-6750BB846E30}" type="datetimeFigureOut">
              <a:rPr lang="en-US" smtClean="0"/>
              <a:t>3/8/2026</a:t>
            </a:fld>
            <a:endParaRPr lang="en-US"/>
          </a:p>
        </p:txBody>
      </p:sp>
      <p:sp>
        <p:nvSpPr>
          <p:cNvPr id="5" name="Footer Placeholder 4">
            <a:extLst>
              <a:ext uri="{FF2B5EF4-FFF2-40B4-BE49-F238E27FC236}">
                <a16:creationId xmlns:a16="http://schemas.microsoft.com/office/drawing/2014/main" id="{5FC69D55-C2AE-D887-EE30-FCE245723C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23CECEF-0C7D-83D4-F36F-A9FEE39B9D9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A6B8CA9-C2AF-47C6-AE6C-9E80964C5271}" type="slidenum">
              <a:rPr lang="en-US" smtClean="0"/>
              <a:t>‹#›</a:t>
            </a:fld>
            <a:endParaRPr lang="en-US"/>
          </a:p>
        </p:txBody>
      </p:sp>
    </p:spTree>
    <p:extLst>
      <p:ext uri="{BB962C8B-B14F-4D97-AF65-F5344CB8AC3E}">
        <p14:creationId xmlns:p14="http://schemas.microsoft.com/office/powerpoint/2010/main" val="2984073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hyperlink" Target="https://www.kaggle.com/code/jhffmn/hoffman-australian-rental" TargetMode="External"/><Relationship Id="rId4" Type="http://schemas.openxmlformats.org/officeDocument/2006/relationships/hyperlink" Target="https://github.com/jhffmn82/gao-rental-project-support/blob/5ba141e5fe53fe344332f1f036b6251f1aff1fa9/hoffman-australian-rental.ipynb"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3346177D-ADC4-4968-B747-5CFCD390B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51EA68F3-7A13-4110-0588-B516A0699326}"/>
              </a:ext>
            </a:extLst>
          </p:cNvPr>
          <p:cNvSpPr>
            <a:spLocks noGrp="1"/>
          </p:cNvSpPr>
          <p:nvPr>
            <p:ph type="ctrTitle"/>
          </p:nvPr>
        </p:nvSpPr>
        <p:spPr>
          <a:xfrm>
            <a:off x="4154905" y="162272"/>
            <a:ext cx="7966483" cy="1667569"/>
          </a:xfrm>
        </p:spPr>
        <p:txBody>
          <a:bodyPr vert="horz" lIns="91440" tIns="45720" rIns="91440" bIns="45720" rtlCol="0" anchor="b">
            <a:normAutofit/>
          </a:bodyPr>
          <a:lstStyle/>
          <a:p>
            <a:r>
              <a:rPr lang="en-US" sz="3700" b="1" kern="1200" dirty="0">
                <a:solidFill>
                  <a:schemeClr val="tx1"/>
                </a:solidFill>
                <a:latin typeface="+mj-lt"/>
                <a:ea typeface="+mj-ea"/>
                <a:cs typeface="+mj-cs"/>
              </a:rPr>
              <a:t>What drives rental prices in Australia?</a:t>
            </a:r>
            <a:br>
              <a:rPr lang="en-US" sz="3700" b="1" kern="1200" dirty="0">
                <a:solidFill>
                  <a:schemeClr val="tx1"/>
                </a:solidFill>
                <a:latin typeface="+mj-lt"/>
                <a:ea typeface="+mj-ea"/>
                <a:cs typeface="+mj-cs"/>
              </a:rPr>
            </a:br>
            <a:endParaRPr lang="en-US" sz="3700" kern="1200" dirty="0">
              <a:solidFill>
                <a:schemeClr val="tx1"/>
              </a:solidFill>
              <a:latin typeface="+mj-lt"/>
              <a:ea typeface="+mj-ea"/>
              <a:cs typeface="+mj-cs"/>
            </a:endParaRPr>
          </a:p>
        </p:txBody>
      </p:sp>
      <p:pic>
        <p:nvPicPr>
          <p:cNvPr id="24" name="Graphic 23" descr="City">
            <a:extLst>
              <a:ext uri="{FF2B5EF4-FFF2-40B4-BE49-F238E27FC236}">
                <a16:creationId xmlns:a16="http://schemas.microsoft.com/office/drawing/2014/main" id="{3202D537-96E0-F496-1DB0-B19F8F6AA99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8130" y="1275070"/>
            <a:ext cx="3876165" cy="3876165"/>
          </a:xfrm>
          <a:prstGeom prst="rect">
            <a:avLst/>
          </a:prstGeom>
        </p:spPr>
      </p:pic>
      <p:sp>
        <p:nvSpPr>
          <p:cNvPr id="3" name="Subtitle 2">
            <a:extLst>
              <a:ext uri="{FF2B5EF4-FFF2-40B4-BE49-F238E27FC236}">
                <a16:creationId xmlns:a16="http://schemas.microsoft.com/office/drawing/2014/main" id="{9785FE79-6AC3-E051-0985-965E2814A1A9}"/>
              </a:ext>
            </a:extLst>
          </p:cNvPr>
          <p:cNvSpPr>
            <a:spLocks noGrp="1"/>
          </p:cNvSpPr>
          <p:nvPr>
            <p:ph type="subTitle" idx="1"/>
          </p:nvPr>
        </p:nvSpPr>
        <p:spPr>
          <a:xfrm>
            <a:off x="5128449" y="1829841"/>
            <a:ext cx="6019394" cy="3197464"/>
          </a:xfrm>
        </p:spPr>
        <p:txBody>
          <a:bodyPr vert="horz" lIns="91440" tIns="45720" rIns="91440" bIns="45720" rtlCol="0" anchor="t">
            <a:normAutofit/>
          </a:bodyPr>
          <a:lstStyle/>
          <a:p>
            <a:r>
              <a:rPr lang="en-US" sz="1800" dirty="0"/>
              <a:t>GAO Innovation Lab Interview Submission</a:t>
            </a:r>
            <a:br>
              <a:rPr lang="en-US" sz="1800" dirty="0"/>
            </a:br>
            <a:r>
              <a:rPr lang="en-US" sz="1800" b="1" dirty="0"/>
              <a:t>Justin Hoffman, </a:t>
            </a:r>
            <a:r>
              <a:rPr lang="en-US" sz="1800" dirty="0"/>
              <a:t>March 2026</a:t>
            </a:r>
          </a:p>
          <a:p>
            <a:br>
              <a:rPr lang="en-US" sz="2000" dirty="0"/>
            </a:br>
            <a:r>
              <a:rPr lang="en-US" sz="2000" dirty="0"/>
              <a:t>Ridge and Lasso regression on 6,757 rental listings</a:t>
            </a:r>
          </a:p>
          <a:p>
            <a:r>
              <a:rPr lang="en-US" sz="3600" dirty="0" err="1">
                <a:hlinkClick r:id="rId4"/>
              </a:rPr>
              <a:t>github</a:t>
            </a:r>
            <a:endParaRPr lang="en-US" sz="3600" dirty="0"/>
          </a:p>
          <a:p>
            <a:r>
              <a:rPr lang="en-US" sz="3600" dirty="0" err="1">
                <a:hlinkClick r:id="rId5"/>
              </a:rPr>
              <a:t>kaggle</a:t>
            </a:r>
            <a:endParaRPr lang="en-US" sz="3600" dirty="0"/>
          </a:p>
        </p:txBody>
      </p:sp>
      <p:sp>
        <p:nvSpPr>
          <p:cNvPr id="41" name="Rectangle 40">
            <a:extLst>
              <a:ext uri="{FF2B5EF4-FFF2-40B4-BE49-F238E27FC236}">
                <a16:creationId xmlns:a16="http://schemas.microsoft.com/office/drawing/2014/main" id="{0844A943-BF79-4FEA-ABB1-3BD54D2366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6437CC72-F4A8-4DC3-AFAB-D22C482C8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50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271287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8AF80BF-DB0D-88EA-69B4-099651B9ABAD}"/>
            </a:ext>
          </a:extLst>
        </p:cNvPr>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005A0AB4-BDE0-6E7E-E601-522BB6C624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57DC586F-C80A-9E38-5686-F8FFA4117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09119924-0574-BDF5-4C78-18BBBBB599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72AC172B-F77F-494C-1D89-AC6820777B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9E97D1FA-146F-9B48-067A-9AE0D722D2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3F753D-A14A-EED4-D333-0B89A93152EE}"/>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Project Overview</a:t>
            </a:r>
          </a:p>
        </p:txBody>
      </p:sp>
      <p:sp>
        <p:nvSpPr>
          <p:cNvPr id="4" name="Rectangle 1">
            <a:extLst>
              <a:ext uri="{FF2B5EF4-FFF2-40B4-BE49-F238E27FC236}">
                <a16:creationId xmlns:a16="http://schemas.microsoft.com/office/drawing/2014/main" id="{87760AE7-1895-7953-BC74-2FE1E715A22B}"/>
              </a:ext>
            </a:extLst>
          </p:cNvPr>
          <p:cNvSpPr>
            <a:spLocks noGrp="1" noChangeArrowheads="1"/>
          </p:cNvSpPr>
          <p:nvPr>
            <p:ph idx="1"/>
          </p:nvPr>
        </p:nvSpPr>
        <p:spPr bwMode="auto">
          <a:xfrm>
            <a:off x="934263" y="1788160"/>
            <a:ext cx="10323470" cy="477530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a:bodyPr>
          <a:lstStyle/>
          <a:p>
            <a:pPr marL="0" indent="0" fontAlgn="base">
              <a:buNone/>
            </a:pPr>
            <a:r>
              <a:rPr lang="en-US" sz="1800" b="1" dirty="0"/>
              <a:t>The Analytical Approach</a:t>
            </a:r>
          </a:p>
          <a:p>
            <a:pPr marL="0" indent="0" fontAlgn="base">
              <a:buNone/>
            </a:pPr>
            <a:r>
              <a:rPr lang="en-US" sz="1800" dirty="0"/>
              <a:t>Supervised learning was used to allow visibility into feature impact on price.</a:t>
            </a:r>
          </a:p>
          <a:p>
            <a:pPr marL="0" indent="0" fontAlgn="base">
              <a:buNone/>
            </a:pPr>
            <a:r>
              <a:rPr lang="en-US" sz="1800" b="1" dirty="0"/>
              <a:t>Modeling Choices</a:t>
            </a:r>
          </a:p>
          <a:p>
            <a:pPr marL="0" indent="0" fontAlgn="base">
              <a:buNone/>
            </a:pPr>
            <a:r>
              <a:rPr lang="en-US" sz="1800" dirty="0"/>
              <a:t>Ridge and Lasso regression, both regularized linear models implemented in scikit-learn.</a:t>
            </a:r>
          </a:p>
          <a:p>
            <a:pPr fontAlgn="base"/>
            <a:r>
              <a:rPr lang="en-US" sz="1800" b="1" dirty="0"/>
              <a:t>Linear models were the right choice here for two reasons. </a:t>
            </a:r>
            <a:r>
              <a:rPr lang="en-US" sz="1800" dirty="0"/>
              <a:t>First, they are interpretable. Second, many features have high cardinality.</a:t>
            </a:r>
          </a:p>
          <a:p>
            <a:pPr fontAlgn="base"/>
            <a:r>
              <a:rPr lang="en-US" sz="1800" b="1" dirty="0"/>
              <a:t>Why both? </a:t>
            </a:r>
            <a:r>
              <a:rPr lang="en-US" sz="1800" dirty="0"/>
              <a:t>Ridge shrinks all coefficients but keeps every predictor. Lasso can shrink coefficients all the way to zero.</a:t>
            </a:r>
          </a:p>
          <a:p>
            <a:pPr fontAlgn="base"/>
            <a:r>
              <a:rPr lang="en-US" sz="1800" b="1" dirty="0"/>
              <a:t>Cross-Validated Model Fitting: </a:t>
            </a:r>
            <a:r>
              <a:rPr lang="en-US" sz="1800" dirty="0"/>
              <a:t>For each candidate alpha, the training data is split into 5 folds, the model trains on 4 and validates on the remaining 1, rotating until every fold has been used. The alpha with the lowest average MAE across folds is selected, then the model is refit on the full training set and evaluated once on the held-out test set.</a:t>
            </a:r>
          </a:p>
          <a:p>
            <a:pPr fontAlgn="base"/>
            <a:r>
              <a:rPr lang="en-US" sz="1800" b="1" dirty="0"/>
              <a:t>Evaluating: </a:t>
            </a:r>
            <a:r>
              <a:rPr lang="en-US" sz="1800" dirty="0"/>
              <a:t>Final performance was evaluated on a held-out test set (25% of the data, stratified by state) using both log-scale metrics (</a:t>
            </a:r>
            <a:r>
              <a:rPr lang="en-US" sz="1800" dirty="0" err="1"/>
              <a:t>MAE_log</a:t>
            </a:r>
            <a:r>
              <a:rPr lang="en-US" sz="1800" dirty="0"/>
              <a:t>, R2_log) and original rent metrics (</a:t>
            </a:r>
            <a:r>
              <a:rPr lang="en-US" sz="1800" dirty="0" err="1"/>
              <a:t>MAE_rent</a:t>
            </a:r>
            <a:r>
              <a:rPr lang="en-US" sz="1800" dirty="0"/>
              <a:t>, R2_rent).</a:t>
            </a:r>
          </a:p>
        </p:txBody>
      </p:sp>
    </p:spTree>
    <p:extLst>
      <p:ext uri="{BB962C8B-B14F-4D97-AF65-F5344CB8AC3E}">
        <p14:creationId xmlns:p14="http://schemas.microsoft.com/office/powerpoint/2010/main" val="20267766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6FE9C18-D713-414B-9352-E83A4A381DEF}"/>
            </a:ext>
          </a:extLst>
        </p:cNvPr>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E21D641E-3A64-E97C-8DB5-486F206CFA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DABDA1A8-837C-985F-EE47-084AEFC4D8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07186F64-8192-502A-9CA8-4EAB19CFA6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BAF9089A-066C-4F4C-60B8-18FE46F0C0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4913E25C-B17F-5B35-E3A4-6B35FC0C23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A3A709E-26CF-DDA4-ECDF-29CD439B0BCF}"/>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Data Quality and Preprocessing</a:t>
            </a:r>
          </a:p>
        </p:txBody>
      </p:sp>
      <p:sp>
        <p:nvSpPr>
          <p:cNvPr id="4" name="Rectangle 1">
            <a:extLst>
              <a:ext uri="{FF2B5EF4-FFF2-40B4-BE49-F238E27FC236}">
                <a16:creationId xmlns:a16="http://schemas.microsoft.com/office/drawing/2014/main" id="{3A7D43EF-5E7B-D03F-9ED3-B1D9261D27E7}"/>
              </a:ext>
            </a:extLst>
          </p:cNvPr>
          <p:cNvSpPr>
            <a:spLocks noGrp="1" noChangeArrowheads="1"/>
          </p:cNvSpPr>
          <p:nvPr>
            <p:ph idx="1"/>
          </p:nvPr>
        </p:nvSpPr>
        <p:spPr bwMode="auto">
          <a:xfrm>
            <a:off x="459350" y="1833374"/>
            <a:ext cx="11224650" cy="477530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Autofit/>
          </a:bodyPr>
          <a:lstStyle/>
          <a:p>
            <a:pPr marL="0" indent="0" fontAlgn="base" latinLnBrk="1">
              <a:buNone/>
            </a:pPr>
            <a:r>
              <a:rPr lang="en-US" sz="1800" b="1" dirty="0"/>
              <a:t>Missing values:</a:t>
            </a:r>
            <a:r>
              <a:rPr lang="en-US" sz="1800" dirty="0"/>
              <a:t> Only amenities had nulls (318 rows, 4.7%)</a:t>
            </a:r>
          </a:p>
          <a:p>
            <a:pPr marL="0" indent="0" fontAlgn="base">
              <a:buNone/>
            </a:pPr>
            <a:r>
              <a:rPr lang="en-US" sz="1800" b="1" dirty="0"/>
              <a:t>Duplicates:</a:t>
            </a:r>
            <a:r>
              <a:rPr lang="en-US" sz="1800" dirty="0"/>
              <a:t> Found and removed 1 exact duplicate row. Removed.</a:t>
            </a:r>
          </a:p>
          <a:p>
            <a:pPr marL="0" indent="0" fontAlgn="base">
              <a:buNone/>
            </a:pPr>
            <a:r>
              <a:rPr lang="en-US" sz="1800" b="1" dirty="0"/>
              <a:t>Numeric outliers:</a:t>
            </a:r>
            <a:r>
              <a:rPr lang="en-US" sz="1800" dirty="0"/>
              <a:t> Filtered Z+3 values and observed manually then removed 9 implausible rows.</a:t>
            </a:r>
          </a:p>
          <a:p>
            <a:pPr marL="0" indent="0" fontAlgn="base">
              <a:buNone/>
            </a:pPr>
            <a:r>
              <a:rPr lang="en-US" sz="1800" b="1" dirty="0"/>
              <a:t>Postcode / state consistency:</a:t>
            </a:r>
            <a:r>
              <a:rPr lang="en-US" sz="1800" dirty="0"/>
              <a:t> Verified postcodes matched their assigned state using official Australia Post ranges. Zero mismatches found.</a:t>
            </a:r>
          </a:p>
          <a:p>
            <a:pPr marL="0" indent="0" fontAlgn="base">
              <a:buNone/>
            </a:pPr>
            <a:r>
              <a:rPr lang="en-US" sz="1800" b="1" dirty="0"/>
              <a:t>Redundant fields:</a:t>
            </a:r>
            <a:r>
              <a:rPr lang="en-US" sz="1800" dirty="0"/>
              <a:t> Suburb and locality were identical on every row. Locality was dropped.</a:t>
            </a:r>
          </a:p>
          <a:p>
            <a:pPr marL="0" indent="0" fontAlgn="base">
              <a:buNone/>
            </a:pPr>
            <a:r>
              <a:rPr lang="en-US" sz="1800" b="1" dirty="0"/>
              <a:t>High-cardinality identifiers:</a:t>
            </a:r>
            <a:r>
              <a:rPr lang="en-US" sz="1800" dirty="0"/>
              <a:t> Street address, title, description, and agency name are essentially unique per listing and were excluded from modeling.</a:t>
            </a:r>
          </a:p>
          <a:p>
            <a:pPr marL="0" indent="0" fontAlgn="base">
              <a:buNone/>
            </a:pPr>
            <a:r>
              <a:rPr lang="en-US" sz="1800" b="1" dirty="0"/>
              <a:t>Target variable: </a:t>
            </a:r>
            <a:r>
              <a:rPr lang="en-US" sz="1800" dirty="0"/>
              <a:t>Weekly rent (price) is right-skewed. Without transformation, those expensive listings would have outsized influence on the model. Applying log(1 + rent) compresses the upper tail and makes prediction errors more comparable across cheap and expensive properties.</a:t>
            </a:r>
          </a:p>
          <a:p>
            <a:pPr marL="0" indent="0" fontAlgn="base">
              <a:buNone/>
            </a:pPr>
            <a:r>
              <a:rPr lang="en-US" sz="1800" b="1" dirty="0"/>
              <a:t>Categorical Variables: </a:t>
            </a:r>
            <a:r>
              <a:rPr lang="en-US" sz="1800" dirty="0"/>
              <a:t>Postal code, state, and property type were one-hot encoded into a dummy variable.</a:t>
            </a:r>
          </a:p>
          <a:p>
            <a:pPr marL="0" indent="0" fontAlgn="base">
              <a:buNone/>
            </a:pPr>
            <a:endParaRPr lang="en-US" sz="1800" dirty="0"/>
          </a:p>
          <a:p>
            <a:pPr marL="0" indent="0" fontAlgn="base">
              <a:buNone/>
            </a:pPr>
            <a:br>
              <a:rPr lang="en-US" sz="1800" dirty="0"/>
            </a:br>
            <a:endParaRPr kumimoji="0" lang="en-US" altLang="en-US" sz="180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9026395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124CB60-2AF6-3CD6-A172-E5D4405209B0}"/>
            </a:ext>
          </a:extLst>
        </p:cNvPr>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8ACC535D-AAD3-4739-63B0-7B2FC37B1F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0B3EADB1-E585-BDD2-F7A7-147696BADA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DEE937E0-B4CE-E055-BDDC-E999DF0DAE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33358B70-C495-398E-01DB-12F8C642C8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255F1F6F-83DA-99FD-39FD-8CC26A797F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2CF36A-785D-2436-BB46-EFF64642F6ED}"/>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Exploratory Data Analysis</a:t>
            </a:r>
          </a:p>
        </p:txBody>
      </p:sp>
      <p:sp>
        <p:nvSpPr>
          <p:cNvPr id="4" name="Rectangle 1">
            <a:extLst>
              <a:ext uri="{FF2B5EF4-FFF2-40B4-BE49-F238E27FC236}">
                <a16:creationId xmlns:a16="http://schemas.microsoft.com/office/drawing/2014/main" id="{F6C72E1A-A4F5-8EE1-1365-569CABE97A4A}"/>
              </a:ext>
            </a:extLst>
          </p:cNvPr>
          <p:cNvSpPr>
            <a:spLocks noGrp="1" noChangeArrowheads="1"/>
          </p:cNvSpPr>
          <p:nvPr>
            <p:ph idx="1"/>
          </p:nvPr>
        </p:nvSpPr>
        <p:spPr bwMode="auto">
          <a:xfrm>
            <a:off x="403202" y="1840065"/>
            <a:ext cx="4183240" cy="477530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Autofit/>
          </a:bodyPr>
          <a:lstStyle/>
          <a:p>
            <a:pPr marL="0" indent="0" fontAlgn="base">
              <a:buNone/>
            </a:pPr>
            <a:r>
              <a:rPr lang="en-US" sz="1800" b="1" dirty="0"/>
              <a:t>Rent distribution:</a:t>
            </a:r>
            <a:r>
              <a:rPr lang="en-US" sz="1800" dirty="0"/>
              <a:t> Confirmed right skew and validated the log transformation</a:t>
            </a:r>
          </a:p>
          <a:p>
            <a:pPr marL="0" indent="0" fontAlgn="base">
              <a:buNone/>
            </a:pPr>
            <a:r>
              <a:rPr lang="en-US" sz="1800" b="1" dirty="0"/>
              <a:t>Rent by bedrooms and bathrooms:</a:t>
            </a:r>
            <a:r>
              <a:rPr lang="en-US" sz="1800" dirty="0"/>
              <a:t> Clear positive relationship with rent, motivating H1</a:t>
            </a:r>
          </a:p>
          <a:p>
            <a:pPr marL="0" indent="0" fontAlgn="base">
              <a:buNone/>
            </a:pPr>
            <a:r>
              <a:rPr lang="en-US" sz="1800" b="1" dirty="0"/>
              <a:t>Rent by state:</a:t>
            </a:r>
            <a:r>
              <a:rPr lang="en-US" sz="1800" dirty="0"/>
              <a:t> Substantial price variation across states, motivating H2 and training / test data and cross validation sets to be stratified by state.</a:t>
            </a:r>
          </a:p>
          <a:p>
            <a:pPr marL="0" indent="0" fontAlgn="base">
              <a:buNone/>
            </a:pPr>
            <a:r>
              <a:rPr lang="en-US" sz="1800" b="1" dirty="0"/>
              <a:t>Rent by amenity (unadjusted):</a:t>
            </a:r>
            <a:r>
              <a:rPr lang="en-US" sz="1800" dirty="0"/>
              <a:t> First look at which amenities appear associated with higher rent before any controls are added, motivating H3 and H4</a:t>
            </a:r>
          </a:p>
          <a:p>
            <a:pPr marL="0" indent="0" fontAlgn="base">
              <a:buNone/>
            </a:pPr>
            <a:r>
              <a:rPr lang="en-US" sz="1800" b="1" dirty="0"/>
              <a:t>Amenity count distribution:</a:t>
            </a:r>
            <a:r>
              <a:rPr lang="en-US" sz="1800" dirty="0"/>
              <a:t> Showed how amenity richness varies across listings, motivating the richness adjustment in H5</a:t>
            </a:r>
          </a:p>
        </p:txBody>
      </p:sp>
      <p:pic>
        <p:nvPicPr>
          <p:cNvPr id="7" name="Picture 6">
            <a:extLst>
              <a:ext uri="{FF2B5EF4-FFF2-40B4-BE49-F238E27FC236}">
                <a16:creationId xmlns:a16="http://schemas.microsoft.com/office/drawing/2014/main" id="{9526A46B-B30E-1D42-F4AE-AB3BF6BBA6FA}"/>
              </a:ext>
            </a:extLst>
          </p:cNvPr>
          <p:cNvPicPr>
            <a:picLocks noChangeAspect="1"/>
          </p:cNvPicPr>
          <p:nvPr/>
        </p:nvPicPr>
        <p:blipFill>
          <a:blip r:embed="rId3"/>
          <a:stretch>
            <a:fillRect/>
          </a:stretch>
        </p:blipFill>
        <p:spPr>
          <a:xfrm>
            <a:off x="4572611" y="1891970"/>
            <a:ext cx="7362206" cy="2133600"/>
          </a:xfrm>
          <a:prstGeom prst="rect">
            <a:avLst/>
          </a:prstGeom>
        </p:spPr>
      </p:pic>
      <p:pic>
        <p:nvPicPr>
          <p:cNvPr id="9" name="Picture 8">
            <a:extLst>
              <a:ext uri="{FF2B5EF4-FFF2-40B4-BE49-F238E27FC236}">
                <a16:creationId xmlns:a16="http://schemas.microsoft.com/office/drawing/2014/main" id="{D8A85B81-C109-390B-90D8-FFB0FCD6EFBE}"/>
              </a:ext>
            </a:extLst>
          </p:cNvPr>
          <p:cNvPicPr>
            <a:picLocks noChangeAspect="1"/>
          </p:cNvPicPr>
          <p:nvPr/>
        </p:nvPicPr>
        <p:blipFill>
          <a:blip r:embed="rId4"/>
          <a:stretch>
            <a:fillRect/>
          </a:stretch>
        </p:blipFill>
        <p:spPr>
          <a:xfrm>
            <a:off x="5403716" y="4025570"/>
            <a:ext cx="5699996" cy="2616860"/>
          </a:xfrm>
          <a:prstGeom prst="rect">
            <a:avLst/>
          </a:prstGeom>
        </p:spPr>
      </p:pic>
    </p:spTree>
    <p:extLst>
      <p:ext uri="{BB962C8B-B14F-4D97-AF65-F5344CB8AC3E}">
        <p14:creationId xmlns:p14="http://schemas.microsoft.com/office/powerpoint/2010/main" val="3128568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9329235-9AA6-D5BA-3069-BABD05E8E98D}"/>
            </a:ext>
          </a:extLst>
        </p:cNvPr>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25EB3F40-A90A-6037-E1F2-BCEF931D9F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19A963EA-5015-DA91-453C-AD2B7107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9747A6D7-9E7C-001A-6A99-27A3EF0D6B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325282EE-FC4E-CD84-F548-9D250BD1CB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F940C1F8-95D0-A740-45C8-5F0FD44AFB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909296-CC80-74E2-662A-B80AC24EDFC4}"/>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Hypothesis</a:t>
            </a:r>
          </a:p>
        </p:txBody>
      </p:sp>
      <p:sp>
        <p:nvSpPr>
          <p:cNvPr id="9" name="TextBox 8">
            <a:extLst>
              <a:ext uri="{FF2B5EF4-FFF2-40B4-BE49-F238E27FC236}">
                <a16:creationId xmlns:a16="http://schemas.microsoft.com/office/drawing/2014/main" id="{45145330-02A7-8783-7F4C-F39402D926A6}"/>
              </a:ext>
            </a:extLst>
          </p:cNvPr>
          <p:cNvSpPr txBox="1"/>
          <p:nvPr/>
        </p:nvSpPr>
        <p:spPr>
          <a:xfrm>
            <a:off x="459350" y="1801397"/>
            <a:ext cx="11448871" cy="646331"/>
          </a:xfrm>
          <a:prstGeom prst="rect">
            <a:avLst/>
          </a:prstGeom>
          <a:noFill/>
        </p:spPr>
        <p:txBody>
          <a:bodyPr wrap="square" rtlCol="0">
            <a:spAutoFit/>
          </a:bodyPr>
          <a:lstStyle/>
          <a:p>
            <a:r>
              <a:rPr lang="en-US" dirty="0"/>
              <a:t>Each hypothesis adds a new feature group to the model and is evaluated against the previous stage to measure how much predictive performance improves.</a:t>
            </a:r>
          </a:p>
        </p:txBody>
      </p:sp>
      <p:pic>
        <p:nvPicPr>
          <p:cNvPr id="11" name="Picture 10">
            <a:extLst>
              <a:ext uri="{FF2B5EF4-FFF2-40B4-BE49-F238E27FC236}">
                <a16:creationId xmlns:a16="http://schemas.microsoft.com/office/drawing/2014/main" id="{49CCB58C-2CAE-A0EE-BC16-99BFF907EE1E}"/>
              </a:ext>
            </a:extLst>
          </p:cNvPr>
          <p:cNvPicPr>
            <a:picLocks noChangeAspect="1"/>
          </p:cNvPicPr>
          <p:nvPr/>
        </p:nvPicPr>
        <p:blipFill>
          <a:blip r:embed="rId2"/>
          <a:stretch>
            <a:fillRect/>
          </a:stretch>
        </p:blipFill>
        <p:spPr>
          <a:xfrm>
            <a:off x="458708" y="2651693"/>
            <a:ext cx="11274584" cy="2850749"/>
          </a:xfrm>
          <a:prstGeom prst="rect">
            <a:avLst/>
          </a:prstGeom>
        </p:spPr>
      </p:pic>
      <p:sp>
        <p:nvSpPr>
          <p:cNvPr id="14" name="TextBox 13">
            <a:extLst>
              <a:ext uri="{FF2B5EF4-FFF2-40B4-BE49-F238E27FC236}">
                <a16:creationId xmlns:a16="http://schemas.microsoft.com/office/drawing/2014/main" id="{BBACB983-CB66-59C3-DCB1-CD315BD9C198}"/>
              </a:ext>
            </a:extLst>
          </p:cNvPr>
          <p:cNvSpPr txBox="1"/>
          <p:nvPr/>
        </p:nvSpPr>
        <p:spPr>
          <a:xfrm>
            <a:off x="459350" y="5706407"/>
            <a:ext cx="11448871" cy="646331"/>
          </a:xfrm>
          <a:prstGeom prst="rect">
            <a:avLst/>
          </a:prstGeom>
          <a:noFill/>
        </p:spPr>
        <p:txBody>
          <a:bodyPr wrap="square" rtlCol="0">
            <a:spAutoFit/>
          </a:bodyPr>
          <a:lstStyle/>
          <a:p>
            <a:r>
              <a:rPr lang="en-US" dirty="0"/>
              <a:t>Each hypothesis is then trained and tested, building a predictive model that answers the central question: What drives rental prices in Australia.</a:t>
            </a:r>
          </a:p>
        </p:txBody>
      </p:sp>
    </p:spTree>
    <p:extLst>
      <p:ext uri="{BB962C8B-B14F-4D97-AF65-F5344CB8AC3E}">
        <p14:creationId xmlns:p14="http://schemas.microsoft.com/office/powerpoint/2010/main" val="17348581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0BB491E-B43D-DC5D-DD1D-E70352ECBC52}"/>
            </a:ext>
          </a:extLst>
        </p:cNvPr>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BF08D842-811D-C9B3-DD6F-FB94343A49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95B746EB-5EDC-6B07-4FBE-10A5BA938C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B04530A2-1B7D-D89C-9D06-DDBC2F7037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365F531F-C69D-52A7-1C53-265200245B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2C5310D2-856B-F4C8-BEB4-9DFF6A1DE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D70EE6-CB22-0DA2-EE87-55C817656102}"/>
              </a:ext>
            </a:extLst>
          </p:cNvPr>
          <p:cNvSpPr>
            <a:spLocks noGrp="1"/>
          </p:cNvSpPr>
          <p:nvPr>
            <p:ph type="title"/>
          </p:nvPr>
        </p:nvSpPr>
        <p:spPr>
          <a:xfrm>
            <a:off x="1371599" y="294538"/>
            <a:ext cx="9895951" cy="1033669"/>
          </a:xfrm>
        </p:spPr>
        <p:txBody>
          <a:bodyPr>
            <a:normAutofit/>
          </a:bodyPr>
          <a:lstStyle/>
          <a:p>
            <a:r>
              <a:rPr lang="en-US" sz="4000" dirty="0">
                <a:solidFill>
                  <a:schemeClr val="bg1"/>
                </a:solidFill>
              </a:rPr>
              <a:t>H1 Fundamentals Drive Rent</a:t>
            </a:r>
          </a:p>
        </p:txBody>
      </p:sp>
      <p:sp>
        <p:nvSpPr>
          <p:cNvPr id="4" name="Rectangle 1">
            <a:extLst>
              <a:ext uri="{FF2B5EF4-FFF2-40B4-BE49-F238E27FC236}">
                <a16:creationId xmlns:a16="http://schemas.microsoft.com/office/drawing/2014/main" id="{8D79E4B3-6C1D-880D-183E-4BD8F8C1ADE7}"/>
              </a:ext>
            </a:extLst>
          </p:cNvPr>
          <p:cNvSpPr>
            <a:spLocks noGrp="1" noChangeArrowheads="1"/>
          </p:cNvSpPr>
          <p:nvPr>
            <p:ph idx="1"/>
          </p:nvPr>
        </p:nvSpPr>
        <p:spPr bwMode="auto">
          <a:xfrm>
            <a:off x="625151" y="1788160"/>
            <a:ext cx="6339592" cy="477530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Autofit/>
          </a:bodyPr>
          <a:lstStyle/>
          <a:p>
            <a:pPr marL="0" indent="0">
              <a:buNone/>
            </a:pPr>
            <a:r>
              <a:rPr lang="en-US" sz="1600" b="1" dirty="0"/>
              <a:t>Features used</a:t>
            </a:r>
            <a:r>
              <a:rPr lang="en-US" sz="1600" dirty="0"/>
              <a:t> Bedrooms, bathrooms, parking spaces, and property type only. No location, no amenities.</a:t>
            </a:r>
          </a:p>
          <a:p>
            <a:pPr marL="0" indent="0">
              <a:buNone/>
            </a:pPr>
            <a:r>
              <a:rPr lang="en-US" sz="1600" b="1" dirty="0"/>
              <a:t>Purpose</a:t>
            </a:r>
            <a:r>
              <a:rPr lang="en-US" sz="1600" dirty="0"/>
              <a:t> H1 establishes a baseline showing how much rent can be explained by physical property characteristics alone.</a:t>
            </a:r>
          </a:p>
          <a:p>
            <a:pPr marL="0" indent="0">
              <a:buNone/>
            </a:pPr>
            <a:r>
              <a:rPr lang="en-US" sz="1600" b="1" dirty="0"/>
              <a:t>Findings</a:t>
            </a:r>
            <a:endParaRPr lang="en-US" sz="1600" dirty="0"/>
          </a:p>
          <a:p>
            <a:r>
              <a:rPr lang="en-US" sz="1600" dirty="0"/>
              <a:t>Ridge and Lasso performed almost identically, both achieving R2_log = 0.358 and </a:t>
            </a:r>
            <a:r>
              <a:rPr lang="en-US" sz="1600" dirty="0" err="1"/>
              <a:t>MAE_rent</a:t>
            </a:r>
            <a:r>
              <a:rPr lang="en-US" sz="1600" dirty="0"/>
              <a:t> = 163 AUD/week</a:t>
            </a:r>
          </a:p>
          <a:p>
            <a:r>
              <a:rPr lang="en-US" sz="1600" dirty="0"/>
              <a:t>Predictions are compressed toward the middle . Cheap properties are overpredicted and expensive ones underpredicted</a:t>
            </a:r>
          </a:p>
          <a:p>
            <a:r>
              <a:rPr lang="en-US" sz="1600" dirty="0"/>
              <a:t>The limited performance points clearly to missing information, motivating the addition of location in H2</a:t>
            </a:r>
          </a:p>
          <a:p>
            <a:pPr marL="0" indent="0">
              <a:buNone/>
            </a:pPr>
            <a:r>
              <a:rPr lang="en-US" sz="1600" b="1" dirty="0"/>
              <a:t>Interpretation</a:t>
            </a:r>
            <a:r>
              <a:rPr lang="en-US" sz="1600" dirty="0"/>
              <a:t> Property fundamentals explain about a third of rent variation, which is meaningful but not sufficient. The model has no way to distinguish a 3-bedroom house in Sydney from one in rural Tasmania, which is exactly the gap H2 addresses.</a:t>
            </a:r>
          </a:p>
          <a:p>
            <a:pPr marL="0" indent="0">
              <a:buNone/>
            </a:pPr>
            <a:r>
              <a:rPr lang="en-US" sz="1600" b="1" dirty="0"/>
              <a:t>Property size alone explains some rent variation, but the model is too limited without knowing where the property is located.</a:t>
            </a:r>
            <a:endParaRPr lang="en-US" sz="1600" dirty="0"/>
          </a:p>
          <a:p>
            <a:pPr marL="0" indent="0" eaLnBrk="0" fontAlgn="base" hangingPunct="0">
              <a:lnSpc>
                <a:spcPct val="120000"/>
              </a:lnSpc>
              <a:spcBef>
                <a:spcPct val="0"/>
              </a:spcBef>
              <a:spcAft>
                <a:spcPts val="600"/>
              </a:spcAft>
              <a:buNone/>
            </a:pPr>
            <a:r>
              <a:rPr lang="en-US" sz="1800" dirty="0"/>
              <a:t>.</a:t>
            </a:r>
            <a:endParaRPr kumimoji="0" lang="en-US" altLang="en-US" sz="1800" b="1" i="0" u="none" strike="noStrike" cap="none" normalizeH="0" baseline="0" dirty="0">
              <a:ln>
                <a:noFill/>
              </a:ln>
              <a:effectLst/>
              <a:latin typeface="Arial" panose="020B0604020202020204" pitchFamily="34" charset="0"/>
            </a:endParaRPr>
          </a:p>
        </p:txBody>
      </p:sp>
      <p:pic>
        <p:nvPicPr>
          <p:cNvPr id="5" name="Picture 4">
            <a:extLst>
              <a:ext uri="{FF2B5EF4-FFF2-40B4-BE49-F238E27FC236}">
                <a16:creationId xmlns:a16="http://schemas.microsoft.com/office/drawing/2014/main" id="{5C13CE54-D763-FD15-7622-881655C3FB2E}"/>
              </a:ext>
            </a:extLst>
          </p:cNvPr>
          <p:cNvPicPr>
            <a:picLocks noChangeAspect="1"/>
          </p:cNvPicPr>
          <p:nvPr/>
        </p:nvPicPr>
        <p:blipFill>
          <a:blip r:embed="rId3"/>
          <a:stretch>
            <a:fillRect/>
          </a:stretch>
        </p:blipFill>
        <p:spPr>
          <a:xfrm>
            <a:off x="7203331" y="1781469"/>
            <a:ext cx="4623650" cy="1237473"/>
          </a:xfrm>
          <a:prstGeom prst="rect">
            <a:avLst/>
          </a:prstGeom>
        </p:spPr>
      </p:pic>
      <p:pic>
        <p:nvPicPr>
          <p:cNvPr id="7" name="Picture 6">
            <a:extLst>
              <a:ext uri="{FF2B5EF4-FFF2-40B4-BE49-F238E27FC236}">
                <a16:creationId xmlns:a16="http://schemas.microsoft.com/office/drawing/2014/main" id="{F53DA27A-63BF-5493-F78E-5FF92C10ED53}"/>
              </a:ext>
            </a:extLst>
          </p:cNvPr>
          <p:cNvPicPr>
            <a:picLocks noChangeAspect="1"/>
          </p:cNvPicPr>
          <p:nvPr/>
        </p:nvPicPr>
        <p:blipFill>
          <a:blip r:embed="rId4"/>
          <a:stretch>
            <a:fillRect/>
          </a:stretch>
        </p:blipFill>
        <p:spPr>
          <a:xfrm>
            <a:off x="6964743" y="3025633"/>
            <a:ext cx="5100827" cy="3832367"/>
          </a:xfrm>
          <a:prstGeom prst="rect">
            <a:avLst/>
          </a:prstGeom>
        </p:spPr>
      </p:pic>
    </p:spTree>
    <p:extLst>
      <p:ext uri="{BB962C8B-B14F-4D97-AF65-F5344CB8AC3E}">
        <p14:creationId xmlns:p14="http://schemas.microsoft.com/office/powerpoint/2010/main" val="15936594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28C8DE-3A3A-5FA3-BFE5-4F5E29BD2B8D}"/>
            </a:ext>
          </a:extLst>
        </p:cNvPr>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0F7F1859-8B82-D1DD-ED5C-BF88BD1344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1BC03248-294C-E50D-71CD-E69DC05D4B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B6C52DFC-1E8E-0D92-6E8C-CCC7FA6044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BE32B402-F12D-F9E4-3574-A317EE4CE5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AD9A231E-DC95-9234-B369-B65699E999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95690E-E8F6-6410-FA59-739C42DC7D59}"/>
              </a:ext>
            </a:extLst>
          </p:cNvPr>
          <p:cNvSpPr>
            <a:spLocks noGrp="1"/>
          </p:cNvSpPr>
          <p:nvPr>
            <p:ph type="title"/>
          </p:nvPr>
        </p:nvSpPr>
        <p:spPr>
          <a:xfrm>
            <a:off x="1371599" y="294538"/>
            <a:ext cx="9895951" cy="1033669"/>
          </a:xfrm>
        </p:spPr>
        <p:txBody>
          <a:bodyPr>
            <a:normAutofit/>
          </a:bodyPr>
          <a:lstStyle/>
          <a:p>
            <a:r>
              <a:rPr lang="en-US" sz="4000" dirty="0">
                <a:solidFill>
                  <a:schemeClr val="bg1"/>
                </a:solidFill>
              </a:rPr>
              <a:t>H2 Impact of Geography</a:t>
            </a:r>
          </a:p>
        </p:txBody>
      </p:sp>
      <p:sp>
        <p:nvSpPr>
          <p:cNvPr id="4" name="Rectangle 1">
            <a:extLst>
              <a:ext uri="{FF2B5EF4-FFF2-40B4-BE49-F238E27FC236}">
                <a16:creationId xmlns:a16="http://schemas.microsoft.com/office/drawing/2014/main" id="{35B003BF-F6B6-D4E4-29DA-7849ECB87141}"/>
              </a:ext>
            </a:extLst>
          </p:cNvPr>
          <p:cNvSpPr>
            <a:spLocks noGrp="1" noChangeArrowheads="1"/>
          </p:cNvSpPr>
          <p:nvPr>
            <p:ph idx="1"/>
          </p:nvPr>
        </p:nvSpPr>
        <p:spPr bwMode="auto">
          <a:xfrm>
            <a:off x="625151" y="1788160"/>
            <a:ext cx="6339592" cy="477530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Autofit/>
          </a:bodyPr>
          <a:lstStyle/>
          <a:p>
            <a:pPr marL="0" indent="0">
              <a:buNone/>
            </a:pPr>
            <a:r>
              <a:rPr lang="en-US" sz="1600" b="1" dirty="0"/>
              <a:t>Features used</a:t>
            </a:r>
            <a:r>
              <a:rPr lang="en-US" sz="1600" dirty="0"/>
              <a:t> H1 features + state and postcode. Suburb was tested but dropped due to sparsity.</a:t>
            </a:r>
          </a:p>
          <a:p>
            <a:pPr marL="0" indent="0">
              <a:buNone/>
            </a:pPr>
            <a:r>
              <a:rPr lang="en-US" sz="1600" b="1" dirty="0"/>
              <a:t>Purpose</a:t>
            </a:r>
            <a:r>
              <a:rPr lang="en-US" sz="1600" dirty="0"/>
              <a:t> H2 tests whether location explains additional rent variation beyond physical characteristics.</a:t>
            </a:r>
          </a:p>
          <a:p>
            <a:pPr marL="0" indent="0">
              <a:buNone/>
            </a:pPr>
            <a:r>
              <a:rPr lang="en-US" sz="1600" b="1" dirty="0"/>
              <a:t>Findings</a:t>
            </a:r>
            <a:endParaRPr lang="en-US" sz="1600" dirty="0"/>
          </a:p>
          <a:p>
            <a:r>
              <a:rPr lang="en-US" sz="1600" dirty="0"/>
              <a:t>Ridge R2_log jumps from 0.358 to 0.644 , the largest single gain in the project</a:t>
            </a:r>
          </a:p>
          <a:p>
            <a:r>
              <a:rPr lang="en-US" sz="1600" dirty="0" err="1"/>
              <a:t>MAE_rent</a:t>
            </a:r>
            <a:r>
              <a:rPr lang="en-US" sz="1600" dirty="0"/>
              <a:t> drops from 163 to 115.56 AUD/week</a:t>
            </a:r>
          </a:p>
          <a:p>
            <a:r>
              <a:rPr lang="en-US" sz="1600" dirty="0"/>
              <a:t>Ridge significantly outperforms Lasso (0.442), consistent with geographic signal being spread across postcode indicators</a:t>
            </a:r>
          </a:p>
          <a:p>
            <a:pPr marL="0" indent="0">
              <a:buNone/>
            </a:pPr>
            <a:r>
              <a:rPr lang="en-US" sz="1600" b="1" dirty="0"/>
              <a:t>Interpretation</a:t>
            </a:r>
            <a:r>
              <a:rPr lang="en-US" sz="1600" dirty="0"/>
              <a:t> Adding 1,000+ postcode indicators produces a dramatic improvement. Ridge handles this well because location signal is distributed across many postcodes rather than concentrated in a few. </a:t>
            </a:r>
          </a:p>
          <a:p>
            <a:pPr marL="0" indent="0">
              <a:buNone/>
            </a:pPr>
            <a:r>
              <a:rPr lang="en-US" sz="1600" b="1" dirty="0"/>
              <a:t>Location adds the biggest performance gain in the project </a:t>
            </a:r>
            <a:endParaRPr kumimoji="0" lang="en-US" altLang="en-US" sz="1800" b="1" i="0" u="none" strike="noStrike" cap="none" normalizeH="0" baseline="0" dirty="0">
              <a:ln>
                <a:noFill/>
              </a:ln>
              <a:effectLst/>
              <a:latin typeface="Arial" panose="020B0604020202020204" pitchFamily="34" charset="0"/>
            </a:endParaRPr>
          </a:p>
        </p:txBody>
      </p:sp>
      <p:pic>
        <p:nvPicPr>
          <p:cNvPr id="5" name="Picture 4">
            <a:extLst>
              <a:ext uri="{FF2B5EF4-FFF2-40B4-BE49-F238E27FC236}">
                <a16:creationId xmlns:a16="http://schemas.microsoft.com/office/drawing/2014/main" id="{691F0D66-95DF-A940-FC31-9F52D6033572}"/>
              </a:ext>
            </a:extLst>
          </p:cNvPr>
          <p:cNvPicPr>
            <a:picLocks noChangeAspect="1"/>
          </p:cNvPicPr>
          <p:nvPr/>
        </p:nvPicPr>
        <p:blipFill>
          <a:blip r:embed="rId3"/>
          <a:stretch>
            <a:fillRect/>
          </a:stretch>
        </p:blipFill>
        <p:spPr>
          <a:xfrm>
            <a:off x="7157990" y="1788160"/>
            <a:ext cx="4747919" cy="1239605"/>
          </a:xfrm>
          <a:prstGeom prst="rect">
            <a:avLst/>
          </a:prstGeom>
        </p:spPr>
      </p:pic>
      <p:pic>
        <p:nvPicPr>
          <p:cNvPr id="9" name="Picture 8">
            <a:extLst>
              <a:ext uri="{FF2B5EF4-FFF2-40B4-BE49-F238E27FC236}">
                <a16:creationId xmlns:a16="http://schemas.microsoft.com/office/drawing/2014/main" id="{9D63121E-CFB2-1D04-8807-4C3D0C2178BB}"/>
              </a:ext>
            </a:extLst>
          </p:cNvPr>
          <p:cNvPicPr>
            <a:picLocks noChangeAspect="1"/>
          </p:cNvPicPr>
          <p:nvPr/>
        </p:nvPicPr>
        <p:blipFill>
          <a:blip r:embed="rId4"/>
          <a:stretch>
            <a:fillRect/>
          </a:stretch>
        </p:blipFill>
        <p:spPr>
          <a:xfrm>
            <a:off x="6964743" y="3079670"/>
            <a:ext cx="4965616" cy="3726425"/>
          </a:xfrm>
          <a:prstGeom prst="rect">
            <a:avLst/>
          </a:prstGeom>
        </p:spPr>
      </p:pic>
    </p:spTree>
    <p:extLst>
      <p:ext uri="{BB962C8B-B14F-4D97-AF65-F5344CB8AC3E}">
        <p14:creationId xmlns:p14="http://schemas.microsoft.com/office/powerpoint/2010/main" val="38722649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A553CFD-CCBB-B83B-E16B-9A8835DCFFB3}"/>
            </a:ext>
          </a:extLst>
        </p:cNvPr>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C7D9AF79-39B6-DC52-A101-E713B16586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BB90C883-B811-3D48-17E0-525B2864F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252BD547-D8D7-DA9C-3DFF-CF9D8A7EB7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3DF4E902-387E-98AC-96BB-35010306C9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C93F140E-BE58-B2A9-96CC-C9874F3AB9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707151-0689-C62D-D2D0-A3DB0959F1B0}"/>
              </a:ext>
            </a:extLst>
          </p:cNvPr>
          <p:cNvSpPr>
            <a:spLocks noGrp="1"/>
          </p:cNvSpPr>
          <p:nvPr>
            <p:ph type="title"/>
          </p:nvPr>
        </p:nvSpPr>
        <p:spPr>
          <a:xfrm>
            <a:off x="1371599" y="294538"/>
            <a:ext cx="9895951" cy="1033669"/>
          </a:xfrm>
        </p:spPr>
        <p:txBody>
          <a:bodyPr>
            <a:normAutofit/>
          </a:bodyPr>
          <a:lstStyle/>
          <a:p>
            <a:r>
              <a:rPr lang="en-US" sz="4000" dirty="0">
                <a:solidFill>
                  <a:schemeClr val="bg1"/>
                </a:solidFill>
              </a:rPr>
              <a:t>H3 Amenities Add Signal</a:t>
            </a:r>
          </a:p>
        </p:txBody>
      </p:sp>
      <p:sp>
        <p:nvSpPr>
          <p:cNvPr id="4" name="Rectangle 1">
            <a:extLst>
              <a:ext uri="{FF2B5EF4-FFF2-40B4-BE49-F238E27FC236}">
                <a16:creationId xmlns:a16="http://schemas.microsoft.com/office/drawing/2014/main" id="{7E4E9868-C997-8098-2888-7733E88EE3FF}"/>
              </a:ext>
            </a:extLst>
          </p:cNvPr>
          <p:cNvSpPr>
            <a:spLocks noGrp="1" noChangeArrowheads="1"/>
          </p:cNvSpPr>
          <p:nvPr>
            <p:ph idx="1"/>
          </p:nvPr>
        </p:nvSpPr>
        <p:spPr bwMode="auto">
          <a:xfrm>
            <a:off x="625151" y="1788160"/>
            <a:ext cx="6339592" cy="477530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Autofit/>
          </a:bodyPr>
          <a:lstStyle/>
          <a:p>
            <a:pPr marL="0" indent="0">
              <a:buNone/>
            </a:pPr>
            <a:r>
              <a:rPr lang="en-US" sz="1600" b="1" dirty="0"/>
              <a:t>Features used</a:t>
            </a:r>
            <a:r>
              <a:rPr lang="en-US" sz="1600" dirty="0"/>
              <a:t> H2 features + individual amenity dummy variables tokenized from the amenities text field.</a:t>
            </a:r>
          </a:p>
          <a:p>
            <a:pPr marL="0" indent="0">
              <a:buNone/>
            </a:pPr>
            <a:r>
              <a:rPr lang="en-US" sz="1600" b="1" dirty="0"/>
              <a:t>Purpose</a:t>
            </a:r>
            <a:r>
              <a:rPr lang="en-US" sz="1600" dirty="0"/>
              <a:t> H3 tests whether amenities improve predictions beyond fundamentals and location.</a:t>
            </a:r>
          </a:p>
          <a:p>
            <a:pPr marL="0" indent="0">
              <a:buNone/>
            </a:pPr>
            <a:r>
              <a:rPr lang="en-US" sz="1600" b="1" dirty="0"/>
              <a:t>Findings</a:t>
            </a:r>
            <a:endParaRPr lang="en-US" sz="1600" dirty="0"/>
          </a:p>
          <a:p>
            <a:r>
              <a:rPr lang="en-US" sz="1600" dirty="0"/>
              <a:t>Ridge R2_log improves from 0.644 to 0.660</a:t>
            </a:r>
          </a:p>
          <a:p>
            <a:r>
              <a:rPr lang="en-US" sz="1600" dirty="0" err="1"/>
              <a:t>MAE_rent</a:t>
            </a:r>
            <a:r>
              <a:rPr lang="en-US" sz="1600" dirty="0"/>
              <a:t> drops from 115.56 to 112.51 AUD/week</a:t>
            </a:r>
          </a:p>
          <a:p>
            <a:r>
              <a:rPr lang="en-US" sz="1600" dirty="0"/>
              <a:t>Ridge continues to outperform Lasso (0.477), suggesting amenity signal is distributed rather than sparse</a:t>
            </a:r>
          </a:p>
          <a:p>
            <a:pPr marL="0" indent="0">
              <a:buNone/>
            </a:pPr>
            <a:r>
              <a:rPr lang="en-US" sz="1600" b="1" dirty="0"/>
              <a:t>Interpretation</a:t>
            </a:r>
            <a:r>
              <a:rPr lang="en-US" sz="1600" dirty="0"/>
              <a:t> Amenities add real but modest signal. The small improvement over H2 suggests that many amenities primarily reflect properties already located in higher-priced areas rather than adding independent value.</a:t>
            </a:r>
          </a:p>
          <a:p>
            <a:pPr marL="0" indent="0">
              <a:buNone/>
            </a:pPr>
            <a:r>
              <a:rPr lang="en-US" sz="1600" b="1" dirty="0"/>
              <a:t>Amenities improve the model, but property fundamentals and location still explain the majority of rent variation.</a:t>
            </a:r>
          </a:p>
        </p:txBody>
      </p:sp>
      <p:pic>
        <p:nvPicPr>
          <p:cNvPr id="6" name="Picture 5">
            <a:extLst>
              <a:ext uri="{FF2B5EF4-FFF2-40B4-BE49-F238E27FC236}">
                <a16:creationId xmlns:a16="http://schemas.microsoft.com/office/drawing/2014/main" id="{87AEE05A-3AAB-D0F5-C5E8-3549C96EB6E7}"/>
              </a:ext>
            </a:extLst>
          </p:cNvPr>
          <p:cNvPicPr>
            <a:picLocks noChangeAspect="1"/>
          </p:cNvPicPr>
          <p:nvPr/>
        </p:nvPicPr>
        <p:blipFill>
          <a:blip r:embed="rId3"/>
          <a:stretch>
            <a:fillRect/>
          </a:stretch>
        </p:blipFill>
        <p:spPr>
          <a:xfrm>
            <a:off x="7119187" y="1818984"/>
            <a:ext cx="4668939" cy="1264030"/>
          </a:xfrm>
          <a:prstGeom prst="rect">
            <a:avLst/>
          </a:prstGeom>
        </p:spPr>
      </p:pic>
      <p:pic>
        <p:nvPicPr>
          <p:cNvPr id="8" name="Picture 7">
            <a:extLst>
              <a:ext uri="{FF2B5EF4-FFF2-40B4-BE49-F238E27FC236}">
                <a16:creationId xmlns:a16="http://schemas.microsoft.com/office/drawing/2014/main" id="{0919548B-F8F2-4895-8E93-3726DAFCF932}"/>
              </a:ext>
            </a:extLst>
          </p:cNvPr>
          <p:cNvPicPr>
            <a:picLocks noChangeAspect="1"/>
          </p:cNvPicPr>
          <p:nvPr/>
        </p:nvPicPr>
        <p:blipFill>
          <a:blip r:embed="rId4"/>
          <a:stretch>
            <a:fillRect/>
          </a:stretch>
        </p:blipFill>
        <p:spPr>
          <a:xfrm>
            <a:off x="7001685" y="3143634"/>
            <a:ext cx="4903942" cy="3653745"/>
          </a:xfrm>
          <a:prstGeom prst="rect">
            <a:avLst/>
          </a:prstGeom>
        </p:spPr>
      </p:pic>
    </p:spTree>
    <p:extLst>
      <p:ext uri="{BB962C8B-B14F-4D97-AF65-F5344CB8AC3E}">
        <p14:creationId xmlns:p14="http://schemas.microsoft.com/office/powerpoint/2010/main" val="17012456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CAB032B-0099-C77A-4E5B-A273D9FF849A}"/>
            </a:ext>
          </a:extLst>
        </p:cNvPr>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9E5D935F-A542-EA61-A59C-B0D4AA7DE3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DC2454E6-EBBD-4168-203A-24BD626E57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DF57EE8A-780F-F6C3-7C6E-F45B228A9A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DE998388-27C5-CE8C-C347-6ADFDF2B6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EAD4B605-9BEE-5FBE-9637-B4B507FDB1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950914-17BA-D787-4734-8999618A43AC}"/>
              </a:ext>
            </a:extLst>
          </p:cNvPr>
          <p:cNvSpPr>
            <a:spLocks noGrp="1"/>
          </p:cNvSpPr>
          <p:nvPr>
            <p:ph type="title"/>
          </p:nvPr>
        </p:nvSpPr>
        <p:spPr>
          <a:xfrm>
            <a:off x="1371599" y="294538"/>
            <a:ext cx="9895951" cy="1033669"/>
          </a:xfrm>
        </p:spPr>
        <p:txBody>
          <a:bodyPr>
            <a:normAutofit/>
          </a:bodyPr>
          <a:lstStyle/>
          <a:p>
            <a:r>
              <a:rPr lang="en-US" sz="4000" dirty="0">
                <a:solidFill>
                  <a:schemeClr val="bg1"/>
                </a:solidFill>
              </a:rPr>
              <a:t>H4 Individual Amenities are Quantifiable</a:t>
            </a:r>
          </a:p>
        </p:txBody>
      </p:sp>
      <p:sp>
        <p:nvSpPr>
          <p:cNvPr id="4" name="Rectangle 1">
            <a:extLst>
              <a:ext uri="{FF2B5EF4-FFF2-40B4-BE49-F238E27FC236}">
                <a16:creationId xmlns:a16="http://schemas.microsoft.com/office/drawing/2014/main" id="{E2CA0531-B898-ABDE-8918-72190CA82BE4}"/>
              </a:ext>
            </a:extLst>
          </p:cNvPr>
          <p:cNvSpPr>
            <a:spLocks noGrp="1" noChangeArrowheads="1"/>
          </p:cNvSpPr>
          <p:nvPr>
            <p:ph idx="1"/>
          </p:nvPr>
        </p:nvSpPr>
        <p:spPr bwMode="auto">
          <a:xfrm>
            <a:off x="625151" y="1788160"/>
            <a:ext cx="5906278" cy="477530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Autofit/>
          </a:bodyPr>
          <a:lstStyle/>
          <a:p>
            <a:pPr marL="0" indent="0">
              <a:buNone/>
            </a:pPr>
            <a:r>
              <a:rPr lang="en-US" sz="1600" b="1" dirty="0"/>
              <a:t>Approach </a:t>
            </a:r>
            <a:r>
              <a:rPr lang="en-US" sz="1600" dirty="0"/>
              <a:t>Ridge outperformed Lasso for prediction throughout H1-H3, but Lasso's ability to shrink coefficients to zero makes it the right tool here. The goal is interpretation, not prediction, Lasso retained 25 amenities and zeroed out 55, giving a clean list of features that carry real signal.</a:t>
            </a:r>
          </a:p>
          <a:p>
            <a:pPr marL="0" indent="0">
              <a:buNone/>
            </a:pPr>
            <a:r>
              <a:rPr lang="en-US" sz="1600" b="1" dirty="0"/>
              <a:t>Findings </a:t>
            </a:r>
            <a:r>
              <a:rPr lang="en-US" sz="1600" dirty="0"/>
              <a:t>Strongest premiums: inground pool (+12.5%), deck (+5.7%), study (+4.3%), floorboards (+4.0%)Notable discounts: fully fenced (-5.0%), toilets: 2 (-2.7%), split-system air conditioning (-1.3%)</a:t>
            </a:r>
          </a:p>
          <a:p>
            <a:pPr marL="0" indent="0">
              <a:buNone/>
            </a:pPr>
            <a:r>
              <a:rPr lang="en-US" sz="1600" b="1" dirty="0"/>
              <a:t>Interpretation </a:t>
            </a:r>
            <a:r>
              <a:rPr lang="en-US" sz="1600" dirty="0"/>
              <a:t>Positive coefficients indicate amenities associated with higher rent after controlling for fundamentals and location. Negative coefficients are counterintuitive but make sense in context, features like fully fenced and split-system air conditioning are common in lower-priced suburban properties, so they carry a negative signal once location is already controlled for.</a:t>
            </a:r>
          </a:p>
          <a:p>
            <a:pPr marL="0" indent="0">
              <a:buNone/>
            </a:pPr>
            <a:r>
              <a:rPr lang="en-US" sz="1600" b="1" dirty="0"/>
              <a:t>Most amenities don't add distinct signal once location is accounted for, but premium lifestyle features like pools and decks do. </a:t>
            </a:r>
          </a:p>
        </p:txBody>
      </p:sp>
      <p:pic>
        <p:nvPicPr>
          <p:cNvPr id="9" name="Picture 8">
            <a:extLst>
              <a:ext uri="{FF2B5EF4-FFF2-40B4-BE49-F238E27FC236}">
                <a16:creationId xmlns:a16="http://schemas.microsoft.com/office/drawing/2014/main" id="{69F70D5B-7260-3AC8-9F99-78185B92184A}"/>
              </a:ext>
            </a:extLst>
          </p:cNvPr>
          <p:cNvPicPr>
            <a:picLocks noChangeAspect="1"/>
          </p:cNvPicPr>
          <p:nvPr/>
        </p:nvPicPr>
        <p:blipFill>
          <a:blip r:embed="rId3"/>
          <a:stretch>
            <a:fillRect/>
          </a:stretch>
        </p:blipFill>
        <p:spPr>
          <a:xfrm>
            <a:off x="6531429" y="1694101"/>
            <a:ext cx="5399329" cy="4963419"/>
          </a:xfrm>
          <a:prstGeom prst="rect">
            <a:avLst/>
          </a:prstGeom>
        </p:spPr>
      </p:pic>
    </p:spTree>
    <p:extLst>
      <p:ext uri="{BB962C8B-B14F-4D97-AF65-F5344CB8AC3E}">
        <p14:creationId xmlns:p14="http://schemas.microsoft.com/office/powerpoint/2010/main" val="13283326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D2E8B51-F279-CCAE-7FE0-A01F258F5F97}"/>
            </a:ext>
          </a:extLst>
        </p:cNvPr>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EF2786EA-9C10-F6AF-D44A-29ECC3259E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A40B7567-ABD2-3730-330E-34379BFF3A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FE41A759-87B3-BC2C-E84D-04EFCCC49D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C2E6E8D0-101F-C9DA-E765-DCC2EB1116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66517CA3-9C38-207A-A9E9-C0B6D63DB2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CC9678-7834-CCC3-B2CD-A55D51D013A4}"/>
              </a:ext>
            </a:extLst>
          </p:cNvPr>
          <p:cNvSpPr>
            <a:spLocks noGrp="1"/>
          </p:cNvSpPr>
          <p:nvPr>
            <p:ph type="title"/>
          </p:nvPr>
        </p:nvSpPr>
        <p:spPr>
          <a:xfrm>
            <a:off x="1371599" y="294538"/>
            <a:ext cx="9895951" cy="1033669"/>
          </a:xfrm>
        </p:spPr>
        <p:txBody>
          <a:bodyPr>
            <a:normAutofit/>
          </a:bodyPr>
          <a:lstStyle/>
          <a:p>
            <a:r>
              <a:rPr lang="en-US" sz="4000" dirty="0">
                <a:solidFill>
                  <a:schemeClr val="bg1"/>
                </a:solidFill>
              </a:rPr>
              <a:t>H5 Amenity Richness vs Specific Impact</a:t>
            </a:r>
          </a:p>
        </p:txBody>
      </p:sp>
      <p:sp>
        <p:nvSpPr>
          <p:cNvPr id="4" name="Rectangle 1">
            <a:extLst>
              <a:ext uri="{FF2B5EF4-FFF2-40B4-BE49-F238E27FC236}">
                <a16:creationId xmlns:a16="http://schemas.microsoft.com/office/drawing/2014/main" id="{3F655421-9491-4779-7AE1-98D26B99D91B}"/>
              </a:ext>
            </a:extLst>
          </p:cNvPr>
          <p:cNvSpPr>
            <a:spLocks noGrp="1" noChangeArrowheads="1"/>
          </p:cNvSpPr>
          <p:nvPr>
            <p:ph idx="1"/>
          </p:nvPr>
        </p:nvSpPr>
        <p:spPr bwMode="auto">
          <a:xfrm>
            <a:off x="625150" y="1788160"/>
            <a:ext cx="6257971" cy="477530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Autofit/>
          </a:bodyPr>
          <a:lstStyle/>
          <a:p>
            <a:pPr marL="0" indent="0">
              <a:buNone/>
            </a:pPr>
            <a:r>
              <a:rPr lang="en-US" sz="1600" b="1" dirty="0"/>
              <a:t>Features used</a:t>
            </a:r>
            <a:r>
              <a:rPr lang="en-US" sz="1600" dirty="0"/>
              <a:t> H3 features + </a:t>
            </a:r>
            <a:r>
              <a:rPr lang="en-US" sz="1600" dirty="0" err="1"/>
              <a:t>amenity_count</a:t>
            </a:r>
            <a:r>
              <a:rPr lang="en-US" sz="1600" dirty="0"/>
              <a:t> representing the total number of amenities listed per property.</a:t>
            </a:r>
          </a:p>
          <a:p>
            <a:pPr marL="0" indent="0">
              <a:buNone/>
            </a:pPr>
            <a:r>
              <a:rPr lang="en-US" sz="1600" b="1" dirty="0"/>
              <a:t>Purpose</a:t>
            </a:r>
            <a:r>
              <a:rPr lang="en-US" sz="1600" dirty="0"/>
              <a:t> H5 tests whether the general premium for feature-rich listings explains part of the individual amenity signal identified in H4.</a:t>
            </a:r>
          </a:p>
          <a:p>
            <a:pPr marL="0" indent="0">
              <a:buNone/>
            </a:pPr>
            <a:r>
              <a:rPr lang="en-US" sz="1600" b="1" dirty="0"/>
              <a:t>Findings</a:t>
            </a:r>
            <a:endParaRPr lang="en-US" sz="1600" dirty="0"/>
          </a:p>
          <a:p>
            <a:r>
              <a:rPr lang="en-US" sz="1600" dirty="0"/>
              <a:t>Model performance is essentially unchanged from H3: Ridge R2_log = 0.660, </a:t>
            </a:r>
            <a:r>
              <a:rPr lang="en-US" sz="1600" dirty="0" err="1"/>
              <a:t>MAE_rent</a:t>
            </a:r>
            <a:r>
              <a:rPr lang="en-US" sz="1600" dirty="0"/>
              <a:t> = 112.49 AUD/week</a:t>
            </a:r>
          </a:p>
          <a:p>
            <a:r>
              <a:rPr lang="en-US" sz="1600" dirty="0"/>
              <a:t>The negligible performance gain confirms </a:t>
            </a:r>
            <a:r>
              <a:rPr lang="en-US" sz="1600" dirty="0" err="1"/>
              <a:t>amenity_count</a:t>
            </a:r>
            <a:r>
              <a:rPr lang="en-US" sz="1600" dirty="0"/>
              <a:t> is not adding new predictive information , it is redistributing existing signal</a:t>
            </a:r>
          </a:p>
          <a:p>
            <a:r>
              <a:rPr lang="en-US" sz="1600" dirty="0"/>
              <a:t>Ridge continues to outperform Lasso (0.478)</a:t>
            </a:r>
          </a:p>
          <a:p>
            <a:pPr marL="0" indent="0">
              <a:buNone/>
            </a:pPr>
            <a:r>
              <a:rPr lang="en-US" sz="1600" b="1" dirty="0"/>
              <a:t>Interpretation</a:t>
            </a:r>
            <a:r>
              <a:rPr lang="en-US" sz="1600" dirty="0"/>
              <a:t> The flat performance confirms </a:t>
            </a:r>
            <a:r>
              <a:rPr lang="en-US" sz="1600" dirty="0" err="1"/>
              <a:t>amenity_count</a:t>
            </a:r>
            <a:r>
              <a:rPr lang="en-US" sz="1600" dirty="0"/>
              <a:t> is redistributing existing signal rather than adding new information. The value of H5 is interpretive — individual amenity coefficients now reflect performance relative to the general richness baseline.</a:t>
            </a:r>
          </a:p>
          <a:p>
            <a:pPr marL="0" indent="0">
              <a:buNone/>
            </a:pPr>
            <a:r>
              <a:rPr lang="en-US" sz="1600" b="1" dirty="0"/>
              <a:t>Ridge performance improvement was modest, but H5 allows us to isolate each amenity's impact above and beyond a typical listing.</a:t>
            </a:r>
            <a:endParaRPr lang="en-US" sz="1600" dirty="0"/>
          </a:p>
          <a:p>
            <a:pPr marL="0" indent="0" eaLnBrk="0" fontAlgn="base" hangingPunct="0">
              <a:lnSpc>
                <a:spcPct val="120000"/>
              </a:lnSpc>
              <a:spcBef>
                <a:spcPct val="0"/>
              </a:spcBef>
              <a:spcAft>
                <a:spcPts val="600"/>
              </a:spcAft>
              <a:buNone/>
            </a:pPr>
            <a:endParaRPr kumimoji="0" lang="en-US" altLang="en-US" sz="1400" b="1" i="0" u="none" strike="noStrike" cap="none" normalizeH="0" baseline="0" dirty="0">
              <a:ln>
                <a:noFill/>
              </a:ln>
              <a:effectLst/>
              <a:latin typeface="Arial" panose="020B0604020202020204" pitchFamily="34" charset="0"/>
            </a:endParaRPr>
          </a:p>
        </p:txBody>
      </p:sp>
      <p:pic>
        <p:nvPicPr>
          <p:cNvPr id="6" name="Picture 5">
            <a:extLst>
              <a:ext uri="{FF2B5EF4-FFF2-40B4-BE49-F238E27FC236}">
                <a16:creationId xmlns:a16="http://schemas.microsoft.com/office/drawing/2014/main" id="{AA0B5A7E-C2AC-CA7D-0476-13E88BF6DC11}"/>
              </a:ext>
            </a:extLst>
          </p:cNvPr>
          <p:cNvPicPr>
            <a:picLocks noChangeAspect="1"/>
          </p:cNvPicPr>
          <p:nvPr/>
        </p:nvPicPr>
        <p:blipFill>
          <a:blip r:embed="rId3"/>
          <a:stretch>
            <a:fillRect/>
          </a:stretch>
        </p:blipFill>
        <p:spPr>
          <a:xfrm>
            <a:off x="7253927" y="1788160"/>
            <a:ext cx="4379142" cy="1206934"/>
          </a:xfrm>
          <a:prstGeom prst="rect">
            <a:avLst/>
          </a:prstGeom>
        </p:spPr>
      </p:pic>
      <p:pic>
        <p:nvPicPr>
          <p:cNvPr id="9" name="Picture 8">
            <a:extLst>
              <a:ext uri="{FF2B5EF4-FFF2-40B4-BE49-F238E27FC236}">
                <a16:creationId xmlns:a16="http://schemas.microsoft.com/office/drawing/2014/main" id="{C23EF7D0-4E60-6C2C-4F6D-F6D098BBBDE5}"/>
              </a:ext>
            </a:extLst>
          </p:cNvPr>
          <p:cNvPicPr>
            <a:picLocks noChangeAspect="1"/>
          </p:cNvPicPr>
          <p:nvPr/>
        </p:nvPicPr>
        <p:blipFill>
          <a:blip r:embed="rId4"/>
          <a:stretch>
            <a:fillRect/>
          </a:stretch>
        </p:blipFill>
        <p:spPr>
          <a:xfrm>
            <a:off x="6883120" y="2956579"/>
            <a:ext cx="5120757" cy="3886289"/>
          </a:xfrm>
          <a:prstGeom prst="rect">
            <a:avLst/>
          </a:prstGeom>
        </p:spPr>
      </p:pic>
    </p:spTree>
    <p:extLst>
      <p:ext uri="{BB962C8B-B14F-4D97-AF65-F5344CB8AC3E}">
        <p14:creationId xmlns:p14="http://schemas.microsoft.com/office/powerpoint/2010/main" val="33563182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0788F4B-3DCF-D2F7-BC90-88B8FA1D7640}"/>
            </a:ext>
          </a:extLst>
        </p:cNvPr>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8A8AFE38-45D9-F260-5FA7-124497136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4F17C876-EF77-64E0-0537-EEB8AF79C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2C45682F-CF0D-3EC4-0D72-6509560CC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EE1D95BE-D6AF-A6B0-F6C2-0A88C021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19B327D9-6200-D530-AA93-8617E3DF8F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3A79A4-6001-175E-CDBC-DA252EC310A1}"/>
              </a:ext>
            </a:extLst>
          </p:cNvPr>
          <p:cNvSpPr>
            <a:spLocks noGrp="1"/>
          </p:cNvSpPr>
          <p:nvPr>
            <p:ph type="title"/>
          </p:nvPr>
        </p:nvSpPr>
        <p:spPr>
          <a:xfrm>
            <a:off x="1371599" y="294538"/>
            <a:ext cx="9895951" cy="1033669"/>
          </a:xfrm>
        </p:spPr>
        <p:txBody>
          <a:bodyPr>
            <a:normAutofit/>
          </a:bodyPr>
          <a:lstStyle/>
          <a:p>
            <a:r>
              <a:rPr lang="en-US" sz="4000" dirty="0">
                <a:solidFill>
                  <a:schemeClr val="bg1"/>
                </a:solidFill>
              </a:rPr>
              <a:t>H5 Amenity Richness - (cont..)</a:t>
            </a:r>
          </a:p>
        </p:txBody>
      </p:sp>
      <p:sp>
        <p:nvSpPr>
          <p:cNvPr id="4" name="Rectangle 1">
            <a:extLst>
              <a:ext uri="{FF2B5EF4-FFF2-40B4-BE49-F238E27FC236}">
                <a16:creationId xmlns:a16="http://schemas.microsoft.com/office/drawing/2014/main" id="{8DC53C39-8633-D69D-1EE7-CF738605D152}"/>
              </a:ext>
            </a:extLst>
          </p:cNvPr>
          <p:cNvSpPr>
            <a:spLocks noGrp="1" noChangeArrowheads="1"/>
          </p:cNvSpPr>
          <p:nvPr>
            <p:ph idx="1"/>
          </p:nvPr>
        </p:nvSpPr>
        <p:spPr bwMode="auto">
          <a:xfrm>
            <a:off x="289997" y="1747591"/>
            <a:ext cx="5502442" cy="467149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Autofit/>
          </a:bodyPr>
          <a:lstStyle/>
          <a:p>
            <a:pPr marL="0" indent="0">
              <a:buNone/>
            </a:pPr>
            <a:r>
              <a:rPr lang="en-US" sz="1600" b="1" dirty="0"/>
              <a:t>Approach</a:t>
            </a:r>
            <a:r>
              <a:rPr lang="en-US" sz="1600" dirty="0"/>
              <a:t> Using the H5 Lasso model, amenity coefficients are extracted and compared against H4 .</a:t>
            </a:r>
          </a:p>
          <a:p>
            <a:pPr marL="0" indent="0">
              <a:buNone/>
            </a:pPr>
            <a:r>
              <a:rPr lang="en-US" sz="1600" b="1" dirty="0"/>
              <a:t>Findings</a:t>
            </a:r>
            <a:endParaRPr lang="en-US" sz="1600" dirty="0"/>
          </a:p>
          <a:p>
            <a:r>
              <a:rPr lang="en-US" sz="1600" dirty="0"/>
              <a:t>Each additional listed amenity adds +0.87% predicted rent as a general baseline</a:t>
            </a:r>
          </a:p>
          <a:p>
            <a:r>
              <a:rPr lang="en-US" sz="1600" dirty="0"/>
              <a:t>Lasso retained 28 amenities and zeroed out 52</a:t>
            </a:r>
          </a:p>
          <a:p>
            <a:r>
              <a:rPr lang="en-US" sz="1600" dirty="0"/>
              <a:t>All positive premiums shrink relative to H4 and negative become more negative.</a:t>
            </a:r>
          </a:p>
          <a:p>
            <a:pPr marL="0" indent="0">
              <a:buNone/>
            </a:pPr>
            <a:r>
              <a:rPr lang="en-US" sz="1600" b="1" dirty="0"/>
              <a:t>Interpretation</a:t>
            </a:r>
            <a:r>
              <a:rPr lang="en-US" sz="1600" dirty="0"/>
              <a:t> Feature contributions were decomposed by attribute class: bedrooms, bathrooms, parking, property type, location, and amenities, by multiplying each feature's value by its coefficient across all test listings. Bedrooms account for 38% of total explained variation, bathrooms 23%, with location at 19% and amenities at 9%. </a:t>
            </a:r>
          </a:p>
          <a:p>
            <a:pPr marL="0" indent="0">
              <a:buNone/>
            </a:pPr>
            <a:r>
              <a:rPr lang="en-US" sz="1600" b="1" dirty="0"/>
              <a:t>The H5 decomposition reframes the project's central finding , it's not location that dominates rent, it's the size of the property.</a:t>
            </a:r>
            <a:endParaRPr lang="en-US" sz="1600" dirty="0"/>
          </a:p>
          <a:p>
            <a:pPr marL="0" indent="0" eaLnBrk="0" fontAlgn="base" hangingPunct="0">
              <a:lnSpc>
                <a:spcPct val="120000"/>
              </a:lnSpc>
              <a:spcBef>
                <a:spcPct val="0"/>
              </a:spcBef>
              <a:spcAft>
                <a:spcPts val="600"/>
              </a:spcAft>
              <a:buNone/>
            </a:pPr>
            <a:endParaRPr lang="en-US" sz="1400" b="1" dirty="0">
              <a:latin typeface="Arial" panose="020B0604020202020204" pitchFamily="34" charset="0"/>
            </a:endParaRPr>
          </a:p>
        </p:txBody>
      </p:sp>
      <p:pic>
        <p:nvPicPr>
          <p:cNvPr id="6" name="Picture 5">
            <a:extLst>
              <a:ext uri="{FF2B5EF4-FFF2-40B4-BE49-F238E27FC236}">
                <a16:creationId xmlns:a16="http://schemas.microsoft.com/office/drawing/2014/main" id="{0029438E-74DB-9DDA-2238-15EB31A47C5A}"/>
              </a:ext>
            </a:extLst>
          </p:cNvPr>
          <p:cNvPicPr>
            <a:picLocks noChangeAspect="1"/>
          </p:cNvPicPr>
          <p:nvPr/>
        </p:nvPicPr>
        <p:blipFill>
          <a:blip r:embed="rId3"/>
          <a:stretch>
            <a:fillRect/>
          </a:stretch>
        </p:blipFill>
        <p:spPr>
          <a:xfrm>
            <a:off x="5731318" y="1885279"/>
            <a:ext cx="6170685" cy="4127830"/>
          </a:xfrm>
          <a:prstGeom prst="rect">
            <a:avLst/>
          </a:prstGeom>
        </p:spPr>
      </p:pic>
    </p:spTree>
    <p:extLst>
      <p:ext uri="{BB962C8B-B14F-4D97-AF65-F5344CB8AC3E}">
        <p14:creationId xmlns:p14="http://schemas.microsoft.com/office/powerpoint/2010/main" val="12200624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A8BAAFF-76C3-35E9-A448-E84A20065B2A}"/>
            </a:ext>
          </a:extLst>
        </p:cNvPr>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C8C12BAF-28F0-2766-C12E-99585311B6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4E59E6F7-1E48-9555-B74D-3A18122F9F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03F06AEB-5076-E2E8-BAFF-D664B0DA4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9D5C72A4-0143-6AD7-7344-D6E7D476F7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466C92F2-6857-65A3-2641-2F25A782AA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6CCD51-2DEF-D9A3-1B7D-1909628C8CBE}"/>
              </a:ext>
            </a:extLst>
          </p:cNvPr>
          <p:cNvSpPr>
            <a:spLocks noGrp="1"/>
          </p:cNvSpPr>
          <p:nvPr>
            <p:ph type="title"/>
          </p:nvPr>
        </p:nvSpPr>
        <p:spPr>
          <a:xfrm>
            <a:off x="1371599" y="294538"/>
            <a:ext cx="9895951" cy="1033669"/>
          </a:xfrm>
        </p:spPr>
        <p:txBody>
          <a:bodyPr>
            <a:normAutofit/>
          </a:bodyPr>
          <a:lstStyle/>
          <a:p>
            <a:r>
              <a:rPr lang="en-US" sz="4000" dirty="0">
                <a:solidFill>
                  <a:schemeClr val="bg1"/>
                </a:solidFill>
              </a:rPr>
              <a:t>H5 – Model Interpretation</a:t>
            </a:r>
          </a:p>
        </p:txBody>
      </p:sp>
      <p:pic>
        <p:nvPicPr>
          <p:cNvPr id="5" name="Picture 4">
            <a:extLst>
              <a:ext uri="{FF2B5EF4-FFF2-40B4-BE49-F238E27FC236}">
                <a16:creationId xmlns:a16="http://schemas.microsoft.com/office/drawing/2014/main" id="{478B96D3-341F-968E-3F63-983FEB4D599F}"/>
              </a:ext>
            </a:extLst>
          </p:cNvPr>
          <p:cNvPicPr>
            <a:picLocks noChangeAspect="1"/>
          </p:cNvPicPr>
          <p:nvPr/>
        </p:nvPicPr>
        <p:blipFill>
          <a:blip r:embed="rId3"/>
          <a:stretch>
            <a:fillRect/>
          </a:stretch>
        </p:blipFill>
        <p:spPr>
          <a:xfrm>
            <a:off x="498548" y="1760786"/>
            <a:ext cx="11194899" cy="4933860"/>
          </a:xfrm>
          <a:prstGeom prst="rect">
            <a:avLst/>
          </a:prstGeom>
        </p:spPr>
      </p:pic>
    </p:spTree>
    <p:extLst>
      <p:ext uri="{BB962C8B-B14F-4D97-AF65-F5344CB8AC3E}">
        <p14:creationId xmlns:p14="http://schemas.microsoft.com/office/powerpoint/2010/main" val="14086053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CA22A0-596B-BDD7-32AF-DE7A8863C01C}"/>
            </a:ext>
          </a:extLst>
        </p:cNvPr>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5571F8B7-F843-C557-6E22-B66FF99613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53BC9C9A-0589-B954-0274-BB5771D8E6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8EDEB7F6-67E7-2078-DF7B-0B8752F779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84D3D643-5869-A096-65E8-A11E50FBCB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27BCBF39-FF99-7606-8A23-4DFE00A02D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3DAA74-6C7E-3A3C-BD9E-BF43DDE00FFD}"/>
              </a:ext>
            </a:extLst>
          </p:cNvPr>
          <p:cNvSpPr>
            <a:spLocks noGrp="1"/>
          </p:cNvSpPr>
          <p:nvPr>
            <p:ph type="title"/>
          </p:nvPr>
        </p:nvSpPr>
        <p:spPr>
          <a:xfrm>
            <a:off x="1371599" y="294538"/>
            <a:ext cx="9895951" cy="1033669"/>
          </a:xfrm>
        </p:spPr>
        <p:txBody>
          <a:bodyPr>
            <a:normAutofit/>
          </a:bodyPr>
          <a:lstStyle/>
          <a:p>
            <a:r>
              <a:rPr lang="en-US" sz="4000" dirty="0">
                <a:solidFill>
                  <a:schemeClr val="bg1"/>
                </a:solidFill>
              </a:rPr>
              <a:t>H5 – Model Interpretation</a:t>
            </a:r>
          </a:p>
        </p:txBody>
      </p:sp>
      <p:pic>
        <p:nvPicPr>
          <p:cNvPr id="4" name="Picture 3">
            <a:extLst>
              <a:ext uri="{FF2B5EF4-FFF2-40B4-BE49-F238E27FC236}">
                <a16:creationId xmlns:a16="http://schemas.microsoft.com/office/drawing/2014/main" id="{69897F18-047E-A48F-A1C3-38EC506E013D}"/>
              </a:ext>
            </a:extLst>
          </p:cNvPr>
          <p:cNvPicPr>
            <a:picLocks noChangeAspect="1"/>
          </p:cNvPicPr>
          <p:nvPr/>
        </p:nvPicPr>
        <p:blipFill>
          <a:blip r:embed="rId3"/>
          <a:stretch>
            <a:fillRect/>
          </a:stretch>
        </p:blipFill>
        <p:spPr>
          <a:xfrm>
            <a:off x="803537" y="1680707"/>
            <a:ext cx="11032074" cy="5094018"/>
          </a:xfrm>
          <a:prstGeom prst="rect">
            <a:avLst/>
          </a:prstGeom>
        </p:spPr>
      </p:pic>
    </p:spTree>
    <p:extLst>
      <p:ext uri="{BB962C8B-B14F-4D97-AF65-F5344CB8AC3E}">
        <p14:creationId xmlns:p14="http://schemas.microsoft.com/office/powerpoint/2010/main" val="19215658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61EC255-6212-4D26-1E02-4A7263510271}"/>
            </a:ext>
          </a:extLst>
        </p:cNvPr>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B6CCB6A1-A8CC-03FC-9F52-FFEE10651E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FED7B667-0577-8AFA-3E34-77467BDD12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A9065C68-46AB-A83C-7564-CAEBF25399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3E0032B2-F33B-FFDE-C8F6-F1FC5F6105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DFC143AC-F057-C2E2-C63C-29D3866E9E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DFA1F4-635F-DE6E-1B52-27DAFA2CF11D}"/>
              </a:ext>
            </a:extLst>
          </p:cNvPr>
          <p:cNvSpPr>
            <a:spLocks noGrp="1"/>
          </p:cNvSpPr>
          <p:nvPr>
            <p:ph type="title"/>
          </p:nvPr>
        </p:nvSpPr>
        <p:spPr>
          <a:xfrm>
            <a:off x="1371599" y="294538"/>
            <a:ext cx="9895951" cy="1033669"/>
          </a:xfrm>
        </p:spPr>
        <p:txBody>
          <a:bodyPr>
            <a:normAutofit/>
          </a:bodyPr>
          <a:lstStyle/>
          <a:p>
            <a:r>
              <a:rPr lang="en-US" sz="4000" dirty="0">
                <a:solidFill>
                  <a:schemeClr val="bg1"/>
                </a:solidFill>
              </a:rPr>
              <a:t>Summary - The Incremental Model Story</a:t>
            </a:r>
          </a:p>
        </p:txBody>
      </p:sp>
      <p:sp>
        <p:nvSpPr>
          <p:cNvPr id="4" name="Rectangle 1">
            <a:extLst>
              <a:ext uri="{FF2B5EF4-FFF2-40B4-BE49-F238E27FC236}">
                <a16:creationId xmlns:a16="http://schemas.microsoft.com/office/drawing/2014/main" id="{06AF6815-DF7C-0FF3-EE04-688624DF19D0}"/>
              </a:ext>
            </a:extLst>
          </p:cNvPr>
          <p:cNvSpPr>
            <a:spLocks noGrp="1" noChangeArrowheads="1"/>
          </p:cNvSpPr>
          <p:nvPr>
            <p:ph idx="1"/>
          </p:nvPr>
        </p:nvSpPr>
        <p:spPr bwMode="auto">
          <a:xfrm>
            <a:off x="540333" y="4428841"/>
            <a:ext cx="11111325" cy="175787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Autofit/>
          </a:bodyPr>
          <a:lstStyle/>
          <a:p>
            <a:pPr marL="0" indent="0" fontAlgn="base">
              <a:buNone/>
            </a:pPr>
            <a:r>
              <a:rPr lang="en-US" sz="1600" b="1" dirty="0"/>
              <a:t>Final Model Performance</a:t>
            </a:r>
          </a:p>
          <a:p>
            <a:pPr fontAlgn="base"/>
            <a:r>
              <a:rPr lang="en-US" sz="1600" dirty="0"/>
              <a:t>The final H5 Ridge model includes property fundamentals, geographic indicators, individual amenity dummies, and overall amenity richness. It achieves:</a:t>
            </a:r>
          </a:p>
          <a:p>
            <a:pPr fontAlgn="base"/>
            <a:r>
              <a:rPr lang="en-US" sz="1600" b="1" dirty="0"/>
              <a:t>R2_log = 0.660</a:t>
            </a:r>
            <a:r>
              <a:rPr lang="en-US" sz="1600" dirty="0"/>
              <a:t>, explaining about 66% of variation in log weekly rent</a:t>
            </a:r>
          </a:p>
          <a:p>
            <a:pPr fontAlgn="base"/>
            <a:r>
              <a:rPr lang="en-US" sz="1600" b="1" dirty="0" err="1"/>
              <a:t>MAE_rent</a:t>
            </a:r>
            <a:r>
              <a:rPr lang="en-US" sz="1600" b="1" dirty="0"/>
              <a:t> = 112.49 AUD/week</a:t>
            </a:r>
            <a:r>
              <a:rPr lang="en-US" sz="1600" dirty="0"/>
              <a:t>, meaning predictions are off by about 112 AUD/week on average</a:t>
            </a:r>
          </a:p>
          <a:p>
            <a:pPr fontAlgn="base"/>
            <a:r>
              <a:rPr lang="en-US" sz="1600" dirty="0"/>
              <a:t>Because the model is optimized on log-transformed rent, it fits the mid-market well but underpredicts the highest-rent listings. This is a known tradeoff when modeling skewed price data.</a:t>
            </a:r>
          </a:p>
          <a:p>
            <a:pPr marL="0" indent="0" eaLnBrk="0" fontAlgn="base" hangingPunct="0">
              <a:lnSpc>
                <a:spcPct val="120000"/>
              </a:lnSpc>
              <a:spcBef>
                <a:spcPct val="0"/>
              </a:spcBef>
              <a:spcAft>
                <a:spcPts val="600"/>
              </a:spcAft>
              <a:buNone/>
            </a:pPr>
            <a:endParaRPr kumimoji="0" lang="en-US" altLang="en-US" sz="1400" i="0" u="none" strike="noStrike" cap="none" normalizeH="0" baseline="0" dirty="0">
              <a:ln>
                <a:noFill/>
              </a:ln>
              <a:effectLst/>
              <a:latin typeface="Arial" panose="020B0604020202020204" pitchFamily="34" charset="0"/>
            </a:endParaRPr>
          </a:p>
        </p:txBody>
      </p:sp>
      <p:pic>
        <p:nvPicPr>
          <p:cNvPr id="5" name="Picture 4">
            <a:extLst>
              <a:ext uri="{FF2B5EF4-FFF2-40B4-BE49-F238E27FC236}">
                <a16:creationId xmlns:a16="http://schemas.microsoft.com/office/drawing/2014/main" id="{7A66BE81-179E-4E0D-7C25-FF9863E159BE}"/>
              </a:ext>
            </a:extLst>
          </p:cNvPr>
          <p:cNvPicPr>
            <a:picLocks noChangeAspect="1"/>
          </p:cNvPicPr>
          <p:nvPr/>
        </p:nvPicPr>
        <p:blipFill>
          <a:blip r:embed="rId3"/>
          <a:stretch>
            <a:fillRect/>
          </a:stretch>
        </p:blipFill>
        <p:spPr>
          <a:xfrm>
            <a:off x="787473" y="1735915"/>
            <a:ext cx="10329707" cy="2563369"/>
          </a:xfrm>
          <a:prstGeom prst="rect">
            <a:avLst/>
          </a:prstGeom>
        </p:spPr>
      </p:pic>
    </p:spTree>
    <p:extLst>
      <p:ext uri="{BB962C8B-B14F-4D97-AF65-F5344CB8AC3E}">
        <p14:creationId xmlns:p14="http://schemas.microsoft.com/office/powerpoint/2010/main" val="30939500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6E972CE-67A0-4016-321E-D94A8B392683}"/>
            </a:ext>
          </a:extLst>
        </p:cNvPr>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CDC33B5F-CB60-887A-9CA2-B43E05B789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DBD150F1-0661-03AC-EA75-17094B39D5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C4C34920-D06E-C822-8897-20CE41272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921F7869-80BA-4B04-2368-D33D79CB20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5EDAB4A5-885C-8C84-68DE-CA17F539EE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E7D049-F180-FF5C-1B12-3F2935D740A7}"/>
              </a:ext>
            </a:extLst>
          </p:cNvPr>
          <p:cNvSpPr>
            <a:spLocks noGrp="1"/>
          </p:cNvSpPr>
          <p:nvPr>
            <p:ph type="title"/>
          </p:nvPr>
        </p:nvSpPr>
        <p:spPr>
          <a:xfrm>
            <a:off x="1371599" y="294538"/>
            <a:ext cx="9895951" cy="1033669"/>
          </a:xfrm>
        </p:spPr>
        <p:txBody>
          <a:bodyPr>
            <a:normAutofit/>
          </a:bodyPr>
          <a:lstStyle/>
          <a:p>
            <a:r>
              <a:rPr lang="en-US" sz="4000" dirty="0">
                <a:solidFill>
                  <a:schemeClr val="bg1"/>
                </a:solidFill>
              </a:rPr>
              <a:t>Summary - Interpretation</a:t>
            </a:r>
          </a:p>
        </p:txBody>
      </p:sp>
      <p:sp>
        <p:nvSpPr>
          <p:cNvPr id="8" name="TextBox 7">
            <a:extLst>
              <a:ext uri="{FF2B5EF4-FFF2-40B4-BE49-F238E27FC236}">
                <a16:creationId xmlns:a16="http://schemas.microsoft.com/office/drawing/2014/main" id="{4EFE471F-76CF-A6B8-14CB-07C364EEDEA0}"/>
              </a:ext>
            </a:extLst>
          </p:cNvPr>
          <p:cNvSpPr txBox="1"/>
          <p:nvPr/>
        </p:nvSpPr>
        <p:spPr>
          <a:xfrm>
            <a:off x="180867" y="1779687"/>
            <a:ext cx="11610079" cy="4801314"/>
          </a:xfrm>
          <a:prstGeom prst="rect">
            <a:avLst/>
          </a:prstGeom>
          <a:noFill/>
        </p:spPr>
        <p:txBody>
          <a:bodyPr wrap="square" rtlCol="0">
            <a:spAutoFit/>
          </a:bodyPr>
          <a:lstStyle/>
          <a:p>
            <a:r>
              <a:rPr lang="en-US" b="1" dirty="0"/>
              <a:t>Amenity Contribution</a:t>
            </a:r>
            <a:r>
              <a:rPr lang="en-US" dirty="0"/>
              <a:t> Each additional amenity adds +0.87% rent as a general baseline. Beyond that, specific amenities retain independent effects — inground pools (+11.6%), decks (+4.7%), and balconies (+2.6%) after adjusting for richness. Features like fully fenced and split-system AC become more negative in H5, confirming they underperform even the general amenity baseline.</a:t>
            </a:r>
          </a:p>
          <a:p>
            <a:endParaRPr lang="en-US" dirty="0"/>
          </a:p>
          <a:p>
            <a:r>
              <a:rPr lang="en-US" b="1" dirty="0"/>
              <a:t>Central Finding</a:t>
            </a:r>
            <a:r>
              <a:rPr lang="en-US" dirty="0"/>
              <a:t> Three factors drive rent:</a:t>
            </a:r>
          </a:p>
          <a:p>
            <a:pPr marL="285750" indent="-285750">
              <a:buFont typeface="Arial" panose="020B0604020202020204" pitchFamily="34" charset="0"/>
              <a:buChar char="•"/>
            </a:pPr>
            <a:r>
              <a:rPr lang="en-US" b="1" dirty="0"/>
              <a:t>Property size dominates.</a:t>
            </a:r>
            <a:r>
              <a:rPr lang="en-US" dirty="0"/>
              <a:t> Bedrooms and bathrooms account for 61% of explained variation in the feature decomposition</a:t>
            </a:r>
          </a:p>
          <a:p>
            <a:pPr marL="285750" indent="-285750">
              <a:buFont typeface="Arial" panose="020B0604020202020204" pitchFamily="34" charset="0"/>
              <a:buChar char="•"/>
            </a:pPr>
            <a:r>
              <a:rPr lang="en-US" b="1" dirty="0"/>
              <a:t>Location adds substantial signal</a:t>
            </a:r>
            <a:r>
              <a:rPr lang="en-US" dirty="0"/>
              <a:t> but is more distributed than it first appears , spread across 1,000+ postcode indicators rather than a few key areas</a:t>
            </a:r>
          </a:p>
          <a:p>
            <a:pPr marL="285750" indent="-285750">
              <a:buFont typeface="Arial" panose="020B0604020202020204" pitchFamily="34" charset="0"/>
              <a:buChar char="•"/>
            </a:pPr>
            <a:r>
              <a:rPr lang="en-US" b="1" dirty="0"/>
              <a:t>Amenities contribute modestly.</a:t>
            </a:r>
            <a:r>
              <a:rPr lang="en-US" dirty="0"/>
              <a:t> Pools and decks are the clearest exceptions</a:t>
            </a:r>
          </a:p>
          <a:p>
            <a:endParaRPr lang="en-US" dirty="0"/>
          </a:p>
          <a:p>
            <a:r>
              <a:rPr lang="en-US" b="1" dirty="0"/>
              <a:t>Limitations</a:t>
            </a:r>
            <a:endParaRPr lang="en-US" dirty="0"/>
          </a:p>
          <a:p>
            <a:pPr marL="285750" indent="-285750">
              <a:buFont typeface="Arial" panose="020B0604020202020204" pitchFamily="34" charset="0"/>
              <a:buChar char="•"/>
            </a:pPr>
            <a:r>
              <a:rPr lang="en-US" dirty="0"/>
              <a:t>Postcode dummies are effective but not interpretable, spatial clustering would be cleaner</a:t>
            </a:r>
          </a:p>
          <a:p>
            <a:pPr marL="285750" indent="-285750">
              <a:buFont typeface="Arial" panose="020B0604020202020204" pitchFamily="34" charset="0"/>
              <a:buChar char="•"/>
            </a:pPr>
            <a:r>
              <a:rPr lang="en-US" dirty="0"/>
              <a:t>Amenity data is self-reported and may be incomplete or inconsistently labeled</a:t>
            </a:r>
          </a:p>
          <a:p>
            <a:br>
              <a:rPr lang="en-US" dirty="0"/>
            </a:br>
            <a:endParaRPr lang="en-US" dirty="0"/>
          </a:p>
        </p:txBody>
      </p:sp>
    </p:spTree>
    <p:extLst>
      <p:ext uri="{BB962C8B-B14F-4D97-AF65-F5344CB8AC3E}">
        <p14:creationId xmlns:p14="http://schemas.microsoft.com/office/powerpoint/2010/main" val="27664152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F704A94-FCFE-0DE0-86EB-11CF969B70CF}"/>
            </a:ext>
          </a:extLst>
        </p:cNvPr>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D5C122D0-F84B-CEBE-6FEE-4A1E6831DB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4A08BCF6-8F21-D713-98A1-F66F36CFE2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E57E8636-DF63-8590-5ABC-F63ECF6B7F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F6C8593F-EC67-7D8D-4927-F2A4078F8B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0F963688-155D-B87E-A33F-4FE5BDB44B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8DB144-1823-3B3F-8391-392ABEFDD91B}"/>
              </a:ext>
            </a:extLst>
          </p:cNvPr>
          <p:cNvSpPr>
            <a:spLocks noGrp="1"/>
          </p:cNvSpPr>
          <p:nvPr>
            <p:ph type="title"/>
          </p:nvPr>
        </p:nvSpPr>
        <p:spPr>
          <a:xfrm>
            <a:off x="1371599" y="294538"/>
            <a:ext cx="9895951" cy="1033669"/>
          </a:xfrm>
        </p:spPr>
        <p:txBody>
          <a:bodyPr>
            <a:normAutofit/>
          </a:bodyPr>
          <a:lstStyle/>
          <a:p>
            <a:r>
              <a:rPr lang="en-US" sz="4000" dirty="0">
                <a:solidFill>
                  <a:schemeClr val="bg1"/>
                </a:solidFill>
              </a:rPr>
              <a:t>Next Steps</a:t>
            </a:r>
          </a:p>
        </p:txBody>
      </p:sp>
      <p:sp>
        <p:nvSpPr>
          <p:cNvPr id="8" name="TextBox 7">
            <a:extLst>
              <a:ext uri="{FF2B5EF4-FFF2-40B4-BE49-F238E27FC236}">
                <a16:creationId xmlns:a16="http://schemas.microsoft.com/office/drawing/2014/main" id="{F8DDE718-C8CB-7C9C-CC8F-BF4C6B371ECD}"/>
              </a:ext>
            </a:extLst>
          </p:cNvPr>
          <p:cNvSpPr txBox="1"/>
          <p:nvPr/>
        </p:nvSpPr>
        <p:spPr>
          <a:xfrm>
            <a:off x="180867" y="1779687"/>
            <a:ext cx="11610079" cy="5293757"/>
          </a:xfrm>
          <a:prstGeom prst="rect">
            <a:avLst/>
          </a:prstGeom>
          <a:noFill/>
        </p:spPr>
        <p:txBody>
          <a:bodyPr wrap="square" rtlCol="0">
            <a:spAutoFit/>
          </a:bodyPr>
          <a:lstStyle/>
          <a:p>
            <a:r>
              <a:rPr lang="en-US" sz="1600" b="1" dirty="0"/>
              <a:t>H6: Geographic Clustering</a:t>
            </a:r>
          </a:p>
          <a:p>
            <a:r>
              <a:rPr lang="en-US" sz="1600" dirty="0"/>
              <a:t> Replace 1,093 postcode dummies and 8 state dummies with 20-50 geographic clusters derived from latitude and longitude using K-means. This reduces the feature space, handles sparse postcodes, and would likely improve model performance.</a:t>
            </a:r>
          </a:p>
          <a:p>
            <a:endParaRPr lang="en-US" sz="1600" dirty="0"/>
          </a:p>
          <a:p>
            <a:r>
              <a:rPr lang="en-US" sz="1600" b="1" dirty="0"/>
              <a:t>Implementation</a:t>
            </a:r>
            <a:r>
              <a:rPr lang="en-US" sz="1600" dirty="0"/>
              <a:t> involves fitting </a:t>
            </a:r>
            <a:r>
              <a:rPr lang="en-US" sz="1600" dirty="0" err="1"/>
              <a:t>KMeans</a:t>
            </a:r>
            <a:r>
              <a:rPr lang="en-US" sz="1600" dirty="0"/>
              <a:t> on </a:t>
            </a:r>
            <a:r>
              <a:rPr lang="en-US" sz="1600" dirty="0" err="1"/>
              <a:t>lat</a:t>
            </a:r>
            <a:r>
              <a:rPr lang="en-US" sz="1600" dirty="0"/>
              <a:t>/</a:t>
            </a:r>
            <a:r>
              <a:rPr lang="en-US" sz="1600" dirty="0" err="1"/>
              <a:t>lon</a:t>
            </a:r>
            <a:r>
              <a:rPr lang="en-US" sz="1600" dirty="0"/>
              <a:t> coordinates, assigning each listing a cluster number, one-hot encoding the clusters, and rerunning H2 against the postcode baseline.</a:t>
            </a:r>
          </a:p>
          <a:p>
            <a:endParaRPr lang="en-US" sz="1600" dirty="0"/>
          </a:p>
          <a:p>
            <a:r>
              <a:rPr lang="en-US" sz="1600" b="1" dirty="0"/>
              <a:t>Model effort </a:t>
            </a:r>
            <a:r>
              <a:rPr lang="en-US" sz="1600" dirty="0"/>
              <a:t>is low this is a straightforward </a:t>
            </a:r>
            <a:r>
              <a:rPr lang="en-US" sz="1600" dirty="0" err="1"/>
              <a:t>sklearn</a:t>
            </a:r>
            <a:r>
              <a:rPr lang="en-US" sz="1600" dirty="0"/>
              <a:t> implementation. Visualization is moderate since plotting clusters on a map of Australia would require folium or </a:t>
            </a:r>
            <a:r>
              <a:rPr lang="en-US" sz="1600" dirty="0" err="1"/>
              <a:t>geopandas</a:t>
            </a:r>
            <a:r>
              <a:rPr lang="en-US" sz="1600" dirty="0"/>
              <a:t>, which are outside the current stack.</a:t>
            </a:r>
          </a:p>
          <a:p>
            <a:endParaRPr lang="en-US" sz="1600" dirty="0"/>
          </a:p>
          <a:p>
            <a:r>
              <a:rPr lang="en-US" sz="1600" b="1" dirty="0"/>
              <a:t>H7: Residual Language Analysis</a:t>
            </a:r>
          </a:p>
          <a:p>
            <a:r>
              <a:rPr lang="en-US" sz="1600" dirty="0"/>
              <a:t>Apply TF-IDF to listing descriptions and score each word by Σ(weight² × residual). Words scoring high appear in listings that rent for more than the model expects, capturing prestige language and quality signals that structured features cannot see. </a:t>
            </a:r>
          </a:p>
          <a:p>
            <a:endParaRPr lang="en-US" sz="1600" dirty="0"/>
          </a:p>
          <a:p>
            <a:r>
              <a:rPr lang="en-US" sz="1600" b="1" dirty="0"/>
              <a:t>Implementation</a:t>
            </a:r>
            <a:r>
              <a:rPr lang="en-US" sz="1600" dirty="0"/>
              <a:t> involves retaining descriptions before cleaning, fitting </a:t>
            </a:r>
            <a:r>
              <a:rPr lang="en-US" sz="1600" dirty="0" err="1"/>
              <a:t>TfidfVectorizer</a:t>
            </a:r>
            <a:r>
              <a:rPr lang="en-US" sz="1600" dirty="0"/>
              <a:t>, computing H5 residuals, and ranking words by positive and negative impact.</a:t>
            </a:r>
          </a:p>
          <a:p>
            <a:endParaRPr lang="en-US" sz="1600" dirty="0"/>
          </a:p>
          <a:p>
            <a:r>
              <a:rPr lang="en-US" sz="1600" b="1" dirty="0"/>
              <a:t>Model effort </a:t>
            </a:r>
            <a:r>
              <a:rPr lang="en-US" sz="1600" dirty="0"/>
              <a:t>is low since </a:t>
            </a:r>
            <a:r>
              <a:rPr lang="en-US" sz="1600" dirty="0" err="1"/>
              <a:t>sklearn</a:t>
            </a:r>
            <a:r>
              <a:rPr lang="en-US" sz="1600" dirty="0"/>
              <a:t> and the residuals are already available. The word cloud visualization is also low effort using the </a:t>
            </a:r>
            <a:r>
              <a:rPr lang="en-US" sz="1600" dirty="0" err="1"/>
              <a:t>wordcloud</a:t>
            </a:r>
            <a:r>
              <a:rPr lang="en-US" sz="1600" dirty="0"/>
              <a:t> library with colors indicating impact direction. The main overhead is moderate bookkeeping since the description column was dropped early in cleaning and needs to be rejoined to the test set by index.</a:t>
            </a:r>
            <a:br>
              <a:rPr lang="en-US" dirty="0"/>
            </a:br>
            <a:endParaRPr lang="en-US" dirty="0"/>
          </a:p>
        </p:txBody>
      </p:sp>
    </p:spTree>
    <p:extLst>
      <p:ext uri="{BB962C8B-B14F-4D97-AF65-F5344CB8AC3E}">
        <p14:creationId xmlns:p14="http://schemas.microsoft.com/office/powerpoint/2010/main" val="42299337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738</TotalTime>
  <Words>1941</Words>
  <Application>Microsoft Office PowerPoint</Application>
  <PresentationFormat>Widescreen</PresentationFormat>
  <Paragraphs>131</Paragraphs>
  <Slides>16</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Aptos Display</vt:lpstr>
      <vt:lpstr>Arial</vt:lpstr>
      <vt:lpstr>Office Theme</vt:lpstr>
      <vt:lpstr>What drives rental prices in Australia? </vt:lpstr>
      <vt:lpstr>Project Overview</vt:lpstr>
      <vt:lpstr>Data Quality and Preprocessing</vt:lpstr>
      <vt:lpstr>Exploratory Data Analysis</vt:lpstr>
      <vt:lpstr>Hypothesis</vt:lpstr>
      <vt:lpstr>H1 Fundamentals Drive Rent</vt:lpstr>
      <vt:lpstr>H2 Impact of Geography</vt:lpstr>
      <vt:lpstr>H3 Amenities Add Signal</vt:lpstr>
      <vt:lpstr>H4 Individual Amenities are Quantifiable</vt:lpstr>
      <vt:lpstr>H5 Amenity Richness vs Specific Impact</vt:lpstr>
      <vt:lpstr>H5 Amenity Richness - (cont..)</vt:lpstr>
      <vt:lpstr>H5 – Model Interpretation</vt:lpstr>
      <vt:lpstr>H5 – Model Interpretation</vt:lpstr>
      <vt:lpstr>Summary - The Incremental Model Story</vt:lpstr>
      <vt:lpstr>Summary - Interpretation</vt:lpstr>
      <vt:lpstr>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Justin Hoffman</dc:creator>
  <cp:lastModifiedBy>Justin Hoffman</cp:lastModifiedBy>
  <cp:revision>5</cp:revision>
  <dcterms:created xsi:type="dcterms:W3CDTF">2026-03-07T04:19:55Z</dcterms:created>
  <dcterms:modified xsi:type="dcterms:W3CDTF">2026-03-08T13:57:12Z</dcterms:modified>
</cp:coreProperties>
</file>