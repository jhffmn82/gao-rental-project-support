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78" r:id="rId3"/>
    <p:sldId id="277" r:id="rId4"/>
    <p:sldId id="261" r:id="rId5"/>
    <p:sldId id="263" r:id="rId6"/>
    <p:sldId id="265" r:id="rId7"/>
    <p:sldId id="266" r:id="rId8"/>
    <p:sldId id="267" r:id="rId9"/>
    <p:sldId id="279" r:id="rId10"/>
    <p:sldId id="269" r:id="rId11"/>
    <p:sldId id="270" r:id="rId12"/>
    <p:sldId id="272" r:id="rId13"/>
    <p:sldId id="281" r:id="rId14"/>
    <p:sldId id="280" r:id="rId15"/>
    <p:sldId id="273" r:id="rId16"/>
    <p:sldId id="282"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72" autoAdjust="0"/>
    <p:restoredTop sz="94926" autoAdjust="0"/>
  </p:normalViewPr>
  <p:slideViewPr>
    <p:cSldViewPr snapToGrid="0">
      <p:cViewPr varScale="1">
        <p:scale>
          <a:sx n="48" d="100"/>
          <a:sy n="48" d="100"/>
        </p:scale>
        <p:origin x="1018" y="26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AE370A-B71F-458D-905D-A2AAB4DEDB5A}" type="datetimeFigureOut">
              <a:rPr lang="en-US" smtClean="0"/>
              <a:t>3/8/2026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C46987-1D68-4199-95F9-B343B80E33C2}" type="slidenum">
              <a:rPr lang="en-US" smtClean="0"/>
              <a:t>‹#›</a:t>
            </a:fld>
            <a:endParaRPr lang="en-US"/>
          </a:p>
        </p:txBody>
      </p:sp>
    </p:spTree>
    <p:extLst>
      <p:ext uri="{BB962C8B-B14F-4D97-AF65-F5344CB8AC3E}">
        <p14:creationId xmlns:p14="http://schemas.microsoft.com/office/powerpoint/2010/main" val="818228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C46987-1D68-4199-95F9-B343B80E33C2}" type="slidenum">
              <a:rPr lang="en-US" smtClean="0"/>
              <a:t>2</a:t>
            </a:fld>
            <a:endParaRPr lang="en-US"/>
          </a:p>
        </p:txBody>
      </p:sp>
    </p:spTree>
    <p:extLst>
      <p:ext uri="{BB962C8B-B14F-4D97-AF65-F5344CB8AC3E}">
        <p14:creationId xmlns:p14="http://schemas.microsoft.com/office/powerpoint/2010/main" val="32394034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C46987-1D68-4199-95F9-B343B80E33C2}" type="slidenum">
              <a:rPr lang="en-US" smtClean="0"/>
              <a:t>4</a:t>
            </a:fld>
            <a:endParaRPr lang="en-US"/>
          </a:p>
        </p:txBody>
      </p:sp>
    </p:spTree>
    <p:extLst>
      <p:ext uri="{BB962C8B-B14F-4D97-AF65-F5344CB8AC3E}">
        <p14:creationId xmlns:p14="http://schemas.microsoft.com/office/powerpoint/2010/main" val="28376340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C46987-1D68-4199-95F9-B343B80E33C2}" type="slidenum">
              <a:rPr lang="en-US" smtClean="0"/>
              <a:t>6</a:t>
            </a:fld>
            <a:endParaRPr lang="en-US"/>
          </a:p>
        </p:txBody>
      </p:sp>
    </p:spTree>
    <p:extLst>
      <p:ext uri="{BB962C8B-B14F-4D97-AF65-F5344CB8AC3E}">
        <p14:creationId xmlns:p14="http://schemas.microsoft.com/office/powerpoint/2010/main" val="18266269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C46987-1D68-4199-95F9-B343B80E33C2}" type="slidenum">
              <a:rPr lang="en-US" smtClean="0"/>
              <a:t>7</a:t>
            </a:fld>
            <a:endParaRPr lang="en-US"/>
          </a:p>
        </p:txBody>
      </p:sp>
    </p:spTree>
    <p:extLst>
      <p:ext uri="{BB962C8B-B14F-4D97-AF65-F5344CB8AC3E}">
        <p14:creationId xmlns:p14="http://schemas.microsoft.com/office/powerpoint/2010/main" val="924159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C46987-1D68-4199-95F9-B343B80E33C2}" type="slidenum">
              <a:rPr lang="en-US" smtClean="0"/>
              <a:t>8</a:t>
            </a:fld>
            <a:endParaRPr lang="en-US"/>
          </a:p>
        </p:txBody>
      </p:sp>
    </p:spTree>
    <p:extLst>
      <p:ext uri="{BB962C8B-B14F-4D97-AF65-F5344CB8AC3E}">
        <p14:creationId xmlns:p14="http://schemas.microsoft.com/office/powerpoint/2010/main" val="1600504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16EA7-6F65-E5C6-07D1-C02F9507A6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22DAD2-1B6F-AB69-6883-6DEDE75BD3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8ECBE4-09D3-70EB-0691-E6877A6ABE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2BEFA7-4808-9B9A-218D-65AA0366C4DA}"/>
              </a:ext>
            </a:extLst>
          </p:cNvPr>
          <p:cNvSpPr>
            <a:spLocks noGrp="1"/>
          </p:cNvSpPr>
          <p:nvPr>
            <p:ph type="sldNum" sz="quarter" idx="5"/>
          </p:nvPr>
        </p:nvSpPr>
        <p:spPr/>
        <p:txBody>
          <a:bodyPr/>
          <a:lstStyle/>
          <a:p>
            <a:fld id="{ECC46987-1D68-4199-95F9-B343B80E33C2}" type="slidenum">
              <a:rPr lang="en-US" smtClean="0"/>
              <a:t>9</a:t>
            </a:fld>
            <a:endParaRPr lang="en-US"/>
          </a:p>
        </p:txBody>
      </p:sp>
    </p:spTree>
    <p:extLst>
      <p:ext uri="{BB962C8B-B14F-4D97-AF65-F5344CB8AC3E}">
        <p14:creationId xmlns:p14="http://schemas.microsoft.com/office/powerpoint/2010/main" val="3843546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1E680-AAF0-E31F-F774-DE8BD9373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214CDF-8249-6CDC-6BCB-5F0BD7062D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1053D0-05D4-6AD9-0FCF-9E1269B050D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D53065-2C4C-0FB6-49D3-C4F778387AAF}"/>
              </a:ext>
            </a:extLst>
          </p:cNvPr>
          <p:cNvSpPr>
            <a:spLocks noGrp="1"/>
          </p:cNvSpPr>
          <p:nvPr>
            <p:ph type="sldNum" sz="quarter" idx="5"/>
          </p:nvPr>
        </p:nvSpPr>
        <p:spPr/>
        <p:txBody>
          <a:bodyPr/>
          <a:lstStyle/>
          <a:p>
            <a:fld id="{ECC46987-1D68-4199-95F9-B343B80E33C2}" type="slidenum">
              <a:rPr lang="en-US" smtClean="0"/>
              <a:t>10</a:t>
            </a:fld>
            <a:endParaRPr lang="en-US"/>
          </a:p>
        </p:txBody>
      </p:sp>
    </p:spTree>
    <p:extLst>
      <p:ext uri="{BB962C8B-B14F-4D97-AF65-F5344CB8AC3E}">
        <p14:creationId xmlns:p14="http://schemas.microsoft.com/office/powerpoint/2010/main" val="29671968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FEF36-A9C2-2BD5-6E8A-0D1FEE7CC4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6AEB3C-E5CC-AE90-405F-FC940DCCED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88583F-36B3-5F4A-AA42-6109F23389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5FCC6A-BC2C-4780-F347-03972C5BF21A}"/>
              </a:ext>
            </a:extLst>
          </p:cNvPr>
          <p:cNvSpPr>
            <a:spLocks noGrp="1"/>
          </p:cNvSpPr>
          <p:nvPr>
            <p:ph type="sldNum" sz="quarter" idx="5"/>
          </p:nvPr>
        </p:nvSpPr>
        <p:spPr/>
        <p:txBody>
          <a:bodyPr/>
          <a:lstStyle/>
          <a:p>
            <a:fld id="{ECC46987-1D68-4199-95F9-B343B80E33C2}" type="slidenum">
              <a:rPr lang="en-US" smtClean="0"/>
              <a:t>11</a:t>
            </a:fld>
            <a:endParaRPr lang="en-US"/>
          </a:p>
        </p:txBody>
      </p:sp>
    </p:spTree>
    <p:extLst>
      <p:ext uri="{BB962C8B-B14F-4D97-AF65-F5344CB8AC3E}">
        <p14:creationId xmlns:p14="http://schemas.microsoft.com/office/powerpoint/2010/main" val="17561739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3A731-C84E-404A-235C-DF53E24E13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8BED43-734F-B010-C213-AB59DFABE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9ED97D-6D6E-8AFA-95DF-8468C37A59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53C3D8-728A-3408-522E-F796B8D0D836}"/>
              </a:ext>
            </a:extLst>
          </p:cNvPr>
          <p:cNvSpPr>
            <a:spLocks noGrp="1"/>
          </p:cNvSpPr>
          <p:nvPr>
            <p:ph type="sldNum" sz="quarter" idx="5"/>
          </p:nvPr>
        </p:nvSpPr>
        <p:spPr/>
        <p:txBody>
          <a:bodyPr/>
          <a:lstStyle/>
          <a:p>
            <a:fld id="{ECC46987-1D68-4199-95F9-B343B80E33C2}" type="slidenum">
              <a:rPr lang="en-US" smtClean="0"/>
              <a:t>12</a:t>
            </a:fld>
            <a:endParaRPr lang="en-US"/>
          </a:p>
        </p:txBody>
      </p:sp>
    </p:spTree>
    <p:extLst>
      <p:ext uri="{BB962C8B-B14F-4D97-AF65-F5344CB8AC3E}">
        <p14:creationId xmlns:p14="http://schemas.microsoft.com/office/powerpoint/2010/main" val="6157744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B66A1-A976-F03A-E1ED-0F6916782D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C79A17-268C-2D58-0611-F4B6946020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6ABB65-2373-78FF-4AB9-9582EB85C4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C38E6A2-EAF4-116D-7DFD-8E8145BAE9D8}"/>
              </a:ext>
            </a:extLst>
          </p:cNvPr>
          <p:cNvSpPr>
            <a:spLocks noGrp="1"/>
          </p:cNvSpPr>
          <p:nvPr>
            <p:ph type="sldNum" sz="quarter" idx="5"/>
          </p:nvPr>
        </p:nvSpPr>
        <p:spPr/>
        <p:txBody>
          <a:bodyPr/>
          <a:lstStyle/>
          <a:p>
            <a:fld id="{ECC46987-1D68-4199-95F9-B343B80E33C2}" type="slidenum">
              <a:rPr lang="en-US" smtClean="0"/>
              <a:t>13</a:t>
            </a:fld>
            <a:endParaRPr lang="en-US"/>
          </a:p>
        </p:txBody>
      </p:sp>
    </p:spTree>
    <p:extLst>
      <p:ext uri="{BB962C8B-B14F-4D97-AF65-F5344CB8AC3E}">
        <p14:creationId xmlns:p14="http://schemas.microsoft.com/office/powerpoint/2010/main" val="40595192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B5F6-A27B-70EF-EF06-C6D79BC769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7F1207-BF49-2040-CCB2-3A255FC6ED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A3D66E-8C6B-CDD6-E19B-649BCE9DD0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D203B9A-56EA-0C4D-8882-CB8DD37C1F93}"/>
              </a:ext>
            </a:extLst>
          </p:cNvPr>
          <p:cNvSpPr>
            <a:spLocks noGrp="1"/>
          </p:cNvSpPr>
          <p:nvPr>
            <p:ph type="sldNum" sz="quarter" idx="5"/>
          </p:nvPr>
        </p:nvSpPr>
        <p:spPr/>
        <p:txBody>
          <a:bodyPr/>
          <a:lstStyle/>
          <a:p>
            <a:fld id="{ECC46987-1D68-4199-95F9-B343B80E33C2}" type="slidenum">
              <a:rPr lang="en-US" smtClean="0"/>
              <a:t>14</a:t>
            </a:fld>
            <a:endParaRPr lang="en-US"/>
          </a:p>
        </p:txBody>
      </p:sp>
    </p:spTree>
    <p:extLst>
      <p:ext uri="{BB962C8B-B14F-4D97-AF65-F5344CB8AC3E}">
        <p14:creationId xmlns:p14="http://schemas.microsoft.com/office/powerpoint/2010/main" val="16380257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55C4A-B872-34E4-38E8-86B648F423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202B1C-57B2-C59E-CC14-E0A04A0B58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0A2FA0-30F5-1F10-6638-B9269BB6C7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9B7724-0A8A-A68E-FD58-891D63F8C2E4}"/>
              </a:ext>
            </a:extLst>
          </p:cNvPr>
          <p:cNvSpPr>
            <a:spLocks noGrp="1"/>
          </p:cNvSpPr>
          <p:nvPr>
            <p:ph type="sldNum" sz="quarter" idx="5"/>
          </p:nvPr>
        </p:nvSpPr>
        <p:spPr/>
        <p:txBody>
          <a:bodyPr/>
          <a:lstStyle/>
          <a:p>
            <a:fld id="{ECC46987-1D68-4199-95F9-B343B80E33C2}" type="slidenum">
              <a:rPr lang="en-US" smtClean="0"/>
              <a:t>15</a:t>
            </a:fld>
            <a:endParaRPr lang="en-US"/>
          </a:p>
        </p:txBody>
      </p:sp>
    </p:spTree>
    <p:extLst>
      <p:ext uri="{BB962C8B-B14F-4D97-AF65-F5344CB8AC3E}">
        <p14:creationId xmlns:p14="http://schemas.microsoft.com/office/powerpoint/2010/main" val="10359889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2FD1D-D8BF-C962-9CF4-A2CDF81237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6E64E0-59DB-A7ED-2972-E715FD0B20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B6DA72-941A-B6C7-5713-6AD53399450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EA04D8-63BB-C0D1-AF2F-4F19A733F9C5}"/>
              </a:ext>
            </a:extLst>
          </p:cNvPr>
          <p:cNvSpPr>
            <a:spLocks noGrp="1"/>
          </p:cNvSpPr>
          <p:nvPr>
            <p:ph type="sldNum" sz="quarter" idx="5"/>
          </p:nvPr>
        </p:nvSpPr>
        <p:spPr/>
        <p:txBody>
          <a:bodyPr/>
          <a:lstStyle/>
          <a:p>
            <a:fld id="{ECC46987-1D68-4199-95F9-B343B80E33C2}" type="slidenum">
              <a:rPr lang="en-US" smtClean="0"/>
              <a:t>16</a:t>
            </a:fld>
            <a:endParaRPr lang="en-US"/>
          </a:p>
        </p:txBody>
      </p:sp>
    </p:spTree>
    <p:extLst>
      <p:ext uri="{BB962C8B-B14F-4D97-AF65-F5344CB8AC3E}">
        <p14:creationId xmlns:p14="http://schemas.microsoft.com/office/powerpoint/2010/main" val="20683547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CAC6F-22F0-35A0-7C63-93C58B4B768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2A647C9-858C-BA84-8219-3FFEAFFE70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EFFAB3A-E107-8386-0B9A-222B06B8C1AB}"/>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5" name="Footer Placeholder 4">
            <a:extLst>
              <a:ext uri="{FF2B5EF4-FFF2-40B4-BE49-F238E27FC236}">
                <a16:creationId xmlns:a16="http://schemas.microsoft.com/office/drawing/2014/main" id="{419065AB-4D77-D93D-A154-1AD155781D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4714B2-6A3A-ADBE-9043-E09B814372AC}"/>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11189552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68C270-19A6-B9C0-E9F5-6E8004A26AA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E5D6CC0-E884-F28F-37FC-998AF0165D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8F48B2-10F5-EF27-A21B-A04A0E8B12F4}"/>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5" name="Footer Placeholder 4">
            <a:extLst>
              <a:ext uri="{FF2B5EF4-FFF2-40B4-BE49-F238E27FC236}">
                <a16:creationId xmlns:a16="http://schemas.microsoft.com/office/drawing/2014/main" id="{317B4EED-8802-C10E-4549-DC395FF0744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A218A-4C2A-63FA-361E-17069A1E435C}"/>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17710043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0CC10F-0890-B2F6-27C8-D364DEB7CC5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A65C80A-4F2D-00ED-0450-504007F2A5F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DF3FF5A-2B05-1BB0-53E4-960A8EDB392F}"/>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5" name="Footer Placeholder 4">
            <a:extLst>
              <a:ext uri="{FF2B5EF4-FFF2-40B4-BE49-F238E27FC236}">
                <a16:creationId xmlns:a16="http://schemas.microsoft.com/office/drawing/2014/main" id="{4F1E87D2-C0DF-C27A-A4DA-EB58FE1E60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58C87D-9D7E-CC86-029E-6077BAB5D288}"/>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9348955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10C104-2E8A-CAD7-1F04-ED25458709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7C1938E-A579-419C-F7BC-921D48E116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4E7DBC9-8ACA-1131-DAC2-2028820413F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26340B4-E80D-98A4-C508-0C6B028B24A8}"/>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6" name="Footer Placeholder 5">
            <a:extLst>
              <a:ext uri="{FF2B5EF4-FFF2-40B4-BE49-F238E27FC236}">
                <a16:creationId xmlns:a16="http://schemas.microsoft.com/office/drawing/2014/main" id="{E06927B8-DE9C-A51D-B4F4-3A1124D506B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B9DE849-B733-C8B3-C009-733A11012D2C}"/>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32084169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AF8D0-500D-418E-2358-2CE4431152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CB96B00-6D5B-76CB-7419-28ED15AABCC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E5C95A-1B93-A57F-C3CC-6906B627810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06E7EB8-75C0-F651-A5B9-48E2F413D20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2A34891-F916-BA59-B069-11C7E27C90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ED606A6-2146-01DB-9281-68B53BAD2878}"/>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8" name="Footer Placeholder 7">
            <a:extLst>
              <a:ext uri="{FF2B5EF4-FFF2-40B4-BE49-F238E27FC236}">
                <a16:creationId xmlns:a16="http://schemas.microsoft.com/office/drawing/2014/main" id="{5A30C9E6-6F30-70F3-02F2-33001D0859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A5DFED3-46F7-1765-5204-7C21D5B90C4D}"/>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3806546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209BB-3CED-3A57-6821-80FF5EA30B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3CD8FB7-1C88-C439-7C08-454D4980D047}"/>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4" name="Footer Placeholder 3">
            <a:extLst>
              <a:ext uri="{FF2B5EF4-FFF2-40B4-BE49-F238E27FC236}">
                <a16:creationId xmlns:a16="http://schemas.microsoft.com/office/drawing/2014/main" id="{431702F0-451F-E5B1-43BD-883A35DB2A5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37EDB8E-2FAD-C223-5C02-F8E96AA9F124}"/>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5444840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161C04-F92A-8ECE-0B34-52FE570A0184}"/>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3" name="Footer Placeholder 2">
            <a:extLst>
              <a:ext uri="{FF2B5EF4-FFF2-40B4-BE49-F238E27FC236}">
                <a16:creationId xmlns:a16="http://schemas.microsoft.com/office/drawing/2014/main" id="{439085F6-AB00-D213-6711-174838754DE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2C3642B-E652-4D3A-DED8-1F402885AAE3}"/>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17182243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F5E8C4-9052-0ED0-E653-F52AFA4936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6C5C4CD-34B3-183B-33EE-C1873628857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BAFFE7F-C8E0-4856-D92F-6DB9851940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CB6085-3263-495E-123C-0F84F1624149}"/>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6" name="Footer Placeholder 5">
            <a:extLst>
              <a:ext uri="{FF2B5EF4-FFF2-40B4-BE49-F238E27FC236}">
                <a16:creationId xmlns:a16="http://schemas.microsoft.com/office/drawing/2014/main" id="{3151EB62-007A-5982-70F4-3BFB0633A6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F7A727-695F-6630-D38A-BFC7B540CB7A}"/>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6267533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D5A1B3-A811-0F60-5371-B8DB37D352F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3ED2CA6-8AED-ECED-DE93-D64672E9041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8D8BF4C-3EF8-BFD3-2C11-A25FA2F2B7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7B5C1E-EEC1-4C7F-4BBB-A2DA9790C9DB}"/>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6" name="Footer Placeholder 5">
            <a:extLst>
              <a:ext uri="{FF2B5EF4-FFF2-40B4-BE49-F238E27FC236}">
                <a16:creationId xmlns:a16="http://schemas.microsoft.com/office/drawing/2014/main" id="{BDDA85CA-CA73-8D5A-C434-16B5330172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F17444-08C1-9D0A-1FF6-626EC1186A16}"/>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38870019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C1DED2-3584-92CB-ADC3-7935CCD6BD7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02C0E04-F508-C922-9C54-94E3F8A41A5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974FDD-308C-BEE2-860C-069A43B308D8}"/>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5" name="Footer Placeholder 4">
            <a:extLst>
              <a:ext uri="{FF2B5EF4-FFF2-40B4-BE49-F238E27FC236}">
                <a16:creationId xmlns:a16="http://schemas.microsoft.com/office/drawing/2014/main" id="{E3445F94-4289-2D78-0363-6700D04923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7A807E-BED6-A013-1A0E-9BE055D2DA5D}"/>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17838317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6886B95-871E-01E7-91F0-548B0B1AC76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6D4586A-A617-A48E-554D-FBF9244892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ED03EF-4446-6ECD-95EC-6BCC5C63293A}"/>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5" name="Footer Placeholder 4">
            <a:extLst>
              <a:ext uri="{FF2B5EF4-FFF2-40B4-BE49-F238E27FC236}">
                <a16:creationId xmlns:a16="http://schemas.microsoft.com/office/drawing/2014/main" id="{62DD0438-86C6-0BA3-0413-310D28CC87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6CD548-B83F-9018-2FE7-33EB3C61EB9C}"/>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4215748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1C5E77-F483-5293-6AF1-DDC1FC29455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549B2FF-A779-75F0-FAA8-769A785271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457D5B-2B77-18FE-125E-A74B6C057A1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E762BDF-2224-469D-87AB-6750BB846E30}" type="datetimeFigureOut">
              <a:rPr lang="en-US" smtClean="0"/>
              <a:t>3/8/2026</a:t>
            </a:fld>
            <a:endParaRPr lang="en-US"/>
          </a:p>
        </p:txBody>
      </p:sp>
      <p:sp>
        <p:nvSpPr>
          <p:cNvPr id="5" name="Footer Placeholder 4">
            <a:extLst>
              <a:ext uri="{FF2B5EF4-FFF2-40B4-BE49-F238E27FC236}">
                <a16:creationId xmlns:a16="http://schemas.microsoft.com/office/drawing/2014/main" id="{5FC69D55-C2AE-D887-EE30-FCE245723CD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23CECEF-0C7D-83D4-F36F-A9FEE39B9D9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A6B8CA9-C2AF-47C6-AE6C-9E80964C5271}" type="slidenum">
              <a:rPr lang="en-US" smtClean="0"/>
              <a:t>‹#›</a:t>
            </a:fld>
            <a:endParaRPr lang="en-US"/>
          </a:p>
        </p:txBody>
      </p:sp>
    </p:spTree>
    <p:extLst>
      <p:ext uri="{BB962C8B-B14F-4D97-AF65-F5344CB8AC3E}">
        <p14:creationId xmlns:p14="http://schemas.microsoft.com/office/powerpoint/2010/main" val="2984073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hyperlink" Target="https://www.kaggle.com/code/jhffmn/hoffman-australian-rental" TargetMode="External"/><Relationship Id="rId4" Type="http://schemas.openxmlformats.org/officeDocument/2006/relationships/hyperlink" Target="https://github.com/jhffmn82/gao-rental-project-support/blob/5ba141e5fe53fe344332f1f036b6251f1aff1fa9/hoffman-australian-rental.ipynb"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3346177D-ADC4-4968-B747-5CFCD390B5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51EA68F3-7A13-4110-0588-B516A0699326}"/>
              </a:ext>
            </a:extLst>
          </p:cNvPr>
          <p:cNvSpPr>
            <a:spLocks noGrp="1"/>
          </p:cNvSpPr>
          <p:nvPr>
            <p:ph type="ctrTitle"/>
          </p:nvPr>
        </p:nvSpPr>
        <p:spPr>
          <a:xfrm>
            <a:off x="4154905" y="162272"/>
            <a:ext cx="7966483" cy="1667569"/>
          </a:xfrm>
        </p:spPr>
        <p:txBody>
          <a:bodyPr vert="horz" lIns="91440" tIns="45720" rIns="91440" bIns="45720" rtlCol="0" anchor="b">
            <a:normAutofit/>
          </a:bodyPr>
          <a:lstStyle/>
          <a:p>
            <a:r>
              <a:rPr lang="en-US" sz="3700" b="1" kern="1200" dirty="0">
                <a:solidFill>
                  <a:schemeClr val="tx1"/>
                </a:solidFill>
                <a:latin typeface="+mj-lt"/>
                <a:ea typeface="+mj-ea"/>
                <a:cs typeface="+mj-cs"/>
              </a:rPr>
              <a:t>What drives rental prices in Australia?</a:t>
            </a:r>
            <a:br>
              <a:rPr lang="en-US" sz="3700" b="1" kern="1200" dirty="0">
                <a:solidFill>
                  <a:schemeClr val="tx1"/>
                </a:solidFill>
                <a:latin typeface="+mj-lt"/>
                <a:ea typeface="+mj-ea"/>
                <a:cs typeface="+mj-cs"/>
              </a:rPr>
            </a:br>
            <a:endParaRPr lang="en-US" sz="3700" kern="1200" dirty="0">
              <a:solidFill>
                <a:schemeClr val="tx1"/>
              </a:solidFill>
              <a:latin typeface="+mj-lt"/>
              <a:ea typeface="+mj-ea"/>
              <a:cs typeface="+mj-cs"/>
            </a:endParaRPr>
          </a:p>
        </p:txBody>
      </p:sp>
      <p:pic>
        <p:nvPicPr>
          <p:cNvPr id="24" name="Graphic 23" descr="City">
            <a:extLst>
              <a:ext uri="{FF2B5EF4-FFF2-40B4-BE49-F238E27FC236}">
                <a16:creationId xmlns:a16="http://schemas.microsoft.com/office/drawing/2014/main" id="{3202D537-96E0-F496-1DB0-B19F8F6AA99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68130" y="1275070"/>
            <a:ext cx="3876165" cy="3876165"/>
          </a:xfrm>
          <a:prstGeom prst="rect">
            <a:avLst/>
          </a:prstGeom>
        </p:spPr>
      </p:pic>
      <p:sp>
        <p:nvSpPr>
          <p:cNvPr id="3" name="Subtitle 2">
            <a:extLst>
              <a:ext uri="{FF2B5EF4-FFF2-40B4-BE49-F238E27FC236}">
                <a16:creationId xmlns:a16="http://schemas.microsoft.com/office/drawing/2014/main" id="{9785FE79-6AC3-E051-0985-965E2814A1A9}"/>
              </a:ext>
            </a:extLst>
          </p:cNvPr>
          <p:cNvSpPr>
            <a:spLocks noGrp="1"/>
          </p:cNvSpPr>
          <p:nvPr>
            <p:ph type="subTitle" idx="1"/>
          </p:nvPr>
        </p:nvSpPr>
        <p:spPr>
          <a:xfrm>
            <a:off x="5128449" y="1829841"/>
            <a:ext cx="6019394" cy="3197464"/>
          </a:xfrm>
        </p:spPr>
        <p:txBody>
          <a:bodyPr vert="horz" lIns="91440" tIns="45720" rIns="91440" bIns="45720" rtlCol="0" anchor="t">
            <a:normAutofit/>
          </a:bodyPr>
          <a:lstStyle/>
          <a:p>
            <a:r>
              <a:rPr lang="en-US" sz="1800" dirty="0"/>
              <a:t>GAO Innovation Lab Interview Submission</a:t>
            </a:r>
            <a:br>
              <a:rPr lang="en-US" sz="1800" dirty="0"/>
            </a:br>
            <a:r>
              <a:rPr lang="en-US" sz="1800" b="1" dirty="0"/>
              <a:t>Justin Hoffman, </a:t>
            </a:r>
            <a:r>
              <a:rPr lang="en-US" sz="1800" dirty="0"/>
              <a:t>March 2026</a:t>
            </a:r>
          </a:p>
          <a:p>
            <a:br>
              <a:rPr lang="en-US" sz="2000" dirty="0"/>
            </a:br>
            <a:r>
              <a:rPr lang="en-US" sz="2000" dirty="0"/>
              <a:t>Ridge and Lasso regression on 6,757 rental listings</a:t>
            </a:r>
          </a:p>
          <a:p>
            <a:r>
              <a:rPr lang="en-US" sz="3600" dirty="0" err="1">
                <a:hlinkClick r:id="rId4"/>
              </a:rPr>
              <a:t>github</a:t>
            </a:r>
            <a:endParaRPr lang="en-US" sz="3600" dirty="0"/>
          </a:p>
          <a:p>
            <a:r>
              <a:rPr lang="en-US" sz="3600" dirty="0" err="1">
                <a:hlinkClick r:id="rId5"/>
              </a:rPr>
              <a:t>kaggle</a:t>
            </a:r>
            <a:endParaRPr lang="en-US" sz="3600" dirty="0"/>
          </a:p>
        </p:txBody>
      </p:sp>
      <p:sp>
        <p:nvSpPr>
          <p:cNvPr id="41" name="Rectangle 40">
            <a:extLst>
              <a:ext uri="{FF2B5EF4-FFF2-40B4-BE49-F238E27FC236}">
                <a16:creationId xmlns:a16="http://schemas.microsoft.com/office/drawing/2014/main" id="{0844A943-BF79-4FEA-ABB1-3BD54D2366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90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437CC72-F4A8-4DC3-AFAB-D22C482C81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50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271287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8AF80BF-DB0D-88EA-69B4-099651B9ABAD}"/>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005A0AB4-BDE0-6E7E-E601-522BB6C624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57DC586F-C80A-9E38-5686-F8FFA4117B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9119924-0574-BDF5-4C78-18BBBBB599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2AC172B-F77F-494C-1D89-AC6820777B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9E97D1FA-146F-9B48-067A-9AE0D722D2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3F753D-A14A-EED4-D333-0B89A93152EE}"/>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Project Overview</a:t>
            </a:r>
          </a:p>
        </p:txBody>
      </p:sp>
      <p:sp>
        <p:nvSpPr>
          <p:cNvPr id="4" name="Rectangle 1">
            <a:extLst>
              <a:ext uri="{FF2B5EF4-FFF2-40B4-BE49-F238E27FC236}">
                <a16:creationId xmlns:a16="http://schemas.microsoft.com/office/drawing/2014/main" id="{87760AE7-1895-7953-BC74-2FE1E715A22B}"/>
              </a:ext>
            </a:extLst>
          </p:cNvPr>
          <p:cNvSpPr>
            <a:spLocks noGrp="1" noChangeArrowheads="1"/>
          </p:cNvSpPr>
          <p:nvPr>
            <p:ph idx="1"/>
          </p:nvPr>
        </p:nvSpPr>
        <p:spPr bwMode="auto">
          <a:xfrm>
            <a:off x="934263" y="1788160"/>
            <a:ext cx="10323470"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rmAutofit lnSpcReduction="10000"/>
          </a:bodyPr>
          <a:lstStyle/>
          <a:p>
            <a:r>
              <a:rPr lang="en-US" sz="1800" b="1" dirty="0"/>
              <a:t>The Analytical Approach</a:t>
            </a:r>
            <a:br>
              <a:rPr lang="en-US" sz="1800" dirty="0"/>
            </a:br>
            <a:r>
              <a:rPr lang="en-US" sz="1800" dirty="0"/>
              <a:t>Supervised learning was used because the dataset includes observed rent, allowing the model to estimate how listing features are associated with rent.</a:t>
            </a:r>
          </a:p>
          <a:p>
            <a:r>
              <a:rPr lang="en-US" sz="1800" b="1" dirty="0"/>
              <a:t>Modeling Choices</a:t>
            </a:r>
            <a:br>
              <a:rPr lang="en-US" sz="1800" dirty="0"/>
            </a:br>
            <a:r>
              <a:rPr lang="en-US" sz="1800" dirty="0"/>
              <a:t>Ridge and Lasso regression, both regularized linear models implemented in scikit-learn.</a:t>
            </a:r>
          </a:p>
          <a:p>
            <a:r>
              <a:rPr lang="en-US" sz="1800" dirty="0"/>
              <a:t>Linear models were a good fit here for two reasons. First, they are interpretable. Second, several feature groups produce a large number of predictors after encoding.</a:t>
            </a:r>
          </a:p>
          <a:p>
            <a:r>
              <a:rPr lang="en-US" sz="1800" b="1" dirty="0"/>
              <a:t>Why both?</a:t>
            </a:r>
            <a:r>
              <a:rPr lang="en-US" sz="1800" dirty="0"/>
              <a:t> Ridge shrinks all coefficients but keeps every predictor. Lasso can shrink some coefficients all the way to zero.</a:t>
            </a:r>
          </a:p>
          <a:p>
            <a:r>
              <a:rPr lang="en-US" sz="1800" b="1" dirty="0"/>
              <a:t>Cross-Validated Model Fitting:</a:t>
            </a:r>
            <a:r>
              <a:rPr lang="en-US" sz="1800" dirty="0"/>
              <a:t> 5-fold cross-validation was used to tune alpha, the regularization strength. The final model was then refit on the full training set and evaluated once on the held-out test set.</a:t>
            </a:r>
          </a:p>
          <a:p>
            <a:r>
              <a:rPr lang="en-US" sz="1800" b="1" dirty="0"/>
              <a:t>Metrics:</a:t>
            </a:r>
            <a:r>
              <a:rPr lang="en-US" sz="1800" dirty="0"/>
              <a:t> MAE (</a:t>
            </a:r>
            <a:r>
              <a:rPr lang="en-US" sz="1800" b="1" dirty="0"/>
              <a:t>average absolute prediction error</a:t>
            </a:r>
            <a:r>
              <a:rPr lang="en-US" sz="1800" dirty="0"/>
              <a:t>) and R2 (</a:t>
            </a:r>
            <a:r>
              <a:rPr lang="en-US" sz="1800" b="1" dirty="0"/>
              <a:t>variation explained</a:t>
            </a:r>
            <a:r>
              <a:rPr lang="en-US" sz="1800" dirty="0"/>
              <a:t>) were reported on both the log scale and the original rent scale.</a:t>
            </a:r>
          </a:p>
          <a:p>
            <a:r>
              <a:rPr lang="en-US" sz="1800" b="1" dirty="0"/>
              <a:t>Evaluating:</a:t>
            </a:r>
            <a:r>
              <a:rPr lang="en-US" sz="1800" dirty="0"/>
              <a:t> Final performance was evaluated on a held-out test set (25% of the data, stratified by state) using both sets of metrics.</a:t>
            </a:r>
          </a:p>
        </p:txBody>
      </p:sp>
    </p:spTree>
    <p:extLst>
      <p:ext uri="{BB962C8B-B14F-4D97-AF65-F5344CB8AC3E}">
        <p14:creationId xmlns:p14="http://schemas.microsoft.com/office/powerpoint/2010/main" val="20267766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FE9C18-D713-414B-9352-E83A4A381DEF}"/>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E21D641E-3A64-E97C-8DB5-486F206CFA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DABDA1A8-837C-985F-EE47-084AEFC4D8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7186F64-8192-502A-9CA8-4EAB19CFA6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BAF9089A-066C-4F4C-60B8-18FE46F0C0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4913E25C-B17F-5B35-E3A4-6B35FC0C2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A3A709E-26CF-DDA4-ECDF-29CD439B0BCF}"/>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Data Quality and Preprocessing</a:t>
            </a:r>
          </a:p>
        </p:txBody>
      </p:sp>
      <p:sp>
        <p:nvSpPr>
          <p:cNvPr id="4" name="Rectangle 1">
            <a:extLst>
              <a:ext uri="{FF2B5EF4-FFF2-40B4-BE49-F238E27FC236}">
                <a16:creationId xmlns:a16="http://schemas.microsoft.com/office/drawing/2014/main" id="{3A7D43EF-5E7B-D03F-9ED3-B1D9261D27E7}"/>
              </a:ext>
            </a:extLst>
          </p:cNvPr>
          <p:cNvSpPr>
            <a:spLocks noGrp="1" noChangeArrowheads="1"/>
          </p:cNvSpPr>
          <p:nvPr>
            <p:ph idx="1"/>
          </p:nvPr>
        </p:nvSpPr>
        <p:spPr bwMode="auto">
          <a:xfrm>
            <a:off x="459350" y="1833374"/>
            <a:ext cx="11224650"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fontAlgn="base" latinLnBrk="1"/>
            <a:r>
              <a:rPr lang="en-US" sz="2000" b="1" dirty="0"/>
              <a:t>Missing values:</a:t>
            </a:r>
            <a:r>
              <a:rPr lang="en-US" sz="2000" dirty="0"/>
              <a:t> Amenities was the only field with nulls (318 rows, 4.7%).</a:t>
            </a:r>
          </a:p>
          <a:p>
            <a:pPr fontAlgn="base" latinLnBrk="1"/>
            <a:r>
              <a:rPr lang="en-US" sz="2000" b="1" dirty="0"/>
              <a:t>Duplicates:</a:t>
            </a:r>
            <a:r>
              <a:rPr lang="en-US" sz="2000" dirty="0"/>
              <a:t> Removed 1 exact duplicate row.</a:t>
            </a:r>
          </a:p>
          <a:p>
            <a:pPr fontAlgn="base" latinLnBrk="1"/>
            <a:r>
              <a:rPr lang="en-US" sz="2000" b="1" dirty="0"/>
              <a:t>Numeric outliers:</a:t>
            </a:r>
            <a:r>
              <a:rPr lang="en-US" sz="2000" dirty="0"/>
              <a:t> A 3-SD screen flagged unusual values; 9 implausible rows were removed after  manual review.</a:t>
            </a:r>
          </a:p>
          <a:p>
            <a:pPr fontAlgn="base" latinLnBrk="1"/>
            <a:r>
              <a:rPr lang="en-US" sz="2000" b="1" dirty="0"/>
              <a:t>Postcode / state consistency:</a:t>
            </a:r>
            <a:r>
              <a:rPr lang="en-US" sz="2000" dirty="0"/>
              <a:t> Checked postcodes against official Australia Post ranges; no           mismatches were found.</a:t>
            </a:r>
          </a:p>
          <a:p>
            <a:pPr fontAlgn="base" latinLnBrk="1"/>
            <a:r>
              <a:rPr lang="en-US" sz="2000" b="1" dirty="0"/>
              <a:t>Redundant fields:</a:t>
            </a:r>
            <a:r>
              <a:rPr lang="en-US" sz="2000" dirty="0"/>
              <a:t> Suburb and locality were identical in every row, so locality was dropped.</a:t>
            </a:r>
          </a:p>
          <a:p>
            <a:pPr fontAlgn="base" latinLnBrk="1"/>
            <a:r>
              <a:rPr lang="en-US" sz="2000" b="1" dirty="0"/>
              <a:t>High-cardinality identifiers:</a:t>
            </a:r>
            <a:r>
              <a:rPr lang="en-US" sz="2000" dirty="0"/>
              <a:t> Street address, title, description, and agency name were excluded      because they were nearly unique to each listing.</a:t>
            </a:r>
          </a:p>
          <a:p>
            <a:pPr fontAlgn="base" latinLnBrk="1"/>
            <a:r>
              <a:rPr lang="en-US" sz="2000" b="1" dirty="0"/>
              <a:t>Target variable:</a:t>
            </a:r>
            <a:r>
              <a:rPr lang="en-US" sz="2000" dirty="0"/>
              <a:t> Weekly rent was strongly right-skewed, so I modeled log(1 + rent) to reduce the        influence of extreme listings.</a:t>
            </a:r>
          </a:p>
          <a:p>
            <a:pPr fontAlgn="base" latinLnBrk="1"/>
            <a:r>
              <a:rPr lang="en-US" sz="2000" b="1" dirty="0"/>
              <a:t>Categorical variables:</a:t>
            </a:r>
            <a:r>
              <a:rPr lang="en-US" sz="2000" dirty="0"/>
              <a:t> Postcode, state, and property type were one-hot encoded.</a:t>
            </a:r>
            <a:br>
              <a:rPr lang="en-US" sz="2000" dirty="0"/>
            </a:br>
            <a:endParaRPr kumimoji="0" lang="en-US" altLang="en-US" sz="2000" i="0" u="none" strike="noStrike" cap="none" normalizeH="0" baseline="0" dirty="0">
              <a:ln>
                <a:noFill/>
              </a:ln>
              <a:effectLst/>
              <a:latin typeface="Arial" panose="020B0604020202020204" pitchFamily="34" charset="0"/>
            </a:endParaRPr>
          </a:p>
        </p:txBody>
      </p:sp>
    </p:spTree>
    <p:extLst>
      <p:ext uri="{BB962C8B-B14F-4D97-AF65-F5344CB8AC3E}">
        <p14:creationId xmlns:p14="http://schemas.microsoft.com/office/powerpoint/2010/main" val="9026395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24CB60-2AF6-3CD6-A172-E5D4405209B0}"/>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8ACC535D-AAD3-4739-63B0-7B2FC37B1F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0B3EADB1-E585-BDD2-F7A7-147696BADA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DEE937E0-B4CE-E055-BDDC-E999DF0DAE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3358B70-C495-398E-01DB-12F8C642C8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255F1F6F-83DA-99FD-39FD-8CC26A797F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2CF36A-785D-2436-BB46-EFF64642F6ED}"/>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Exploratory Data Analysis</a:t>
            </a:r>
          </a:p>
        </p:txBody>
      </p:sp>
      <p:sp>
        <p:nvSpPr>
          <p:cNvPr id="4" name="Rectangle 1">
            <a:extLst>
              <a:ext uri="{FF2B5EF4-FFF2-40B4-BE49-F238E27FC236}">
                <a16:creationId xmlns:a16="http://schemas.microsoft.com/office/drawing/2014/main" id="{F6C72E1A-A4F5-8EE1-1365-569CABE97A4A}"/>
              </a:ext>
            </a:extLst>
          </p:cNvPr>
          <p:cNvSpPr>
            <a:spLocks noGrp="1" noChangeArrowheads="1"/>
          </p:cNvSpPr>
          <p:nvPr>
            <p:ph idx="1"/>
          </p:nvPr>
        </p:nvSpPr>
        <p:spPr bwMode="auto">
          <a:xfrm>
            <a:off x="403202" y="1840065"/>
            <a:ext cx="4183240"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fontAlgn="base"/>
            <a:r>
              <a:rPr lang="en-US" sz="1800" b="1" dirty="0"/>
              <a:t>Rent distribution:</a:t>
            </a:r>
            <a:r>
              <a:rPr lang="en-US" sz="1800" dirty="0"/>
              <a:t> Right-skew supported modeling log(1 + rent).</a:t>
            </a:r>
          </a:p>
          <a:p>
            <a:pPr fontAlgn="base"/>
            <a:r>
              <a:rPr lang="en-US" sz="1800" b="1" dirty="0"/>
              <a:t>Bedrooms and bathrooms:</a:t>
            </a:r>
            <a:r>
              <a:rPr lang="en-US" sz="1800" dirty="0"/>
              <a:t> Larger properties generally rented for more.</a:t>
            </a:r>
          </a:p>
          <a:p>
            <a:pPr fontAlgn="base"/>
            <a:r>
              <a:rPr lang="en-US" sz="1800" b="1" dirty="0"/>
              <a:t>Rent by state:</a:t>
            </a:r>
            <a:r>
              <a:rPr lang="en-US" sz="1800" dirty="0"/>
              <a:t> State-level differences suggested location would likely improve predictions and supported stratifying both the train/test split and cross-validation by state.</a:t>
            </a:r>
          </a:p>
          <a:p>
            <a:pPr fontAlgn="base"/>
            <a:r>
              <a:rPr lang="en-US" sz="1800" b="1" dirty="0"/>
              <a:t>Amenities (unadjusted):</a:t>
            </a:r>
            <a:r>
              <a:rPr lang="en-US" sz="1800" dirty="0"/>
              <a:t> Some amenities appeared more common in higher-rent listings.</a:t>
            </a:r>
          </a:p>
          <a:p>
            <a:pPr fontAlgn="base"/>
            <a:r>
              <a:rPr lang="en-US" sz="1800" b="1" dirty="0"/>
              <a:t>Amenity count:</a:t>
            </a:r>
            <a:r>
              <a:rPr lang="en-US" sz="1800" dirty="0"/>
              <a:t> Listings varied in overall amenity richness, making it worth testing separately.</a:t>
            </a:r>
          </a:p>
        </p:txBody>
      </p:sp>
      <p:pic>
        <p:nvPicPr>
          <p:cNvPr id="7" name="Picture 6">
            <a:extLst>
              <a:ext uri="{FF2B5EF4-FFF2-40B4-BE49-F238E27FC236}">
                <a16:creationId xmlns:a16="http://schemas.microsoft.com/office/drawing/2014/main" id="{9526A46B-B30E-1D42-F4AE-AB3BF6BBA6FA}"/>
              </a:ext>
            </a:extLst>
          </p:cNvPr>
          <p:cNvPicPr>
            <a:picLocks noChangeAspect="1"/>
          </p:cNvPicPr>
          <p:nvPr/>
        </p:nvPicPr>
        <p:blipFill>
          <a:blip r:embed="rId3"/>
          <a:stretch>
            <a:fillRect/>
          </a:stretch>
        </p:blipFill>
        <p:spPr>
          <a:xfrm>
            <a:off x="4572611" y="1891970"/>
            <a:ext cx="7362206" cy="2133600"/>
          </a:xfrm>
          <a:prstGeom prst="rect">
            <a:avLst/>
          </a:prstGeom>
        </p:spPr>
      </p:pic>
      <p:pic>
        <p:nvPicPr>
          <p:cNvPr id="9" name="Picture 8">
            <a:extLst>
              <a:ext uri="{FF2B5EF4-FFF2-40B4-BE49-F238E27FC236}">
                <a16:creationId xmlns:a16="http://schemas.microsoft.com/office/drawing/2014/main" id="{D8A85B81-C109-390B-90D8-FFB0FCD6EFBE}"/>
              </a:ext>
            </a:extLst>
          </p:cNvPr>
          <p:cNvPicPr>
            <a:picLocks noChangeAspect="1"/>
          </p:cNvPicPr>
          <p:nvPr/>
        </p:nvPicPr>
        <p:blipFill>
          <a:blip r:embed="rId4"/>
          <a:stretch>
            <a:fillRect/>
          </a:stretch>
        </p:blipFill>
        <p:spPr>
          <a:xfrm>
            <a:off x="5403716" y="4025570"/>
            <a:ext cx="5699996" cy="2616860"/>
          </a:xfrm>
          <a:prstGeom prst="rect">
            <a:avLst/>
          </a:prstGeom>
        </p:spPr>
      </p:pic>
    </p:spTree>
    <p:extLst>
      <p:ext uri="{BB962C8B-B14F-4D97-AF65-F5344CB8AC3E}">
        <p14:creationId xmlns:p14="http://schemas.microsoft.com/office/powerpoint/2010/main" val="3128568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329235-9AA6-D5BA-3069-BABD05E8E98D}"/>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25EB3F40-A90A-6037-E1F2-BCEF931D9F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19A963EA-5015-DA91-453C-AD2B71072B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9747A6D7-9E7C-001A-6A99-27A3EF0D6B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25282EE-FC4E-CD84-F548-9D250BD1CB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F940C1F8-95D0-A740-45C8-5F0FD44AF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909296-CC80-74E2-662A-B80AC24EDFC4}"/>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Hypothesis</a:t>
            </a:r>
          </a:p>
        </p:txBody>
      </p:sp>
      <p:sp>
        <p:nvSpPr>
          <p:cNvPr id="9" name="TextBox 8">
            <a:extLst>
              <a:ext uri="{FF2B5EF4-FFF2-40B4-BE49-F238E27FC236}">
                <a16:creationId xmlns:a16="http://schemas.microsoft.com/office/drawing/2014/main" id="{45145330-02A7-8783-7F4C-F39402D926A6}"/>
              </a:ext>
            </a:extLst>
          </p:cNvPr>
          <p:cNvSpPr txBox="1"/>
          <p:nvPr/>
        </p:nvSpPr>
        <p:spPr>
          <a:xfrm>
            <a:off x="459350" y="1801397"/>
            <a:ext cx="11448871" cy="646331"/>
          </a:xfrm>
          <a:prstGeom prst="rect">
            <a:avLst/>
          </a:prstGeom>
          <a:noFill/>
        </p:spPr>
        <p:txBody>
          <a:bodyPr wrap="square" rtlCol="0">
            <a:spAutoFit/>
          </a:bodyPr>
          <a:lstStyle/>
          <a:p>
            <a:r>
              <a:rPr lang="en-US" dirty="0"/>
              <a:t>Each hypothesis adds a new feature group to the model and is evaluated against the previous stage to measure how much predictive performance improves.</a:t>
            </a:r>
          </a:p>
        </p:txBody>
      </p:sp>
      <p:sp>
        <p:nvSpPr>
          <p:cNvPr id="14" name="TextBox 13">
            <a:extLst>
              <a:ext uri="{FF2B5EF4-FFF2-40B4-BE49-F238E27FC236}">
                <a16:creationId xmlns:a16="http://schemas.microsoft.com/office/drawing/2014/main" id="{BBACB983-CB66-59C3-DCB1-CD315BD9C198}"/>
              </a:ext>
            </a:extLst>
          </p:cNvPr>
          <p:cNvSpPr txBox="1"/>
          <p:nvPr/>
        </p:nvSpPr>
        <p:spPr>
          <a:xfrm>
            <a:off x="371562" y="5446452"/>
            <a:ext cx="11448871" cy="646331"/>
          </a:xfrm>
          <a:prstGeom prst="rect">
            <a:avLst/>
          </a:prstGeom>
          <a:noFill/>
        </p:spPr>
        <p:txBody>
          <a:bodyPr wrap="square" rtlCol="0">
            <a:spAutoFit/>
          </a:bodyPr>
          <a:lstStyle/>
          <a:p>
            <a:r>
              <a:rPr lang="en-US" dirty="0"/>
              <a:t>Each hypothesis is then trained and tested, building a predictive model that answers the central question: What drives rental prices in Australia.</a:t>
            </a:r>
          </a:p>
        </p:txBody>
      </p:sp>
      <p:pic>
        <p:nvPicPr>
          <p:cNvPr id="16" name="Picture 15">
            <a:extLst>
              <a:ext uri="{FF2B5EF4-FFF2-40B4-BE49-F238E27FC236}">
                <a16:creationId xmlns:a16="http://schemas.microsoft.com/office/drawing/2014/main" id="{A4490CD7-1C08-1633-F574-75DD8156A6DD}"/>
              </a:ext>
            </a:extLst>
          </p:cNvPr>
          <p:cNvPicPr>
            <a:picLocks noChangeAspect="1"/>
          </p:cNvPicPr>
          <p:nvPr/>
        </p:nvPicPr>
        <p:blipFill>
          <a:blip r:embed="rId2"/>
          <a:stretch>
            <a:fillRect/>
          </a:stretch>
        </p:blipFill>
        <p:spPr>
          <a:xfrm>
            <a:off x="371564" y="2538117"/>
            <a:ext cx="11448871" cy="2789450"/>
          </a:xfrm>
          <a:prstGeom prst="rect">
            <a:avLst/>
          </a:prstGeom>
        </p:spPr>
      </p:pic>
    </p:spTree>
    <p:extLst>
      <p:ext uri="{BB962C8B-B14F-4D97-AF65-F5344CB8AC3E}">
        <p14:creationId xmlns:p14="http://schemas.microsoft.com/office/powerpoint/2010/main" val="17348581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BB491E-B43D-DC5D-DD1D-E70352ECBC5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BF08D842-811D-C9B3-DD6F-FB94343A49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95B746EB-5EDC-6B07-4FBE-10A5BA938C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B04530A2-1B7D-D89C-9D06-DDBC2F7037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65F531F-C69D-52A7-1C53-265200245B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2C5310D2-856B-F4C8-BEB4-9DFF6A1DE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D70EE6-CB22-0DA2-EE87-55C817656102}"/>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H1 Fundamentals Drive Rent</a:t>
            </a:r>
          </a:p>
        </p:txBody>
      </p:sp>
      <p:sp>
        <p:nvSpPr>
          <p:cNvPr id="4" name="Rectangle 1">
            <a:extLst>
              <a:ext uri="{FF2B5EF4-FFF2-40B4-BE49-F238E27FC236}">
                <a16:creationId xmlns:a16="http://schemas.microsoft.com/office/drawing/2014/main" id="{8D79E4B3-6C1D-880D-183E-4BD8F8C1ADE7}"/>
              </a:ext>
            </a:extLst>
          </p:cNvPr>
          <p:cNvSpPr>
            <a:spLocks noGrp="1" noChangeArrowheads="1"/>
          </p:cNvSpPr>
          <p:nvPr>
            <p:ph idx="1"/>
          </p:nvPr>
        </p:nvSpPr>
        <p:spPr bwMode="auto">
          <a:xfrm>
            <a:off x="625151" y="1788160"/>
            <a:ext cx="6339592"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a:buNone/>
            </a:pPr>
            <a:r>
              <a:rPr lang="en-US" sz="1600" b="1" dirty="0"/>
              <a:t>Features used</a:t>
            </a:r>
            <a:r>
              <a:rPr lang="en-US" sz="1600" dirty="0"/>
              <a:t> Bedrooms, bathrooms, parking spaces, and property type only. No location, no amenities.</a:t>
            </a:r>
          </a:p>
          <a:p>
            <a:pPr marL="0" indent="0">
              <a:buNone/>
            </a:pPr>
            <a:r>
              <a:rPr lang="en-US" sz="1600" b="1" dirty="0"/>
              <a:t>Purpose</a:t>
            </a:r>
            <a:r>
              <a:rPr lang="en-US" sz="1600" dirty="0"/>
              <a:t> H1 establishes a baseline showing how much variation in rent can be captured by structural property characteristics alone.</a:t>
            </a:r>
          </a:p>
          <a:p>
            <a:pPr marL="0" indent="0">
              <a:buNone/>
            </a:pPr>
            <a:r>
              <a:rPr lang="en-US" sz="1600" b="1" dirty="0"/>
              <a:t>Findings</a:t>
            </a:r>
            <a:endParaRPr lang="en-US" sz="1600" dirty="0"/>
          </a:p>
          <a:p>
            <a:r>
              <a:rPr lang="en-US" sz="1600" dirty="0"/>
              <a:t>Ridge R2_log jumps from 0.358 to 0.644 , the largest single gain in the project</a:t>
            </a:r>
          </a:p>
          <a:p>
            <a:r>
              <a:rPr lang="en-US" sz="1600" dirty="0" err="1"/>
              <a:t>MAE_rent</a:t>
            </a:r>
            <a:r>
              <a:rPr lang="en-US" sz="1600" dirty="0"/>
              <a:t> drops from 163 to 115.56 AUD/week</a:t>
            </a:r>
          </a:p>
          <a:p>
            <a:r>
              <a:rPr lang="en-US" sz="1600" dirty="0"/>
              <a:t>Ridge significantly outperforms Lasso (0.442), consistent with geographic signal being spread across postcode indicators</a:t>
            </a:r>
          </a:p>
          <a:p>
            <a:pPr marL="0" indent="0">
              <a:buNone/>
            </a:pPr>
            <a:r>
              <a:rPr lang="en-US" sz="1600" b="1" dirty="0"/>
              <a:t>Interpretation</a:t>
            </a:r>
            <a:r>
              <a:rPr lang="en-US" sz="1600" dirty="0"/>
              <a:t> Property fundamentals explain about a third of the variation in log rent, which is meaningful but not sufficient. The model has no way to distinguish a 3-bedroom house in Sydney from one in rural Tasmania, which helps explain why adding location matters so much.</a:t>
            </a:r>
          </a:p>
          <a:p>
            <a:pPr marL="0" indent="0">
              <a:buNone/>
            </a:pPr>
            <a:r>
              <a:rPr lang="en-US" sz="1600" b="1" dirty="0"/>
              <a:t>Location adds the biggest performance gain in the project </a:t>
            </a:r>
            <a:endParaRPr lang="en-US" altLang="en-US" sz="1800" b="1" dirty="0">
              <a:latin typeface="Arial" panose="020B0604020202020204" pitchFamily="34" charset="0"/>
            </a:endParaRPr>
          </a:p>
        </p:txBody>
      </p:sp>
      <p:pic>
        <p:nvPicPr>
          <p:cNvPr id="5" name="Picture 4">
            <a:extLst>
              <a:ext uri="{FF2B5EF4-FFF2-40B4-BE49-F238E27FC236}">
                <a16:creationId xmlns:a16="http://schemas.microsoft.com/office/drawing/2014/main" id="{5C13CE54-D763-FD15-7622-881655C3FB2E}"/>
              </a:ext>
            </a:extLst>
          </p:cNvPr>
          <p:cNvPicPr>
            <a:picLocks noChangeAspect="1"/>
          </p:cNvPicPr>
          <p:nvPr/>
        </p:nvPicPr>
        <p:blipFill>
          <a:blip r:embed="rId3"/>
          <a:stretch>
            <a:fillRect/>
          </a:stretch>
        </p:blipFill>
        <p:spPr>
          <a:xfrm>
            <a:off x="7203331" y="1781469"/>
            <a:ext cx="4623650" cy="1237473"/>
          </a:xfrm>
          <a:prstGeom prst="rect">
            <a:avLst/>
          </a:prstGeom>
        </p:spPr>
      </p:pic>
      <p:pic>
        <p:nvPicPr>
          <p:cNvPr id="7" name="Picture 6">
            <a:extLst>
              <a:ext uri="{FF2B5EF4-FFF2-40B4-BE49-F238E27FC236}">
                <a16:creationId xmlns:a16="http://schemas.microsoft.com/office/drawing/2014/main" id="{F53DA27A-63BF-5493-F78E-5FF92C10ED53}"/>
              </a:ext>
            </a:extLst>
          </p:cNvPr>
          <p:cNvPicPr>
            <a:picLocks noChangeAspect="1"/>
          </p:cNvPicPr>
          <p:nvPr/>
        </p:nvPicPr>
        <p:blipFill>
          <a:blip r:embed="rId4"/>
          <a:stretch>
            <a:fillRect/>
          </a:stretch>
        </p:blipFill>
        <p:spPr>
          <a:xfrm>
            <a:off x="6964743" y="3025633"/>
            <a:ext cx="5100827" cy="3832367"/>
          </a:xfrm>
          <a:prstGeom prst="rect">
            <a:avLst/>
          </a:prstGeom>
        </p:spPr>
      </p:pic>
    </p:spTree>
    <p:extLst>
      <p:ext uri="{BB962C8B-B14F-4D97-AF65-F5344CB8AC3E}">
        <p14:creationId xmlns:p14="http://schemas.microsoft.com/office/powerpoint/2010/main" val="15936594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28C8DE-3A3A-5FA3-BFE5-4F5E29BD2B8D}"/>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0F7F1859-8B82-D1DD-ED5C-BF88BD1344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1BC03248-294C-E50D-71CD-E69DC05D4B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B6C52DFC-1E8E-0D92-6E8C-CCC7FA6044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BE32B402-F12D-F9E4-3574-A317EE4CE5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D9A231E-DC95-9234-B369-B65699E999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95690E-E8F6-6410-FA59-739C42DC7D59}"/>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H2 Impact of Geography</a:t>
            </a:r>
          </a:p>
        </p:txBody>
      </p:sp>
      <p:sp>
        <p:nvSpPr>
          <p:cNvPr id="4" name="Rectangle 1">
            <a:extLst>
              <a:ext uri="{FF2B5EF4-FFF2-40B4-BE49-F238E27FC236}">
                <a16:creationId xmlns:a16="http://schemas.microsoft.com/office/drawing/2014/main" id="{35B003BF-F6B6-D4E4-29DA-7849ECB87141}"/>
              </a:ext>
            </a:extLst>
          </p:cNvPr>
          <p:cNvSpPr>
            <a:spLocks noGrp="1" noChangeArrowheads="1"/>
          </p:cNvSpPr>
          <p:nvPr>
            <p:ph idx="1"/>
          </p:nvPr>
        </p:nvSpPr>
        <p:spPr bwMode="auto">
          <a:xfrm>
            <a:off x="625151" y="1788160"/>
            <a:ext cx="6339592"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a:buNone/>
            </a:pPr>
            <a:r>
              <a:rPr lang="en-US" sz="1600" b="1" dirty="0"/>
              <a:t>Features used</a:t>
            </a:r>
            <a:r>
              <a:rPr lang="en-US" sz="1600" dirty="0"/>
              <a:t> H1 features + state and postcode. Suburb was tested but dropped due to sparsity.</a:t>
            </a:r>
          </a:p>
          <a:p>
            <a:pPr marL="0" indent="0">
              <a:buNone/>
            </a:pPr>
            <a:r>
              <a:rPr lang="en-US" sz="1600" b="1" dirty="0"/>
              <a:t>Purpose</a:t>
            </a:r>
            <a:r>
              <a:rPr lang="en-US" sz="1600" dirty="0"/>
              <a:t> H2 tests whether location explains additional rent variation beyond physical characteristics.</a:t>
            </a:r>
          </a:p>
          <a:p>
            <a:pPr marL="0" indent="0">
              <a:buNone/>
            </a:pPr>
            <a:r>
              <a:rPr lang="en-US" sz="1600" b="1" dirty="0"/>
              <a:t>Findings</a:t>
            </a:r>
            <a:endParaRPr lang="en-US" sz="1600" dirty="0"/>
          </a:p>
          <a:p>
            <a:r>
              <a:rPr lang="en-US" sz="1600" dirty="0"/>
              <a:t>Ridge R2_log jumps from 0.358 to 0.644 , the largest single gain in the project</a:t>
            </a:r>
          </a:p>
          <a:p>
            <a:r>
              <a:rPr lang="en-US" sz="1600" dirty="0" err="1"/>
              <a:t>MAE_rent</a:t>
            </a:r>
            <a:r>
              <a:rPr lang="en-US" sz="1600" dirty="0"/>
              <a:t> drops from 163 to 115.56 AUD/week</a:t>
            </a:r>
          </a:p>
          <a:p>
            <a:r>
              <a:rPr lang="en-US" sz="1600" dirty="0"/>
              <a:t>Ridge significantly outperforms Lasso (0.442), consistent with geographic signal being spread across postcode indicators</a:t>
            </a:r>
          </a:p>
          <a:p>
            <a:pPr marL="0" indent="0">
              <a:buNone/>
            </a:pPr>
            <a:r>
              <a:rPr lang="en-US" sz="1600" b="1" dirty="0"/>
              <a:t>Interpretation</a:t>
            </a:r>
            <a:r>
              <a:rPr lang="en-US" sz="1600" dirty="0"/>
              <a:t> Adding 1,000+ postcode indicators produces a dramatic improvement. Ridge handles this well because location signal is distributed across many postcodes rather than concentrated in a few. </a:t>
            </a:r>
          </a:p>
          <a:p>
            <a:pPr marL="0" indent="0">
              <a:buNone/>
            </a:pPr>
            <a:r>
              <a:rPr lang="en-US" sz="1600" b="1" dirty="0"/>
              <a:t>Location adds the largest performance gain in the project </a:t>
            </a:r>
            <a:endParaRPr kumimoji="0" lang="en-US" altLang="en-US" sz="1800" b="1" i="0" u="none" strike="noStrike" cap="none" normalizeH="0" baseline="0" dirty="0">
              <a:ln>
                <a:noFill/>
              </a:ln>
              <a:effectLst/>
              <a:latin typeface="Arial" panose="020B0604020202020204" pitchFamily="34" charset="0"/>
            </a:endParaRPr>
          </a:p>
        </p:txBody>
      </p:sp>
      <p:pic>
        <p:nvPicPr>
          <p:cNvPr id="5" name="Picture 4">
            <a:extLst>
              <a:ext uri="{FF2B5EF4-FFF2-40B4-BE49-F238E27FC236}">
                <a16:creationId xmlns:a16="http://schemas.microsoft.com/office/drawing/2014/main" id="{691F0D66-95DF-A940-FC31-9F52D6033572}"/>
              </a:ext>
            </a:extLst>
          </p:cNvPr>
          <p:cNvPicPr>
            <a:picLocks noChangeAspect="1"/>
          </p:cNvPicPr>
          <p:nvPr/>
        </p:nvPicPr>
        <p:blipFill>
          <a:blip r:embed="rId3"/>
          <a:stretch>
            <a:fillRect/>
          </a:stretch>
        </p:blipFill>
        <p:spPr>
          <a:xfrm>
            <a:off x="7157990" y="1788160"/>
            <a:ext cx="4747919" cy="1239605"/>
          </a:xfrm>
          <a:prstGeom prst="rect">
            <a:avLst/>
          </a:prstGeom>
        </p:spPr>
      </p:pic>
      <p:pic>
        <p:nvPicPr>
          <p:cNvPr id="9" name="Picture 8">
            <a:extLst>
              <a:ext uri="{FF2B5EF4-FFF2-40B4-BE49-F238E27FC236}">
                <a16:creationId xmlns:a16="http://schemas.microsoft.com/office/drawing/2014/main" id="{9D63121E-CFB2-1D04-8807-4C3D0C2178BB}"/>
              </a:ext>
            </a:extLst>
          </p:cNvPr>
          <p:cNvPicPr>
            <a:picLocks noChangeAspect="1"/>
          </p:cNvPicPr>
          <p:nvPr/>
        </p:nvPicPr>
        <p:blipFill>
          <a:blip r:embed="rId4"/>
          <a:stretch>
            <a:fillRect/>
          </a:stretch>
        </p:blipFill>
        <p:spPr>
          <a:xfrm>
            <a:off x="6964743" y="3079670"/>
            <a:ext cx="4965616" cy="3726425"/>
          </a:xfrm>
          <a:prstGeom prst="rect">
            <a:avLst/>
          </a:prstGeom>
        </p:spPr>
      </p:pic>
    </p:spTree>
    <p:extLst>
      <p:ext uri="{BB962C8B-B14F-4D97-AF65-F5344CB8AC3E}">
        <p14:creationId xmlns:p14="http://schemas.microsoft.com/office/powerpoint/2010/main" val="38722649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A553CFD-CCBB-B83B-E16B-9A8835DCFFB3}"/>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C7D9AF79-39B6-DC52-A101-E713B16586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BB90C883-B811-3D48-17E0-525B2864F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252BD547-D8D7-DA9C-3DFF-CF9D8A7EB7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DF4E902-387E-98AC-96BB-35010306C9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C93F140E-BE58-B2A9-96CC-C9874F3AB9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707151-0689-C62D-D2D0-A3DB0959F1B0}"/>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H3 Amenities Add Signal</a:t>
            </a:r>
          </a:p>
        </p:txBody>
      </p:sp>
      <p:sp>
        <p:nvSpPr>
          <p:cNvPr id="4" name="Rectangle 1">
            <a:extLst>
              <a:ext uri="{FF2B5EF4-FFF2-40B4-BE49-F238E27FC236}">
                <a16:creationId xmlns:a16="http://schemas.microsoft.com/office/drawing/2014/main" id="{7E4E9868-C997-8098-2888-7733E88EE3FF}"/>
              </a:ext>
            </a:extLst>
          </p:cNvPr>
          <p:cNvSpPr>
            <a:spLocks noGrp="1" noChangeArrowheads="1"/>
          </p:cNvSpPr>
          <p:nvPr>
            <p:ph idx="1"/>
          </p:nvPr>
        </p:nvSpPr>
        <p:spPr bwMode="auto">
          <a:xfrm>
            <a:off x="625151" y="1788160"/>
            <a:ext cx="6339592"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a:buNone/>
            </a:pPr>
            <a:r>
              <a:rPr lang="en-US" sz="1600" b="1" dirty="0"/>
              <a:t>Features used</a:t>
            </a:r>
            <a:r>
              <a:rPr lang="en-US" sz="1600" dirty="0"/>
              <a:t> H2 features + individual amenity dummy variables tokenized from the amenities text field.</a:t>
            </a:r>
          </a:p>
          <a:p>
            <a:pPr marL="0" indent="0">
              <a:buNone/>
            </a:pPr>
            <a:r>
              <a:rPr lang="en-US" sz="1600" b="1" dirty="0"/>
              <a:t>Purpose</a:t>
            </a:r>
            <a:r>
              <a:rPr lang="en-US" sz="1600" dirty="0"/>
              <a:t> H3 tests whether amenities improve predictions beyond fundamentals and location.</a:t>
            </a:r>
          </a:p>
          <a:p>
            <a:pPr marL="0" indent="0">
              <a:buNone/>
            </a:pPr>
            <a:r>
              <a:rPr lang="en-US" sz="1600" b="1" dirty="0"/>
              <a:t>Findings</a:t>
            </a:r>
            <a:endParaRPr lang="en-US" sz="1600" dirty="0"/>
          </a:p>
          <a:p>
            <a:r>
              <a:rPr lang="en-US" sz="1600" dirty="0"/>
              <a:t>Ridge R2_log improves from 0.644 to 0.660</a:t>
            </a:r>
          </a:p>
          <a:p>
            <a:r>
              <a:rPr lang="en-US" sz="1600" dirty="0" err="1"/>
              <a:t>MAE_rent</a:t>
            </a:r>
            <a:r>
              <a:rPr lang="en-US" sz="1600" dirty="0"/>
              <a:t> drops from 115.56 to 112.51 AUD/week</a:t>
            </a:r>
          </a:p>
          <a:p>
            <a:r>
              <a:rPr lang="en-US" sz="1600" dirty="0"/>
              <a:t>Ridge continues to outperform Lasso (0.477), suggesting amenity signal is distributed rather than sparse</a:t>
            </a:r>
          </a:p>
          <a:p>
            <a:pPr marL="0" indent="0">
              <a:buNone/>
            </a:pPr>
            <a:r>
              <a:rPr lang="en-US" sz="1600" b="1" dirty="0"/>
              <a:t>Interpretation</a:t>
            </a:r>
            <a:r>
              <a:rPr lang="en-US" sz="1600" dirty="0"/>
              <a:t> Amenities add real but modest signal. The small improvement over H2 suggests that many amenities primarily reflect properties already located in higher-priced areas rather than adding independent value.</a:t>
            </a:r>
          </a:p>
          <a:p>
            <a:pPr marL="0" indent="0">
              <a:buNone/>
            </a:pPr>
            <a:r>
              <a:rPr lang="en-US" sz="1600" b="1" dirty="0"/>
              <a:t>Amenities improve the model, but property fundamentals and location still explain the majority of rent variation.</a:t>
            </a:r>
          </a:p>
        </p:txBody>
      </p:sp>
      <p:pic>
        <p:nvPicPr>
          <p:cNvPr id="6" name="Picture 5">
            <a:extLst>
              <a:ext uri="{FF2B5EF4-FFF2-40B4-BE49-F238E27FC236}">
                <a16:creationId xmlns:a16="http://schemas.microsoft.com/office/drawing/2014/main" id="{87AEE05A-3AAB-D0F5-C5E8-3549C96EB6E7}"/>
              </a:ext>
            </a:extLst>
          </p:cNvPr>
          <p:cNvPicPr>
            <a:picLocks noChangeAspect="1"/>
          </p:cNvPicPr>
          <p:nvPr/>
        </p:nvPicPr>
        <p:blipFill>
          <a:blip r:embed="rId3"/>
          <a:stretch>
            <a:fillRect/>
          </a:stretch>
        </p:blipFill>
        <p:spPr>
          <a:xfrm>
            <a:off x="7119187" y="1818984"/>
            <a:ext cx="4668939" cy="1264030"/>
          </a:xfrm>
          <a:prstGeom prst="rect">
            <a:avLst/>
          </a:prstGeom>
        </p:spPr>
      </p:pic>
      <p:pic>
        <p:nvPicPr>
          <p:cNvPr id="8" name="Picture 7">
            <a:extLst>
              <a:ext uri="{FF2B5EF4-FFF2-40B4-BE49-F238E27FC236}">
                <a16:creationId xmlns:a16="http://schemas.microsoft.com/office/drawing/2014/main" id="{0919548B-F8F2-4895-8E93-3726DAFCF932}"/>
              </a:ext>
            </a:extLst>
          </p:cNvPr>
          <p:cNvPicPr>
            <a:picLocks noChangeAspect="1"/>
          </p:cNvPicPr>
          <p:nvPr/>
        </p:nvPicPr>
        <p:blipFill>
          <a:blip r:embed="rId4"/>
          <a:stretch>
            <a:fillRect/>
          </a:stretch>
        </p:blipFill>
        <p:spPr>
          <a:xfrm>
            <a:off x="7001685" y="3143634"/>
            <a:ext cx="4903942" cy="3653745"/>
          </a:xfrm>
          <a:prstGeom prst="rect">
            <a:avLst/>
          </a:prstGeom>
        </p:spPr>
      </p:pic>
    </p:spTree>
    <p:extLst>
      <p:ext uri="{BB962C8B-B14F-4D97-AF65-F5344CB8AC3E}">
        <p14:creationId xmlns:p14="http://schemas.microsoft.com/office/powerpoint/2010/main" val="17012456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AB032B-0099-C77A-4E5B-A273D9FF849A}"/>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9E5D935F-A542-EA61-A59C-B0D4AA7DE3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DC2454E6-EBBD-4168-203A-24BD626E57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DF57EE8A-780F-F6C3-7C6E-F45B228A9A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DE998388-27C5-CE8C-C347-6ADFDF2B6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EAD4B605-9BEE-5FBE-9637-B4B507FDB1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950914-17BA-D787-4734-8999618A43AC}"/>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H4 Individual Amenities are Quantifiable</a:t>
            </a:r>
          </a:p>
        </p:txBody>
      </p:sp>
      <p:sp>
        <p:nvSpPr>
          <p:cNvPr id="4" name="Rectangle 1">
            <a:extLst>
              <a:ext uri="{FF2B5EF4-FFF2-40B4-BE49-F238E27FC236}">
                <a16:creationId xmlns:a16="http://schemas.microsoft.com/office/drawing/2014/main" id="{E2CA0531-B898-ABDE-8918-72190CA82BE4}"/>
              </a:ext>
            </a:extLst>
          </p:cNvPr>
          <p:cNvSpPr>
            <a:spLocks noGrp="1" noChangeArrowheads="1"/>
          </p:cNvSpPr>
          <p:nvPr>
            <p:ph idx="1"/>
          </p:nvPr>
        </p:nvSpPr>
        <p:spPr bwMode="auto">
          <a:xfrm>
            <a:off x="625151" y="1788160"/>
            <a:ext cx="5906278"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a:buNone/>
            </a:pPr>
            <a:r>
              <a:rPr lang="en-US" sz="1600" b="1" dirty="0"/>
              <a:t>Approach</a:t>
            </a:r>
            <a:r>
              <a:rPr lang="en-US" sz="1600" dirty="0"/>
              <a:t> Ridge outperformed Lasso for prediction throughout H1-H3, but Lasso was used here because it can shrink weaker coefficients to zero. The goal is interpretation rather than prediction. Lasso retained 25 amenities and zeroed out 55, producing a more compact set of features.</a:t>
            </a:r>
          </a:p>
          <a:p>
            <a:pPr marL="0" indent="0">
              <a:buNone/>
            </a:pPr>
            <a:r>
              <a:rPr lang="en-US" sz="1600" b="1" dirty="0"/>
              <a:t>Findings</a:t>
            </a:r>
            <a:r>
              <a:rPr lang="en-US" sz="1600" dirty="0"/>
              <a:t> Largest positive associations: inground pool (+12.5%), deck (+5.7%), study (+4.3%), floorboards (+4.0%)</a:t>
            </a:r>
            <a:br>
              <a:rPr lang="en-US" sz="1600" dirty="0"/>
            </a:br>
            <a:r>
              <a:rPr lang="en-US" sz="1600" dirty="0"/>
              <a:t>Largest negative associations: fully fenced (-5.0%), air conditioning (-1.6%), split-system air conditioning (-1.3%), evaporative cooling (-1.2%)</a:t>
            </a:r>
          </a:p>
          <a:p>
            <a:pPr marL="0" indent="0">
              <a:buNone/>
            </a:pPr>
            <a:r>
              <a:rPr lang="en-US" sz="1600" b="1" dirty="0"/>
              <a:t>Interpretation</a:t>
            </a:r>
            <a:r>
              <a:rPr lang="en-US" sz="1600" dirty="0"/>
              <a:t> Positive coefficients indicate amenities associated with higher predicted rent after controlling for fundamentals and location. Negative coefficients are less intuitive and should be interpreted cautiously. One possible explanation is that features like fully fenced and split-system air conditioning are more common in lower-rent properties.</a:t>
            </a:r>
          </a:p>
          <a:p>
            <a:pPr marL="0" indent="0">
              <a:buNone/>
            </a:pPr>
            <a:r>
              <a:rPr lang="en-US" sz="1600" b="1" dirty="0"/>
              <a:t>Many amenities add limited incremental signal once location and fundamentals are included, but pools and decks remain among the clearest positive associations.</a:t>
            </a:r>
          </a:p>
        </p:txBody>
      </p:sp>
      <p:pic>
        <p:nvPicPr>
          <p:cNvPr id="9" name="Picture 8">
            <a:extLst>
              <a:ext uri="{FF2B5EF4-FFF2-40B4-BE49-F238E27FC236}">
                <a16:creationId xmlns:a16="http://schemas.microsoft.com/office/drawing/2014/main" id="{69F70D5B-7260-3AC8-9F99-78185B92184A}"/>
              </a:ext>
            </a:extLst>
          </p:cNvPr>
          <p:cNvPicPr>
            <a:picLocks noChangeAspect="1"/>
          </p:cNvPicPr>
          <p:nvPr/>
        </p:nvPicPr>
        <p:blipFill>
          <a:blip r:embed="rId3"/>
          <a:stretch>
            <a:fillRect/>
          </a:stretch>
        </p:blipFill>
        <p:spPr>
          <a:xfrm>
            <a:off x="6531429" y="1694101"/>
            <a:ext cx="5399329" cy="4963419"/>
          </a:xfrm>
          <a:prstGeom prst="rect">
            <a:avLst/>
          </a:prstGeom>
        </p:spPr>
      </p:pic>
    </p:spTree>
    <p:extLst>
      <p:ext uri="{BB962C8B-B14F-4D97-AF65-F5344CB8AC3E}">
        <p14:creationId xmlns:p14="http://schemas.microsoft.com/office/powerpoint/2010/main" val="13283326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2E8B51-F279-CCAE-7FE0-A01F258F5F97}"/>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EF2786EA-9C10-F6AF-D44A-29ECC3259E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40B7567-ABD2-3730-330E-34379BFF3A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FE41A759-87B3-BC2C-E84D-04EFCCC49D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C2E6E8D0-101F-C9DA-E765-DCC2EB1116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66517CA3-9C38-207A-A9E9-C0B6D63DB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CC9678-7834-CCC3-B2CD-A55D51D013A4}"/>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H5 Amenity Richness vs Specific Impact</a:t>
            </a:r>
          </a:p>
        </p:txBody>
      </p:sp>
      <p:sp>
        <p:nvSpPr>
          <p:cNvPr id="4" name="Rectangle 1">
            <a:extLst>
              <a:ext uri="{FF2B5EF4-FFF2-40B4-BE49-F238E27FC236}">
                <a16:creationId xmlns:a16="http://schemas.microsoft.com/office/drawing/2014/main" id="{3F655421-9491-4779-7AE1-98D26B99D91B}"/>
              </a:ext>
            </a:extLst>
          </p:cNvPr>
          <p:cNvSpPr>
            <a:spLocks noGrp="1" noChangeArrowheads="1"/>
          </p:cNvSpPr>
          <p:nvPr>
            <p:ph idx="1"/>
          </p:nvPr>
        </p:nvSpPr>
        <p:spPr bwMode="auto">
          <a:xfrm>
            <a:off x="625150" y="1788160"/>
            <a:ext cx="6257971"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a:buNone/>
            </a:pPr>
            <a:r>
              <a:rPr lang="en-US" sz="1600" b="1" dirty="0"/>
              <a:t>Features used</a:t>
            </a:r>
            <a:r>
              <a:rPr lang="en-US" sz="1600" dirty="0"/>
              <a:t> H3 features + amenity count representing the total number of amenities listed per property.</a:t>
            </a:r>
          </a:p>
          <a:p>
            <a:pPr marL="0" indent="0">
              <a:buNone/>
            </a:pPr>
            <a:r>
              <a:rPr lang="en-US" sz="1600" b="1" dirty="0"/>
              <a:t>Purpose</a:t>
            </a:r>
            <a:r>
              <a:rPr lang="en-US" sz="1600" dirty="0"/>
              <a:t> H5 tests whether overall amenity richness explains part of the individual amenity associations seen in H4.</a:t>
            </a:r>
          </a:p>
          <a:p>
            <a:pPr marL="0" indent="0">
              <a:buNone/>
            </a:pPr>
            <a:r>
              <a:rPr lang="en-US" sz="1600" b="1" dirty="0"/>
              <a:t>Findings</a:t>
            </a:r>
            <a:endParaRPr lang="en-US" sz="1600" dirty="0"/>
          </a:p>
          <a:p>
            <a:r>
              <a:rPr lang="en-US" sz="1600" dirty="0"/>
              <a:t>Model performance is essentially unchanged from H3: Ridge R2_log = 0.660, </a:t>
            </a:r>
            <a:r>
              <a:rPr lang="en-US" sz="1600" dirty="0" err="1"/>
              <a:t>MAE_rent</a:t>
            </a:r>
            <a:r>
              <a:rPr lang="en-US" sz="1600" dirty="0"/>
              <a:t> = 112.49 AUD/week</a:t>
            </a:r>
          </a:p>
          <a:p>
            <a:r>
              <a:rPr lang="en-US" sz="1600" dirty="0"/>
              <a:t>The negligible performance gain suggests </a:t>
            </a:r>
            <a:r>
              <a:rPr lang="en-US" sz="1600" dirty="0" err="1"/>
              <a:t>amenity_count</a:t>
            </a:r>
            <a:r>
              <a:rPr lang="en-US" sz="1600" dirty="0"/>
              <a:t> adds little new predictive value and mainly reallocates existing signal</a:t>
            </a:r>
            <a:br>
              <a:rPr lang="en-US" sz="1600" dirty="0"/>
            </a:br>
            <a:r>
              <a:rPr lang="en-US" sz="1600" dirty="0"/>
              <a:t>Ridge continues to outperform Lasso (0.478)</a:t>
            </a:r>
          </a:p>
          <a:p>
            <a:pPr marL="0" indent="0">
              <a:buNone/>
            </a:pPr>
            <a:r>
              <a:rPr lang="en-US" sz="1600" b="1" dirty="0"/>
              <a:t>Interpretation</a:t>
            </a:r>
            <a:r>
              <a:rPr lang="en-US" sz="1600" dirty="0"/>
              <a:t> The flat performance suggests </a:t>
            </a:r>
            <a:r>
              <a:rPr lang="en-US" sz="1600" dirty="0" err="1"/>
              <a:t>amenity_count</a:t>
            </a:r>
            <a:r>
              <a:rPr lang="en-US" sz="1600" dirty="0"/>
              <a:t> mostly redistributes existing signal rather than materially improving prediction. The value of H5 is interpretive, individual amenity coefficients can now be read relative to the overall amenity-richness term.</a:t>
            </a:r>
          </a:p>
          <a:p>
            <a:pPr marL="0" indent="0">
              <a:buNone/>
            </a:pPr>
            <a:r>
              <a:rPr lang="en-US" sz="1600" b="1" dirty="0"/>
              <a:t>Predictive improvement is minimal, but H5 helps show which amenity associations remain after accounting for general listing richness.</a:t>
            </a:r>
            <a:endParaRPr kumimoji="0" lang="en-US" altLang="en-US" sz="1400" b="1" i="0" u="none" strike="noStrike" cap="none" normalizeH="0" baseline="0" dirty="0">
              <a:ln>
                <a:noFill/>
              </a:ln>
              <a:effectLst/>
              <a:latin typeface="Arial" panose="020B0604020202020204" pitchFamily="34" charset="0"/>
            </a:endParaRPr>
          </a:p>
        </p:txBody>
      </p:sp>
      <p:pic>
        <p:nvPicPr>
          <p:cNvPr id="6" name="Picture 5">
            <a:extLst>
              <a:ext uri="{FF2B5EF4-FFF2-40B4-BE49-F238E27FC236}">
                <a16:creationId xmlns:a16="http://schemas.microsoft.com/office/drawing/2014/main" id="{AA0B5A7E-C2AC-CA7D-0476-13E88BF6DC11}"/>
              </a:ext>
            </a:extLst>
          </p:cNvPr>
          <p:cNvPicPr>
            <a:picLocks noChangeAspect="1"/>
          </p:cNvPicPr>
          <p:nvPr/>
        </p:nvPicPr>
        <p:blipFill>
          <a:blip r:embed="rId3"/>
          <a:stretch>
            <a:fillRect/>
          </a:stretch>
        </p:blipFill>
        <p:spPr>
          <a:xfrm>
            <a:off x="7253927" y="1788160"/>
            <a:ext cx="4379142" cy="1206934"/>
          </a:xfrm>
          <a:prstGeom prst="rect">
            <a:avLst/>
          </a:prstGeom>
        </p:spPr>
      </p:pic>
      <p:pic>
        <p:nvPicPr>
          <p:cNvPr id="9" name="Picture 8">
            <a:extLst>
              <a:ext uri="{FF2B5EF4-FFF2-40B4-BE49-F238E27FC236}">
                <a16:creationId xmlns:a16="http://schemas.microsoft.com/office/drawing/2014/main" id="{C23EF7D0-4E60-6C2C-4F6D-F6D098BBBDE5}"/>
              </a:ext>
            </a:extLst>
          </p:cNvPr>
          <p:cNvPicPr>
            <a:picLocks noChangeAspect="1"/>
          </p:cNvPicPr>
          <p:nvPr/>
        </p:nvPicPr>
        <p:blipFill>
          <a:blip r:embed="rId4"/>
          <a:stretch>
            <a:fillRect/>
          </a:stretch>
        </p:blipFill>
        <p:spPr>
          <a:xfrm>
            <a:off x="6883120" y="2956579"/>
            <a:ext cx="5120757" cy="3886289"/>
          </a:xfrm>
          <a:prstGeom prst="rect">
            <a:avLst/>
          </a:prstGeom>
        </p:spPr>
      </p:pic>
    </p:spTree>
    <p:extLst>
      <p:ext uri="{BB962C8B-B14F-4D97-AF65-F5344CB8AC3E}">
        <p14:creationId xmlns:p14="http://schemas.microsoft.com/office/powerpoint/2010/main" val="33563182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788F4B-3DCF-D2F7-BC90-88B8FA1D7640}"/>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8A8AFE38-45D9-F260-5FA7-1244971363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F17C876-EF77-64E0-0537-EEB8AF79CA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2C45682F-CF0D-3EC4-0D72-6509560CC0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EE1D95BE-D6AF-A6B0-F6C2-0A88C021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19B327D9-6200-D530-AA93-8617E3DF8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3A79A4-6001-175E-CDBC-DA252EC310A1}"/>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H5 Amenity Richness - (cont..)</a:t>
            </a:r>
          </a:p>
        </p:txBody>
      </p:sp>
      <p:sp>
        <p:nvSpPr>
          <p:cNvPr id="4" name="Rectangle 1">
            <a:extLst>
              <a:ext uri="{FF2B5EF4-FFF2-40B4-BE49-F238E27FC236}">
                <a16:creationId xmlns:a16="http://schemas.microsoft.com/office/drawing/2014/main" id="{8DC53C39-8633-D69D-1EE7-CF738605D152}"/>
              </a:ext>
            </a:extLst>
          </p:cNvPr>
          <p:cNvSpPr>
            <a:spLocks noGrp="1" noChangeArrowheads="1"/>
          </p:cNvSpPr>
          <p:nvPr>
            <p:ph idx="1"/>
          </p:nvPr>
        </p:nvSpPr>
        <p:spPr bwMode="auto">
          <a:xfrm>
            <a:off x="289997" y="1747591"/>
            <a:ext cx="5502442" cy="4671491"/>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a:buNone/>
            </a:pPr>
            <a:r>
              <a:rPr lang="en-US" sz="1600" b="1" dirty="0"/>
              <a:t>Approach</a:t>
            </a:r>
            <a:r>
              <a:rPr lang="en-US" sz="1600" dirty="0"/>
              <a:t> Using the H5 Lasso model, amenity coefficients are extracted and compared with H4.</a:t>
            </a:r>
          </a:p>
          <a:p>
            <a:pPr marL="0" indent="0">
              <a:buNone/>
            </a:pPr>
            <a:r>
              <a:rPr lang="en-US" sz="1600" b="1" dirty="0"/>
              <a:t>Findings</a:t>
            </a:r>
            <a:endParaRPr lang="en-US" sz="1600" dirty="0"/>
          </a:p>
          <a:p>
            <a:r>
              <a:rPr lang="en-US" sz="1600" dirty="0"/>
              <a:t>The </a:t>
            </a:r>
            <a:r>
              <a:rPr lang="en-US" sz="1600" dirty="0" err="1"/>
              <a:t>amenity_count</a:t>
            </a:r>
            <a:r>
              <a:rPr lang="en-US" sz="1600" dirty="0"/>
              <a:t> coefficient implies about </a:t>
            </a:r>
            <a:r>
              <a:rPr lang="en-US" sz="1600" b="1" dirty="0"/>
              <a:t>+0.87% predicted rent per additional listed amenity</a:t>
            </a:r>
            <a:r>
              <a:rPr lang="en-US" sz="1600" dirty="0"/>
              <a:t> in the fitted model</a:t>
            </a:r>
          </a:p>
          <a:p>
            <a:r>
              <a:rPr lang="en-US" sz="1600" dirty="0"/>
              <a:t>Lasso retained 28 amenities and zeroed out 52</a:t>
            </a:r>
          </a:p>
          <a:p>
            <a:r>
              <a:rPr lang="en-US" sz="1600" dirty="0"/>
              <a:t>Most positive associations shrink relative to H4, while several negative coefficients become more negative.</a:t>
            </a:r>
          </a:p>
          <a:p>
            <a:pPr marL="0" indent="0">
              <a:buNone/>
            </a:pPr>
            <a:r>
              <a:rPr lang="en-US" sz="1600" b="1" dirty="0"/>
              <a:t>Interpretation</a:t>
            </a:r>
            <a:r>
              <a:rPr lang="en-US" sz="1600" dirty="0"/>
              <a:t> Feature contributions were grouped into bedrooms, bathrooms, parking, property type, location, and amenities by multiplying each feature value by its coefficient across the test set. In this decomposition, bedrooms receive 38% of the absolute model contribution, bathrooms 23%, location 19%, and amenities 9%.</a:t>
            </a:r>
          </a:p>
          <a:p>
            <a:pPr marL="0" indent="0">
              <a:buNone/>
            </a:pPr>
            <a:r>
              <a:rPr lang="en-US" sz="1600" b="1" dirty="0"/>
              <a:t>This decomposition suggests that structural features contribute more modeled signal than location or amenities in the H5 specification.</a:t>
            </a:r>
            <a:endParaRPr lang="en-US" sz="1600" b="1" dirty="0">
              <a:latin typeface="Arial" panose="020B0604020202020204" pitchFamily="34" charset="0"/>
            </a:endParaRPr>
          </a:p>
        </p:txBody>
      </p:sp>
      <p:pic>
        <p:nvPicPr>
          <p:cNvPr id="6" name="Picture 5">
            <a:extLst>
              <a:ext uri="{FF2B5EF4-FFF2-40B4-BE49-F238E27FC236}">
                <a16:creationId xmlns:a16="http://schemas.microsoft.com/office/drawing/2014/main" id="{0029438E-74DB-9DDA-2238-15EB31A47C5A}"/>
              </a:ext>
            </a:extLst>
          </p:cNvPr>
          <p:cNvPicPr>
            <a:picLocks noChangeAspect="1"/>
          </p:cNvPicPr>
          <p:nvPr/>
        </p:nvPicPr>
        <p:blipFill>
          <a:blip r:embed="rId3"/>
          <a:stretch>
            <a:fillRect/>
          </a:stretch>
        </p:blipFill>
        <p:spPr>
          <a:xfrm>
            <a:off x="5795486" y="1885279"/>
            <a:ext cx="6170685" cy="4127830"/>
          </a:xfrm>
          <a:prstGeom prst="rect">
            <a:avLst/>
          </a:prstGeom>
        </p:spPr>
      </p:pic>
    </p:spTree>
    <p:extLst>
      <p:ext uri="{BB962C8B-B14F-4D97-AF65-F5344CB8AC3E}">
        <p14:creationId xmlns:p14="http://schemas.microsoft.com/office/powerpoint/2010/main" val="12200624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8BAAFF-76C3-35E9-A448-E84A20065B2A}"/>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C8C12BAF-28F0-2766-C12E-99585311B6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E59E6F7-1E48-9555-B74D-3A18122F9F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3F06AEB-5076-E2E8-BAFF-D664B0DA4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9D5C72A4-0143-6AD7-7344-D6E7D476F7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466C92F2-6857-65A3-2641-2F25A782AA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6CCD51-2DEF-D9A3-1B7D-1909628C8CBE}"/>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H5 – Model Interpretation</a:t>
            </a:r>
          </a:p>
        </p:txBody>
      </p:sp>
      <p:pic>
        <p:nvPicPr>
          <p:cNvPr id="8" name="Picture 7">
            <a:extLst>
              <a:ext uri="{FF2B5EF4-FFF2-40B4-BE49-F238E27FC236}">
                <a16:creationId xmlns:a16="http://schemas.microsoft.com/office/drawing/2014/main" id="{AF15D0A9-91B0-0784-B777-9AE935FEFDE2}"/>
              </a:ext>
            </a:extLst>
          </p:cNvPr>
          <p:cNvPicPr>
            <a:picLocks noChangeAspect="1"/>
          </p:cNvPicPr>
          <p:nvPr/>
        </p:nvPicPr>
        <p:blipFill>
          <a:blip r:embed="rId3"/>
          <a:stretch>
            <a:fillRect/>
          </a:stretch>
        </p:blipFill>
        <p:spPr>
          <a:xfrm>
            <a:off x="547446" y="1689571"/>
            <a:ext cx="11544255" cy="5062907"/>
          </a:xfrm>
          <a:prstGeom prst="rect">
            <a:avLst/>
          </a:prstGeom>
        </p:spPr>
      </p:pic>
    </p:spTree>
    <p:extLst>
      <p:ext uri="{BB962C8B-B14F-4D97-AF65-F5344CB8AC3E}">
        <p14:creationId xmlns:p14="http://schemas.microsoft.com/office/powerpoint/2010/main" val="14086053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CA22A0-596B-BDD7-32AF-DE7A8863C01C}"/>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5571F8B7-F843-C557-6E22-B66FF99613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53BC9C9A-0589-B954-0274-BB5771D8E6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8EDEB7F6-67E7-2078-DF7B-0B8752F779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84D3D643-5869-A096-65E8-A11E50FBCB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27BCBF39-FF99-7606-8A23-4DFE00A02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33DAA74-6C7E-3A3C-BD9E-BF43DDE00FFD}"/>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H5 – Model Interpretation</a:t>
            </a:r>
          </a:p>
        </p:txBody>
      </p:sp>
      <p:pic>
        <p:nvPicPr>
          <p:cNvPr id="7" name="Picture 6">
            <a:extLst>
              <a:ext uri="{FF2B5EF4-FFF2-40B4-BE49-F238E27FC236}">
                <a16:creationId xmlns:a16="http://schemas.microsoft.com/office/drawing/2014/main" id="{1884427D-1AC5-9266-3082-58CEA6CEC537}"/>
              </a:ext>
            </a:extLst>
          </p:cNvPr>
          <p:cNvPicPr>
            <a:picLocks noChangeAspect="1"/>
          </p:cNvPicPr>
          <p:nvPr/>
        </p:nvPicPr>
        <p:blipFill>
          <a:blip r:embed="rId3"/>
          <a:stretch>
            <a:fillRect/>
          </a:stretch>
        </p:blipFill>
        <p:spPr>
          <a:xfrm>
            <a:off x="471266" y="1694080"/>
            <a:ext cx="11249464" cy="5163524"/>
          </a:xfrm>
          <a:prstGeom prst="rect">
            <a:avLst/>
          </a:prstGeom>
        </p:spPr>
      </p:pic>
    </p:spTree>
    <p:extLst>
      <p:ext uri="{BB962C8B-B14F-4D97-AF65-F5344CB8AC3E}">
        <p14:creationId xmlns:p14="http://schemas.microsoft.com/office/powerpoint/2010/main" val="19215658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1EC255-6212-4D26-1E02-4A7263510271}"/>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B6CCB6A1-A8CC-03FC-9F52-FFEE10651E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FED7B667-0577-8AFA-3E34-77467BDD12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9065C68-46AB-A83C-7564-CAEBF25399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E0032B2-F33B-FFDE-C8F6-F1FC5F6105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DFC143AC-F057-C2E2-C63C-29D3866E9E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DFA1F4-635F-DE6E-1B52-27DAFA2CF11D}"/>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Summary - The Incremental Model Story</a:t>
            </a:r>
          </a:p>
        </p:txBody>
      </p:sp>
      <p:sp>
        <p:nvSpPr>
          <p:cNvPr id="4" name="Rectangle 1">
            <a:extLst>
              <a:ext uri="{FF2B5EF4-FFF2-40B4-BE49-F238E27FC236}">
                <a16:creationId xmlns:a16="http://schemas.microsoft.com/office/drawing/2014/main" id="{06AF6815-DF7C-0FF3-EE04-688624DF19D0}"/>
              </a:ext>
            </a:extLst>
          </p:cNvPr>
          <p:cNvSpPr>
            <a:spLocks noGrp="1" noChangeArrowheads="1"/>
          </p:cNvSpPr>
          <p:nvPr>
            <p:ph idx="1"/>
          </p:nvPr>
        </p:nvSpPr>
        <p:spPr bwMode="auto">
          <a:xfrm>
            <a:off x="540333" y="4428841"/>
            <a:ext cx="11111325" cy="1757871"/>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fontAlgn="base">
              <a:buNone/>
            </a:pPr>
            <a:r>
              <a:rPr lang="en-US" sz="1600" b="1" dirty="0"/>
              <a:t>Final Model Performance</a:t>
            </a:r>
          </a:p>
          <a:p>
            <a:pPr fontAlgn="base"/>
            <a:r>
              <a:rPr lang="en-US" sz="1600" dirty="0"/>
              <a:t>The final H5 Ridge model includes property fundamentals, geographic indicators, individual amenity dummies, and overall amenity richness. It achieves:</a:t>
            </a:r>
          </a:p>
          <a:p>
            <a:pPr fontAlgn="base"/>
            <a:r>
              <a:rPr lang="en-US" sz="1600" b="1" dirty="0"/>
              <a:t>R2_log = 0.660</a:t>
            </a:r>
            <a:r>
              <a:rPr lang="en-US" sz="1600" dirty="0"/>
              <a:t>, explaining about 66% of variation in log weekly rent</a:t>
            </a:r>
          </a:p>
          <a:p>
            <a:pPr fontAlgn="base"/>
            <a:r>
              <a:rPr lang="en-US" sz="1600" b="1" dirty="0" err="1"/>
              <a:t>MAE_rent</a:t>
            </a:r>
            <a:r>
              <a:rPr lang="en-US" sz="1600" b="1" dirty="0"/>
              <a:t> = 112.49 AUD/week</a:t>
            </a:r>
            <a:r>
              <a:rPr lang="en-US" sz="1600" dirty="0"/>
              <a:t>, meaning predictions are off by about 112 AUD/week on average</a:t>
            </a:r>
          </a:p>
          <a:p>
            <a:pPr fontAlgn="base"/>
            <a:r>
              <a:rPr lang="en-US" sz="1600" dirty="0"/>
              <a:t>Because the model is optimized on log-transformed rent, it fits the mid-market well but underpredicts the highest-rent listings. This is a known tradeoff when modeling skewed price data.</a:t>
            </a:r>
          </a:p>
          <a:p>
            <a:pPr marL="0" indent="0" eaLnBrk="0" fontAlgn="base" hangingPunct="0">
              <a:lnSpc>
                <a:spcPct val="120000"/>
              </a:lnSpc>
              <a:spcBef>
                <a:spcPct val="0"/>
              </a:spcBef>
              <a:spcAft>
                <a:spcPts val="600"/>
              </a:spcAft>
              <a:buNone/>
            </a:pPr>
            <a:endParaRPr kumimoji="0" lang="en-US" altLang="en-US" sz="1400" i="0" u="none" strike="noStrike" cap="none" normalizeH="0" baseline="0" dirty="0">
              <a:ln>
                <a:noFill/>
              </a:ln>
              <a:effectLst/>
              <a:latin typeface="Arial" panose="020B0604020202020204" pitchFamily="34" charset="0"/>
            </a:endParaRPr>
          </a:p>
        </p:txBody>
      </p:sp>
      <p:pic>
        <p:nvPicPr>
          <p:cNvPr id="5" name="Picture 4">
            <a:extLst>
              <a:ext uri="{FF2B5EF4-FFF2-40B4-BE49-F238E27FC236}">
                <a16:creationId xmlns:a16="http://schemas.microsoft.com/office/drawing/2014/main" id="{7A66BE81-179E-4E0D-7C25-FF9863E159BE}"/>
              </a:ext>
            </a:extLst>
          </p:cNvPr>
          <p:cNvPicPr>
            <a:picLocks noChangeAspect="1"/>
          </p:cNvPicPr>
          <p:nvPr/>
        </p:nvPicPr>
        <p:blipFill>
          <a:blip r:embed="rId3"/>
          <a:stretch>
            <a:fillRect/>
          </a:stretch>
        </p:blipFill>
        <p:spPr>
          <a:xfrm>
            <a:off x="787473" y="1735915"/>
            <a:ext cx="10329707" cy="2563369"/>
          </a:xfrm>
          <a:prstGeom prst="rect">
            <a:avLst/>
          </a:prstGeom>
        </p:spPr>
      </p:pic>
    </p:spTree>
    <p:extLst>
      <p:ext uri="{BB962C8B-B14F-4D97-AF65-F5344CB8AC3E}">
        <p14:creationId xmlns:p14="http://schemas.microsoft.com/office/powerpoint/2010/main" val="30939500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6E972CE-67A0-4016-321E-D94A8B392683}"/>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CDC33B5F-CB60-887A-9CA2-B43E05B789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DBD150F1-0661-03AC-EA75-17094B39D5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4C34920-D06E-C822-8897-20CE41272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921F7869-80BA-4B04-2368-D33D79CB20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EDAB4A5-885C-8C84-68DE-CA17F539EE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AE7D049-F180-FF5C-1B12-3F2935D740A7}"/>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Summary - Interpretation</a:t>
            </a:r>
          </a:p>
        </p:txBody>
      </p:sp>
      <p:sp>
        <p:nvSpPr>
          <p:cNvPr id="8" name="TextBox 7">
            <a:extLst>
              <a:ext uri="{FF2B5EF4-FFF2-40B4-BE49-F238E27FC236}">
                <a16:creationId xmlns:a16="http://schemas.microsoft.com/office/drawing/2014/main" id="{4EFE471F-76CF-A6B8-14CB-07C364EEDEA0}"/>
              </a:ext>
            </a:extLst>
          </p:cNvPr>
          <p:cNvSpPr txBox="1"/>
          <p:nvPr/>
        </p:nvSpPr>
        <p:spPr>
          <a:xfrm>
            <a:off x="290958" y="1820368"/>
            <a:ext cx="11610079" cy="5078313"/>
          </a:xfrm>
          <a:prstGeom prst="rect">
            <a:avLst/>
          </a:prstGeom>
          <a:noFill/>
        </p:spPr>
        <p:txBody>
          <a:bodyPr wrap="square" rtlCol="0">
            <a:spAutoFit/>
          </a:bodyPr>
          <a:lstStyle/>
          <a:p>
            <a:r>
              <a:rPr lang="en-US" b="1" dirty="0"/>
              <a:t>Amenity Contribution</a:t>
            </a:r>
            <a:r>
              <a:rPr lang="en-US" dirty="0"/>
              <a:t> Each additional amenity is associated with about </a:t>
            </a:r>
            <a:r>
              <a:rPr lang="en-US" b="1" dirty="0"/>
              <a:t>+0.87% predicted rent</a:t>
            </a:r>
            <a:r>
              <a:rPr lang="en-US" dirty="0"/>
              <a:t> in the fitted model. Beyond that general richness term, some amenities retain positive associations , inground pools (</a:t>
            </a:r>
            <a:r>
              <a:rPr lang="en-US" b="1" dirty="0"/>
              <a:t>+11.6%</a:t>
            </a:r>
            <a:r>
              <a:rPr lang="en-US" dirty="0"/>
              <a:t>), decks (</a:t>
            </a:r>
            <a:r>
              <a:rPr lang="en-US" b="1" dirty="0"/>
              <a:t>+4.7%</a:t>
            </a:r>
            <a:r>
              <a:rPr lang="en-US" dirty="0"/>
              <a:t>), and balconies (</a:t>
            </a:r>
            <a:r>
              <a:rPr lang="en-US" b="1" dirty="0"/>
              <a:t>+2.6%</a:t>
            </a:r>
            <a:r>
              <a:rPr lang="en-US" dirty="0"/>
              <a:t>) after adjusting for overall amenity count. Features like fully fenced and split-system AC become more negative in H5, suggesting they perform worse relative to the general amenity-richness baseline.</a:t>
            </a:r>
            <a:br>
              <a:rPr lang="en-US" dirty="0"/>
            </a:br>
            <a:endParaRPr lang="en-US" dirty="0"/>
          </a:p>
          <a:p>
            <a:r>
              <a:rPr lang="en-US" b="1" dirty="0"/>
              <a:t>Central Finding</a:t>
            </a:r>
            <a:r>
              <a:rPr lang="en-US" dirty="0"/>
              <a:t> Three broad patterns emerge:</a:t>
            </a:r>
            <a:endParaRPr lang="en-US" b="1" dirty="0"/>
          </a:p>
          <a:p>
            <a:pPr marL="285750" indent="-285750">
              <a:buFont typeface="Arial" panose="020B0604020202020204" pitchFamily="34" charset="0"/>
              <a:buChar char="•"/>
            </a:pPr>
            <a:r>
              <a:rPr lang="en-US" b="1" dirty="0"/>
              <a:t>Property size contributes the largest share in the decomposition.</a:t>
            </a:r>
            <a:r>
              <a:rPr lang="en-US" dirty="0"/>
              <a:t> Bedrooms and bathrooms receive </a:t>
            </a:r>
            <a:r>
              <a:rPr lang="en-US" b="1" dirty="0"/>
              <a:t>61%</a:t>
            </a:r>
            <a:r>
              <a:rPr lang="en-US" dirty="0"/>
              <a:t> of the absolute model contribution in this feature-group breakdown.</a:t>
            </a:r>
          </a:p>
          <a:p>
            <a:pPr marL="285750" indent="-285750">
              <a:buFont typeface="Arial" panose="020B0604020202020204" pitchFamily="34" charset="0"/>
              <a:buChar char="•"/>
            </a:pPr>
            <a:r>
              <a:rPr lang="en-US" b="1" dirty="0"/>
              <a:t>Location adds substantial predictive value,</a:t>
            </a:r>
            <a:r>
              <a:rPr lang="en-US" dirty="0"/>
              <a:t> but its contribution is spread across 1,000+ postcode indicators rather than concentrated in a small number of areas.</a:t>
            </a:r>
          </a:p>
          <a:p>
            <a:pPr marL="285750" indent="-285750">
              <a:buFont typeface="Arial" panose="020B0604020202020204" pitchFamily="34" charset="0"/>
              <a:buChar char="•"/>
            </a:pPr>
            <a:r>
              <a:rPr lang="en-US" b="1" dirty="0"/>
              <a:t>Amenities contribute modestly.</a:t>
            </a:r>
            <a:r>
              <a:rPr lang="en-US" dirty="0"/>
              <a:t> Pools and decks remain among the clearest positive associations.</a:t>
            </a:r>
          </a:p>
          <a:p>
            <a:pPr marL="285750" indent="-285750">
              <a:buFont typeface="Arial" panose="020B0604020202020204" pitchFamily="34" charset="0"/>
              <a:buChar char="•"/>
            </a:pPr>
            <a:endParaRPr lang="en-US" dirty="0"/>
          </a:p>
          <a:p>
            <a:r>
              <a:rPr lang="en-US" b="1" dirty="0"/>
              <a:t>Limitations</a:t>
            </a:r>
            <a:endParaRPr lang="en-US" dirty="0"/>
          </a:p>
          <a:p>
            <a:pPr marL="285750" indent="-285750">
              <a:buFont typeface="Arial" panose="020B0604020202020204" pitchFamily="34" charset="0"/>
              <a:buChar char="•"/>
            </a:pPr>
            <a:r>
              <a:rPr lang="en-US" dirty="0"/>
              <a:t>Postcode dummies are effective but not easily interpretable; spatial clustering would be cleaner.</a:t>
            </a:r>
          </a:p>
          <a:p>
            <a:pPr marL="285750" indent="-285750">
              <a:buFont typeface="Arial" panose="020B0604020202020204" pitchFamily="34" charset="0"/>
              <a:buChar char="•"/>
            </a:pPr>
            <a:r>
              <a:rPr lang="en-US" dirty="0"/>
              <a:t>Amenity data is self-reported and may be incomplete or inconsistently labeled.</a:t>
            </a:r>
          </a:p>
          <a:p>
            <a:pPr marL="285750" indent="-285750">
              <a:buFont typeface="Arial" panose="020B0604020202020204" pitchFamily="34" charset="0"/>
              <a:buChar char="•"/>
            </a:pPr>
            <a:r>
              <a:rPr lang="en-US" dirty="0"/>
              <a:t>Because the model fits high-rent listings less well, it is reasonable to think additional signal remains uncaptured in the upper end of the market. Amenities may explain part of that gap, which makes them worth exploring further.</a:t>
            </a:r>
            <a:br>
              <a:rPr lang="en-US" dirty="0"/>
            </a:br>
            <a:endParaRPr lang="en-US" dirty="0"/>
          </a:p>
        </p:txBody>
      </p:sp>
    </p:spTree>
    <p:extLst>
      <p:ext uri="{BB962C8B-B14F-4D97-AF65-F5344CB8AC3E}">
        <p14:creationId xmlns:p14="http://schemas.microsoft.com/office/powerpoint/2010/main" val="27664152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F704A94-FCFE-0DE0-86EB-11CF969B70CF}"/>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D5C122D0-F84B-CEBE-6FEE-4A1E6831DB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A08BCF6-8F21-D713-98A1-F66F36CFE2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E57E8636-DF63-8590-5ABC-F63ECF6B7F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F6C8593F-EC67-7D8D-4927-F2A4078F8B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0F963688-155D-B87E-A33F-4FE5BDB44B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8DB144-1823-3B3F-8391-392ABEFDD91B}"/>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Next Steps</a:t>
            </a:r>
          </a:p>
        </p:txBody>
      </p:sp>
      <p:sp>
        <p:nvSpPr>
          <p:cNvPr id="8" name="TextBox 7">
            <a:extLst>
              <a:ext uri="{FF2B5EF4-FFF2-40B4-BE49-F238E27FC236}">
                <a16:creationId xmlns:a16="http://schemas.microsoft.com/office/drawing/2014/main" id="{F8DDE718-C8CB-7C9C-CC8F-BF4C6B371ECD}"/>
              </a:ext>
            </a:extLst>
          </p:cNvPr>
          <p:cNvSpPr txBox="1"/>
          <p:nvPr/>
        </p:nvSpPr>
        <p:spPr>
          <a:xfrm>
            <a:off x="180867" y="1779687"/>
            <a:ext cx="11610079" cy="4247317"/>
          </a:xfrm>
          <a:prstGeom prst="rect">
            <a:avLst/>
          </a:prstGeom>
          <a:noFill/>
        </p:spPr>
        <p:txBody>
          <a:bodyPr wrap="square" rtlCol="0">
            <a:spAutoFit/>
          </a:bodyPr>
          <a:lstStyle/>
          <a:p>
            <a:r>
              <a:rPr lang="en-US" b="1" dirty="0"/>
              <a:t>Geographic Clustering (Moderate effort, High value)</a:t>
            </a:r>
            <a:br>
              <a:rPr lang="en-US" dirty="0"/>
            </a:br>
            <a:r>
              <a:rPr lang="en-US" dirty="0"/>
              <a:t>Replace postcode and state dummies with 20–50 geographic clusters built from latitude and longitude using K-means. This would reduce dimensionality, smooth sparse postcode effects, and could improve generalization. The modeling change is straightforward; the main added work is mapping and validating the clusters.</a:t>
            </a:r>
          </a:p>
          <a:p>
            <a:endParaRPr lang="en-US" dirty="0"/>
          </a:p>
          <a:p>
            <a:r>
              <a:rPr lang="en-US" b="1" dirty="0"/>
              <a:t>Residual Language Analysis (Low effort, Low value)</a:t>
            </a:r>
            <a:br>
              <a:rPr lang="en-US" dirty="0"/>
            </a:br>
            <a:r>
              <a:rPr lang="en-US" dirty="0"/>
              <a:t>Apply TF-IDF to listing descriptions and score words by sum(weight^2 * residual) across listings. Positive words would be associated with underpredicted high-rent listings, and negative words with overpredicted ones. A word cloud would be easy to produce, but the result would be less informative and more to simply produce an interesting visual.</a:t>
            </a:r>
          </a:p>
          <a:p>
            <a:endParaRPr lang="en-US" dirty="0"/>
          </a:p>
          <a:p>
            <a:r>
              <a:rPr lang="en-US" b="1" dirty="0"/>
              <a:t>Nonlinear Amenity Sensitivity Check (Moderate effort, High value)</a:t>
            </a:r>
            <a:br>
              <a:rPr lang="en-US" dirty="0"/>
            </a:br>
            <a:r>
              <a:rPr lang="en-US" dirty="0"/>
              <a:t>Fit a nonlinear model better suited to upper-tail rent, then rescore the test set after toggling selected amenities on and off. Comparing the predicted changes would provide a model-based check on whether the amenity signals from the linear models provide signal, especially in higher-rent listings where the current model fits less well.</a:t>
            </a:r>
          </a:p>
        </p:txBody>
      </p:sp>
    </p:spTree>
    <p:extLst>
      <p:ext uri="{BB962C8B-B14F-4D97-AF65-F5344CB8AC3E}">
        <p14:creationId xmlns:p14="http://schemas.microsoft.com/office/powerpoint/2010/main" val="42299337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3077</TotalTime>
  <Words>1899</Words>
  <Application>Microsoft Office PowerPoint</Application>
  <PresentationFormat>Widescreen</PresentationFormat>
  <Paragraphs>117</Paragraphs>
  <Slides>16</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Aptos Display</vt:lpstr>
      <vt:lpstr>Arial</vt:lpstr>
      <vt:lpstr>Office Theme</vt:lpstr>
      <vt:lpstr>What drives rental prices in Australia? </vt:lpstr>
      <vt:lpstr>Project Overview</vt:lpstr>
      <vt:lpstr>Data Quality and Preprocessing</vt:lpstr>
      <vt:lpstr>Exploratory Data Analysis</vt:lpstr>
      <vt:lpstr>Hypothesis</vt:lpstr>
      <vt:lpstr>H1 Fundamentals Drive Rent</vt:lpstr>
      <vt:lpstr>H2 Impact of Geography</vt:lpstr>
      <vt:lpstr>H3 Amenities Add Signal</vt:lpstr>
      <vt:lpstr>H4 Individual Amenities are Quantifiable</vt:lpstr>
      <vt:lpstr>H5 Amenity Richness vs Specific Impact</vt:lpstr>
      <vt:lpstr>H5 Amenity Richness - (cont..)</vt:lpstr>
      <vt:lpstr>H5 – Model Interpretation</vt:lpstr>
      <vt:lpstr>H5 – Model Interpretation</vt:lpstr>
      <vt:lpstr>Summary - The Incremental Model Story</vt:lpstr>
      <vt:lpstr>Summary - Interpretation</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Justin Hoffman</dc:creator>
  <cp:lastModifiedBy>Justin Hoffman</cp:lastModifiedBy>
  <cp:revision>7</cp:revision>
  <dcterms:created xsi:type="dcterms:W3CDTF">2026-03-07T04:19:55Z</dcterms:created>
  <dcterms:modified xsi:type="dcterms:W3CDTF">2026-03-10T04:55:59Z</dcterms:modified>
</cp:coreProperties>
</file>